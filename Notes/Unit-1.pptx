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69685"/>
            <a:ext cx="4037011" cy="41883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92347"/>
            <a:ext cx="1522411" cy="23654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11" y="1676400"/>
            <a:ext cx="2819399" cy="2819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9411" y="0"/>
            <a:ext cx="1603387" cy="11414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9685"/>
            <a:ext cx="4037011" cy="41883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347"/>
            <a:ext cx="1522411" cy="23654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11" y="1676400"/>
            <a:ext cx="2819399" cy="2819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11" y="0"/>
            <a:ext cx="1603387" cy="114140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5878" y="6096000"/>
            <a:ext cx="993733" cy="7619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9711" y="0"/>
            <a:ext cx="762000" cy="120650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811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7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685799" y="0"/>
                </a:lnTo>
                <a:lnTo>
                  <a:pt x="685799" y="1142999"/>
                </a:lnTo>
                <a:close/>
              </a:path>
            </a:pathLst>
          </a:custGeom>
          <a:solidFill>
            <a:srgbClr val="B014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6048" y="455765"/>
            <a:ext cx="10839903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7605" y="1276795"/>
            <a:ext cx="9845675" cy="434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68730" y="520572"/>
            <a:ext cx="78505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COMPUTER</a:t>
            </a:r>
            <a:r>
              <a:rPr sz="5400" spc="-290" dirty="0"/>
              <a:t> </a:t>
            </a:r>
            <a:r>
              <a:rPr sz="5400" spc="-10" dirty="0"/>
              <a:t>NETWORK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041862" y="1346580"/>
            <a:ext cx="6108700" cy="210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EBEBEB"/>
                </a:solidFill>
                <a:latin typeface="Times New Roman"/>
                <a:cs typeface="Times New Roman"/>
              </a:rPr>
              <a:t>(21CSC302J)</a:t>
            </a:r>
            <a:endParaRPr sz="4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sz="4400" b="1" dirty="0">
                <a:solidFill>
                  <a:srgbClr val="EBEBEB"/>
                </a:solidFill>
                <a:latin typeface="Times New Roman"/>
                <a:cs typeface="Times New Roman"/>
              </a:rPr>
              <a:t>UNIT-</a:t>
            </a:r>
            <a:r>
              <a:rPr sz="4400" b="1" spc="-50" dirty="0">
                <a:solidFill>
                  <a:srgbClr val="EBEBEB"/>
                </a:solidFill>
                <a:latin typeface="Times New Roman"/>
                <a:cs typeface="Times New Roman"/>
              </a:rPr>
              <a:t>1</a:t>
            </a:r>
            <a:endParaRPr sz="4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400" b="1" spc="-10" dirty="0">
                <a:solidFill>
                  <a:srgbClr val="EBEBEB"/>
                </a:solidFill>
                <a:latin typeface="Times New Roman"/>
                <a:cs typeface="Times New Roman"/>
              </a:rPr>
              <a:t>Introduction</a:t>
            </a:r>
            <a:r>
              <a:rPr sz="4400" b="1" spc="-95" dirty="0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EBEBEB"/>
                </a:solidFill>
                <a:latin typeface="Times New Roman"/>
                <a:cs typeface="Times New Roman"/>
              </a:rPr>
              <a:t>to</a:t>
            </a:r>
            <a:r>
              <a:rPr sz="4400" b="1" spc="-85" dirty="0">
                <a:solidFill>
                  <a:srgbClr val="EBEBEB"/>
                </a:solidFill>
                <a:latin typeface="Times New Roman"/>
                <a:cs typeface="Times New Roman"/>
              </a:rPr>
              <a:t> </a:t>
            </a:r>
            <a:r>
              <a:rPr sz="4400" b="1" spc="-10" dirty="0">
                <a:solidFill>
                  <a:srgbClr val="EBEBEB"/>
                </a:solidFill>
                <a:latin typeface="Times New Roman"/>
                <a:cs typeface="Times New Roman"/>
              </a:rPr>
              <a:t>Networks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2775">
              <a:lnSpc>
                <a:spcPct val="100000"/>
              </a:lnSpc>
              <a:spcBef>
                <a:spcPts val="100"/>
              </a:spcBef>
            </a:pPr>
            <a:r>
              <a:rPr dirty="0"/>
              <a:t>UNIT</a:t>
            </a:r>
            <a:r>
              <a:rPr spc="-2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6935" y="1404477"/>
            <a:ext cx="7867650" cy="44602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Types: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LAN,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MAN,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PAN,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WAN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BUS,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STAR,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RING,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MESH,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HYBRID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Circuit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Switching,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Layered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TCP/IP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Latency, Bandwidth,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Guided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Twisted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pair,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Coaxial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cable,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Fiber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optic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cable</a:t>
            </a:r>
            <a:endParaRPr sz="240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Arial MT"/>
              <a:buChar char="•"/>
              <a:tabLst>
                <a:tab pos="31877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Unguided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waves,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Microwaves,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Infrared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19835" y="750265"/>
            <a:ext cx="66655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COURSE</a:t>
            </a:r>
            <a:r>
              <a:rPr sz="5400" spc="-70" dirty="0"/>
              <a:t> </a:t>
            </a:r>
            <a:r>
              <a:rPr sz="5400" spc="-10" dirty="0"/>
              <a:t>OUTCOME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329519" y="2974804"/>
            <a:ext cx="86760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56565" algn="l"/>
              </a:tabLst>
            </a:pPr>
            <a:r>
              <a:rPr sz="4000" dirty="0">
                <a:solidFill>
                  <a:srgbClr val="FFFFFF"/>
                </a:solidFill>
                <a:latin typeface="Times New Roman"/>
                <a:cs typeface="Times New Roman"/>
              </a:rPr>
              <a:t>Apply</a:t>
            </a:r>
            <a:r>
              <a:rPr sz="4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4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Times New Roman"/>
                <a:cs typeface="Times New Roman"/>
              </a:rPr>
              <a:t>knowledge</a:t>
            </a:r>
            <a:r>
              <a:rPr sz="4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4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635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27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252" y="2242865"/>
            <a:ext cx="487235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combination</a:t>
            </a:r>
            <a:r>
              <a:rPr sz="20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computers,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hub,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routers,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switches,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linked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allow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electronic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7592" y="2227625"/>
            <a:ext cx="5513560" cy="3186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0160">
              <a:lnSpc>
                <a:spcPct val="100000"/>
              </a:lnSpc>
              <a:spcBef>
                <a:spcPts val="100"/>
              </a:spcBef>
            </a:pPr>
            <a:r>
              <a:rPr dirty="0"/>
              <a:t>LAN</a:t>
            </a:r>
            <a:r>
              <a:rPr spc="-35" dirty="0"/>
              <a:t> </a:t>
            </a:r>
            <a:r>
              <a:rPr dirty="0"/>
              <a:t>(LOCAL</a:t>
            </a:r>
            <a:r>
              <a:rPr spc="-20" dirty="0"/>
              <a:t> </a:t>
            </a:r>
            <a:r>
              <a:rPr dirty="0"/>
              <a:t>AREA</a:t>
            </a:r>
            <a:r>
              <a:rPr spc="-20" dirty="0"/>
              <a:t>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883" y="1868488"/>
            <a:ext cx="613410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computers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building,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office.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personal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83" y="3036888"/>
            <a:ext cx="6130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133475" algn="l"/>
                <a:tab pos="1805305" algn="l"/>
                <a:tab pos="3235960" algn="l"/>
                <a:tab pos="4399280" algn="l"/>
                <a:tab pos="5085080" algn="l"/>
                <a:tab pos="551688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Built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inexpensive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Hubs,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883" y="3214688"/>
            <a:ext cx="5057775" cy="13208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Adapters,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Ethernet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Cables.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transferred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extremely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faster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rate.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883" y="4637087"/>
            <a:ext cx="61315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000760" algn="l"/>
                <a:tab pos="1849120" algn="l"/>
                <a:tab pos="2683510" algn="l"/>
                <a:tab pos="3842385" algn="l"/>
                <a:tab pos="4437380" algn="l"/>
                <a:tab pos="525780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Ex-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Home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Wi-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Fi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business networks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6488" y="2168601"/>
            <a:ext cx="4152899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7396" y="455765"/>
            <a:ext cx="806450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8560" marR="5080" indent="-2436495">
              <a:lnSpc>
                <a:spcPct val="100000"/>
              </a:lnSpc>
              <a:spcBef>
                <a:spcPts val="100"/>
              </a:spcBef>
            </a:pPr>
            <a:r>
              <a:rPr dirty="0"/>
              <a:t>MAN</a:t>
            </a:r>
            <a:r>
              <a:rPr spc="-50" dirty="0"/>
              <a:t> </a:t>
            </a:r>
            <a:r>
              <a:rPr dirty="0"/>
              <a:t>(METROPOLITAN</a:t>
            </a:r>
            <a:r>
              <a:rPr spc="-40" dirty="0"/>
              <a:t> </a:t>
            </a:r>
            <a:r>
              <a:rPr spc="-20" dirty="0"/>
              <a:t>AREA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373" y="2220670"/>
            <a:ext cx="5243830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762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Covers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geographic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interconnecting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405765" marR="635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LANs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telephone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exchange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line.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widely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RS-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232,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RELAY,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ATM,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ISDN,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OC-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3,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ADSL,</a:t>
            </a:r>
            <a:endParaRPr sz="200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</a:pP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405765" marR="635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Ex-  Government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agencies,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Campus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Citywide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WI-FI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0677" y="2134300"/>
            <a:ext cx="5830432" cy="41220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0010">
              <a:lnSpc>
                <a:spcPct val="100000"/>
              </a:lnSpc>
              <a:spcBef>
                <a:spcPts val="100"/>
              </a:spcBef>
            </a:pPr>
            <a:r>
              <a:rPr dirty="0"/>
              <a:t>WAN</a:t>
            </a:r>
            <a:r>
              <a:rPr spc="-20" dirty="0"/>
              <a:t> </a:t>
            </a:r>
            <a:r>
              <a:rPr dirty="0"/>
              <a:t>(WIDE</a:t>
            </a:r>
            <a:r>
              <a:rPr spc="-20" dirty="0"/>
              <a:t> </a:t>
            </a:r>
            <a:r>
              <a:rPr dirty="0"/>
              <a:t>AREA</a:t>
            </a:r>
            <a:r>
              <a:rPr spc="-20" dirty="0"/>
              <a:t>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150" y="1795157"/>
            <a:ext cx="4619625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extends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large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geographical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states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countries.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limited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location.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Spans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geographical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4812" y="3573157"/>
            <a:ext cx="42259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8535" algn="l"/>
                <a:tab pos="1267460" algn="l"/>
                <a:tab pos="2429510" algn="l"/>
                <a:tab pos="3049905" algn="l"/>
                <a:tab pos="370586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telephone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line,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fiber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optic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150" y="3750958"/>
            <a:ext cx="4618355" cy="11938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satellite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links.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biggest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world.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2310" y="1853248"/>
            <a:ext cx="6096659" cy="41957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0"/>
              </a:spcBef>
            </a:pPr>
            <a:r>
              <a:rPr dirty="0"/>
              <a:t>PAN</a:t>
            </a:r>
            <a:r>
              <a:rPr spc="-30" dirty="0"/>
              <a:t> </a:t>
            </a:r>
            <a:r>
              <a:rPr dirty="0"/>
              <a:t>(PERSONAL</a:t>
            </a:r>
            <a:r>
              <a:rPr spc="-25" dirty="0"/>
              <a:t> </a:t>
            </a:r>
            <a:r>
              <a:rPr dirty="0"/>
              <a:t>AREA</a:t>
            </a:r>
            <a:r>
              <a:rPr spc="-25" dirty="0"/>
              <a:t>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2" y="2177260"/>
            <a:ext cx="555688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115" marR="635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12115" algn="l"/>
                <a:tab pos="41465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arranged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individual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person,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typically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10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meters.</a:t>
            </a:r>
            <a:endParaRPr sz="2000">
              <a:latin typeface="Times New Roman"/>
              <a:cs typeface="Times New Roman"/>
            </a:endParaRPr>
          </a:p>
          <a:p>
            <a:pPr marL="41211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12115" algn="l"/>
                <a:tab pos="41465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connecting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personal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  <a:p>
            <a:pPr marL="412115" marR="6985" indent="-400050" algn="just">
              <a:lnSpc>
                <a:spcPct val="100000"/>
              </a:lnSpc>
              <a:spcBef>
                <a:spcPts val="1000"/>
              </a:spcBef>
              <a:buSzPct val="80000"/>
              <a:buFont typeface="Arial Black"/>
              <a:buChar char="►"/>
              <a:tabLst>
                <a:tab pos="412115" algn="l"/>
                <a:tab pos="413384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THOMAS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ZIMMERMAN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research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scientist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bring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 idea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personal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412115" marR="635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12115" algn="l"/>
                <a:tab pos="41465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Personal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develop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laptop,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phones,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player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0511" y="2272420"/>
            <a:ext cx="5072669" cy="353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0150" y="455765"/>
            <a:ext cx="764222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2990" marR="5080" indent="-232092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50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10" dirty="0"/>
              <a:t>PERSONAL</a:t>
            </a:r>
            <a:r>
              <a:rPr spc="-145" dirty="0"/>
              <a:t> </a:t>
            </a:r>
            <a:r>
              <a:rPr spc="-20" dirty="0"/>
              <a:t>AREA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2" y="2633772"/>
            <a:ext cx="50107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115" marR="5080" indent="-40005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Arial Black"/>
              <a:buChar char="►"/>
              <a:tabLst>
                <a:tab pos="412115" algn="l"/>
              </a:tabLst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Wired</a:t>
            </a:r>
            <a:r>
              <a:rPr sz="20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Personal</a:t>
            </a:r>
            <a:r>
              <a:rPr sz="20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Created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USB.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122" y="3370372"/>
            <a:ext cx="30518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marR="361315" indent="-399415" algn="ctr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Arial Black"/>
              <a:buChar char="►"/>
              <a:tabLst>
                <a:tab pos="399415" algn="l"/>
                <a:tab pos="171259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Personal</a:t>
            </a:r>
            <a:endParaRPr sz="2000">
              <a:latin typeface="Times New Roman"/>
              <a:cs typeface="Times New Roman"/>
            </a:endParaRPr>
          </a:p>
          <a:p>
            <a:pPr marL="399415" algn="ctr">
              <a:lnSpc>
                <a:spcPct val="100000"/>
              </a:lnSpc>
              <a:tabLst>
                <a:tab pos="1790064" algn="l"/>
                <a:tab pos="233426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Developed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simply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1418" y="3370372"/>
            <a:ext cx="853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0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9847" y="3370372"/>
            <a:ext cx="10572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Network: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2036" y="3979971"/>
            <a:ext cx="4614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technologies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WiFi,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Bluetooth.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1335" y="2618532"/>
            <a:ext cx="5166963" cy="2605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6950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27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7064" y="1759189"/>
            <a:ext cx="511873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195" marR="635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17195" algn="l"/>
                <a:tab pos="419734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Defines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structure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how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components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interconnected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 marL="419734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19734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topology:</a:t>
            </a:r>
            <a:endParaRPr sz="2000">
              <a:latin typeface="Times New Roman"/>
              <a:cs typeface="Times New Roman"/>
            </a:endParaRPr>
          </a:p>
          <a:p>
            <a:pPr marL="587375" marR="40640" indent="-51879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AutoNum type="romanLcPeriod"/>
              <a:tabLst>
                <a:tab pos="588645" algn="l"/>
              </a:tabLst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b="1" spc="49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topology:</a:t>
            </a:r>
            <a:r>
              <a:rPr sz="2000" b="1" spc="254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geometric 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representation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nodes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network.</a:t>
            </a:r>
            <a:endParaRPr sz="2000">
              <a:latin typeface="Times New Roman"/>
              <a:cs typeface="Times New Roman"/>
            </a:endParaRPr>
          </a:p>
          <a:p>
            <a:pPr marL="587375" marR="5080" indent="-57531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AutoNum type="romanLcPeriod"/>
              <a:tabLst>
                <a:tab pos="588645" algn="l"/>
              </a:tabLst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Logical</a:t>
            </a:r>
            <a:r>
              <a:rPr sz="2000" b="1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Refers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 the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abstract 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representation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20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independent 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layout.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5844" y="1743950"/>
            <a:ext cx="5709919" cy="39236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58910" y="663093"/>
            <a:ext cx="91319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PHYSICAL</a:t>
            </a:r>
            <a:r>
              <a:rPr spc="-9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5421" y="2218387"/>
            <a:ext cx="2668905" cy="2981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530225" indent="-51752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79166"/>
              <a:buAutoNum type="arabicPeriod"/>
              <a:tabLst>
                <a:tab pos="5302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Bus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530225" indent="-51752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AutoNum type="arabicPeriod"/>
              <a:tabLst>
                <a:tab pos="5302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Ring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530225" indent="-51752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AutoNum type="arabicPeriod"/>
              <a:tabLst>
                <a:tab pos="5302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Star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530225" indent="-51752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AutoNum type="arabicPeriod"/>
              <a:tabLst>
                <a:tab pos="5302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Mesh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530225" indent="-51752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AutoNum type="arabicPeriod"/>
              <a:tabLst>
                <a:tab pos="5302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Tree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530225" indent="-51752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AutoNum type="arabicPeriod"/>
              <a:tabLst>
                <a:tab pos="5302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Hybrid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2154">
              <a:lnSpc>
                <a:spcPct val="100000"/>
              </a:lnSpc>
              <a:spcBef>
                <a:spcPts val="100"/>
              </a:spcBef>
            </a:pPr>
            <a:r>
              <a:rPr dirty="0"/>
              <a:t>BUS</a:t>
            </a:r>
            <a:r>
              <a:rPr spc="-105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106" y="1708496"/>
            <a:ext cx="56661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Designed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769" y="2013296"/>
            <a:ext cx="52730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135" algn="l"/>
                <a:tab pos="2163445" algn="l"/>
                <a:tab pos="2441575" algn="l"/>
                <a:tab pos="3212465" algn="l"/>
                <a:tab pos="3912870" algn="l"/>
                <a:tab pos="4769485" algn="l"/>
                <a:tab pos="514667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106" y="2191096"/>
            <a:ext cx="5669280" cy="40132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 algn="just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backbone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cable.</a:t>
            </a:r>
            <a:endParaRPr sz="2000">
              <a:latin typeface="Times New Roman"/>
              <a:cs typeface="Times New Roman"/>
            </a:endParaRPr>
          </a:p>
          <a:p>
            <a:pPr marL="405765" marR="304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backbone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considered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"single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lane"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stations.</a:t>
            </a:r>
            <a:endParaRPr sz="2000">
              <a:latin typeface="Times New Roman"/>
              <a:cs typeface="Times New Roman"/>
            </a:endParaRPr>
          </a:p>
          <a:p>
            <a:pPr marL="405765" marR="762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3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node</a:t>
            </a:r>
            <a:r>
              <a:rPr sz="20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wants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puts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0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whether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been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not.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Mainly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802.3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(Ethernet)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802.4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standard networks.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Quite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simpler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9687" y="1462276"/>
            <a:ext cx="4238624" cy="4657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2915">
              <a:lnSpc>
                <a:spcPct val="100000"/>
              </a:lnSpc>
              <a:spcBef>
                <a:spcPts val="100"/>
              </a:spcBef>
            </a:pPr>
            <a:r>
              <a:rPr dirty="0"/>
              <a:t>STAR</a:t>
            </a:r>
            <a:r>
              <a:rPr spc="-1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999" y="1554564"/>
            <a:ext cx="4779645" cy="1498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8940" indent="-396240" algn="just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popular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implementation.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arrangement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which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every node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central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hub,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central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computer.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0710" y="3154764"/>
            <a:ext cx="28047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0470" algn="l"/>
                <a:tab pos="1638935" algn="l"/>
                <a:tab pos="258000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0671" y="3459564"/>
            <a:ext cx="2573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735" algn="l"/>
                <a:tab pos="1798320" algn="l"/>
              </a:tabLst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peripheral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7055" y="3764364"/>
            <a:ext cx="27889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9440" algn="l"/>
                <a:tab pos="1497330" algn="l"/>
                <a:tab pos="2084070" algn="l"/>
              </a:tabLst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999" y="3154764"/>
            <a:ext cx="1926589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049655" algn="l"/>
                <a:tab pos="1529715" algn="l"/>
              </a:tabLst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central</a:t>
            </a:r>
            <a:r>
              <a:rPr sz="2000" spc="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attached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clients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999" y="4500964"/>
            <a:ext cx="4780280" cy="137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715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Coaxial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RJ-45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cables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computers.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116330" algn="l"/>
                <a:tab pos="1502410" algn="l"/>
                <a:tab pos="2551430" algn="l"/>
                <a:tab pos="3035300" algn="l"/>
                <a:tab pos="3915410" algn="l"/>
                <a:tab pos="4555490" algn="l"/>
              </a:tabLst>
            </a:pP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Hubs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switches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mainly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8250" y="1914868"/>
            <a:ext cx="5525963" cy="3838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9570">
              <a:lnSpc>
                <a:spcPct val="100000"/>
              </a:lnSpc>
              <a:spcBef>
                <a:spcPts val="100"/>
              </a:spcBef>
            </a:pPr>
            <a:r>
              <a:rPr dirty="0"/>
              <a:t>RING</a:t>
            </a:r>
            <a:r>
              <a:rPr spc="-2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373" y="2002994"/>
            <a:ext cx="5094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topology,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ends.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373" y="2434794"/>
            <a:ext cx="5756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981075" algn="l"/>
                <a:tab pos="1655445" algn="l"/>
                <a:tab pos="2216150" algn="l"/>
                <a:tab pos="3228975" algn="l"/>
                <a:tab pos="3719829" algn="l"/>
                <a:tab pos="4759960" algn="l"/>
                <a:tab pos="5433695" algn="l"/>
              </a:tabLst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node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373" y="2612594"/>
            <a:ext cx="5761990" cy="2921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previous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retransmit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node.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Unidirectional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terminated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ends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clockwise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direction.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loop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continuously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endless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method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token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passing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2050" y="2162465"/>
            <a:ext cx="4693957" cy="36860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0">
              <a:lnSpc>
                <a:spcPct val="100000"/>
              </a:lnSpc>
              <a:spcBef>
                <a:spcPts val="100"/>
              </a:spcBef>
            </a:pPr>
            <a:r>
              <a:rPr dirty="0"/>
              <a:t>MESH</a:t>
            </a:r>
            <a:r>
              <a:rPr spc="-1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43" y="1771870"/>
            <a:ext cx="4973955" cy="370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8255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504315" algn="l"/>
                <a:tab pos="2265680" algn="l"/>
                <a:tab pos="2983865" algn="l"/>
                <a:tab pos="3575050" algn="l"/>
                <a:tab pos="475996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paths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Mainly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WAN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implementations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networks.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topology.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012190" algn="l"/>
                <a:tab pos="1448435" algn="l"/>
                <a:tab pos="2379345" algn="l"/>
                <a:tab pos="2830195" algn="l"/>
                <a:tab pos="3577590" algn="l"/>
                <a:tab pos="4084320" algn="l"/>
              </a:tabLst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formed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formula: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000">
              <a:latin typeface="Times New Roman"/>
              <a:cs typeface="Times New Roman"/>
            </a:endParaRPr>
          </a:p>
          <a:p>
            <a:pPr marL="83502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cables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(n*(n-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1))/2;</a:t>
            </a:r>
            <a:endParaRPr sz="2000">
              <a:latin typeface="Times New Roman"/>
              <a:cs typeface="Times New Roman"/>
            </a:endParaRPr>
          </a:p>
          <a:p>
            <a:pPr marL="62865" marR="7620" indent="572135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nodes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0765" y="1787587"/>
            <a:ext cx="5514974" cy="41338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5085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spc="-3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5785" y="1376200"/>
            <a:ext cx="10477500" cy="2057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Combination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topologies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similar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topologies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result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hybrid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topology.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nodes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exist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ring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branch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ICICI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bus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 branch of ICICI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691" y="3958330"/>
            <a:ext cx="8896075" cy="25614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808" y="1328251"/>
            <a:ext cx="5520055" cy="48926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9095" indent="-361950" algn="just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9095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Takes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layer.</a:t>
            </a:r>
            <a:endParaRPr sz="1900">
              <a:latin typeface="Times New Roman"/>
              <a:cs typeface="Times New Roman"/>
            </a:endParaRPr>
          </a:p>
          <a:p>
            <a:pPr marL="379095" marR="5715" indent="-36258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9095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19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9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19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19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coming</a:t>
            </a:r>
            <a:r>
              <a:rPr sz="19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9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9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one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19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9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19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leading</a:t>
            </a:r>
            <a:r>
              <a:rPr sz="19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towards</a:t>
            </a:r>
            <a:r>
              <a:rPr sz="19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19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using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19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switches.</a:t>
            </a:r>
            <a:endParaRPr sz="1900">
              <a:latin typeface="Times New Roman"/>
              <a:cs typeface="Times New Roman"/>
            </a:endParaRPr>
          </a:p>
          <a:p>
            <a:pPr marL="379095" marR="5080" indent="-36258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9095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comes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19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ingress,</a:t>
            </a:r>
            <a:r>
              <a:rPr sz="19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leaves</a:t>
            </a:r>
            <a:r>
              <a:rPr sz="19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9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goes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9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called egress.</a:t>
            </a:r>
            <a:endParaRPr sz="1900">
              <a:latin typeface="Times New Roman"/>
              <a:cs typeface="Times New Roman"/>
            </a:endParaRPr>
          </a:p>
          <a:p>
            <a:pPr marL="36195" marR="1430655" indent="-19685" algn="just">
              <a:lnSpc>
                <a:spcPct val="143900"/>
              </a:lnSpc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6195" algn="l"/>
                <a:tab pos="37846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Provide</a:t>
            </a:r>
            <a:r>
              <a:rPr sz="19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one-to-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19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communication.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divided into two major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categories:</a:t>
            </a:r>
            <a:endParaRPr sz="1900">
              <a:latin typeface="Times New Roman"/>
              <a:cs typeface="Times New Roman"/>
            </a:endParaRPr>
          </a:p>
          <a:p>
            <a:pPr marL="375920" marR="38100" indent="-36385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Arial Black"/>
              <a:buChar char="□"/>
              <a:tabLst>
                <a:tab pos="37909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1800" b="1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Oriented:</a:t>
            </a:r>
            <a:r>
              <a:rPr sz="1800" b="1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18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establish</a:t>
            </a:r>
            <a:r>
              <a:rPr sz="18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circuit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along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endpoints.</a:t>
            </a:r>
            <a:endParaRPr sz="1800">
              <a:latin typeface="Times New Roman"/>
              <a:cs typeface="Times New Roman"/>
            </a:endParaRPr>
          </a:p>
          <a:p>
            <a:pPr marL="375920" marR="5080" indent="-36385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Arial Black"/>
              <a:buChar char="□"/>
              <a:tabLst>
                <a:tab pos="37909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18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Less:</a:t>
            </a:r>
            <a:r>
              <a:rPr sz="1800" b="1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forwarded</a:t>
            </a:r>
            <a:r>
              <a:rPr sz="18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behalf</a:t>
            </a:r>
            <a:r>
              <a:rPr sz="18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forwarding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tables.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previous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handshaking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acknowledgements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optional.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0632" y="1439501"/>
            <a:ext cx="5466735" cy="51284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424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20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826" y="2139007"/>
            <a:ext cx="4498975" cy="286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three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methods: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Circuit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endParaRPr sz="2000">
              <a:latin typeface="Times New Roman"/>
              <a:cs typeface="Times New Roman"/>
            </a:endParaRPr>
          </a:p>
          <a:p>
            <a:pPr marL="775335" lvl="1" indent="-257810">
              <a:lnSpc>
                <a:spcPct val="100000"/>
              </a:lnSpc>
              <a:spcBef>
                <a:spcPts val="1005"/>
              </a:spcBef>
              <a:buClr>
                <a:srgbClr val="8ACED4"/>
              </a:buClr>
              <a:buSzPct val="77777"/>
              <a:buFont typeface="Arial MT"/>
              <a:buChar char="•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Datagram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endParaRPr sz="1800">
              <a:latin typeface="Times New Roman"/>
              <a:cs typeface="Times New Roman"/>
            </a:endParaRPr>
          </a:p>
          <a:p>
            <a:pPr marL="775335" lvl="1" indent="-25781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Arial MT"/>
              <a:buChar char="•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Virtual</a:t>
            </a:r>
            <a:r>
              <a:rPr sz="1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Circuit</a:t>
            </a:r>
            <a:r>
              <a:rPr sz="1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9187" y="2123766"/>
            <a:ext cx="5987844" cy="37402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6510">
              <a:lnSpc>
                <a:spcPct val="100000"/>
              </a:lnSpc>
              <a:spcBef>
                <a:spcPts val="100"/>
              </a:spcBef>
            </a:pPr>
            <a:r>
              <a:rPr dirty="0"/>
              <a:t>CIRCUIT</a:t>
            </a:r>
            <a:r>
              <a:rPr spc="-3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439" y="1441424"/>
            <a:ext cx="6077585" cy="493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marR="6350" indent="-36258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9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19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mode</a:t>
            </a:r>
            <a:r>
              <a:rPr sz="19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9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involved</a:t>
            </a:r>
            <a:r>
              <a:rPr sz="19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setting</a:t>
            </a:r>
            <a:r>
              <a:rPr sz="19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19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dedicated end to end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connection.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Commonly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Telephone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systems.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Connection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Oriented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delay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flow.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Establishes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dedicated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sender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receiver.</a:t>
            </a:r>
            <a:endParaRPr sz="1900">
              <a:latin typeface="Times New Roman"/>
              <a:cs typeface="Times New Roman"/>
            </a:endParaRPr>
          </a:p>
          <a:p>
            <a:pPr marL="374650" marR="952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  <a:tab pos="1005205" algn="l"/>
                <a:tab pos="1581785" algn="l"/>
                <a:tab pos="2453005" algn="l"/>
                <a:tab pos="2842895" algn="l"/>
                <a:tab pos="3498850" algn="l"/>
                <a:tab pos="4142104" algn="l"/>
                <a:tab pos="4638040" algn="l"/>
                <a:tab pos="5898515" algn="l"/>
              </a:tabLst>
            </a:pP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remain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exist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until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terminated.</a:t>
            </a:r>
            <a:endParaRPr sz="1900">
              <a:latin typeface="Times New Roman"/>
              <a:cs typeface="Times New Roman"/>
            </a:endParaRPr>
          </a:p>
          <a:p>
            <a:pPr marL="374650" marR="50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  <a:tab pos="1071880" algn="l"/>
                <a:tab pos="2157095" algn="l"/>
                <a:tab pos="2639695" algn="l"/>
                <a:tab pos="4535805" algn="l"/>
                <a:tab pos="5648325" algn="l"/>
              </a:tabLst>
            </a:pP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After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acknowledgment,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dedicated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path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transfers</a:t>
            </a:r>
            <a:r>
              <a:rPr sz="19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telephone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transmission.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required.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establish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more.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0902" y="1425677"/>
            <a:ext cx="5033044" cy="50734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100"/>
              </a:spcBef>
            </a:pPr>
            <a:r>
              <a:rPr dirty="0"/>
              <a:t>PHASES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CIRCUIT</a:t>
            </a:r>
            <a:r>
              <a:rPr spc="-10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807" y="1696728"/>
            <a:ext cx="297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Circuit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Establishment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8271" y="1696728"/>
            <a:ext cx="2013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Transfer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2260" y="1696728"/>
            <a:ext cx="3011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Circuit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Disconnection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090" y="2710819"/>
            <a:ext cx="8926715" cy="36944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1740" y="1229032"/>
            <a:ext cx="5063613" cy="51993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34551" y="130867"/>
            <a:ext cx="62433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MESSAGE</a:t>
            </a:r>
            <a:r>
              <a:rPr spc="-254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8986" y="1244780"/>
            <a:ext cx="6172835" cy="496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marR="5080" indent="-36258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19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19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dedicated</a:t>
            </a:r>
            <a:r>
              <a:rPr sz="1900" spc="4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9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900"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900" spc="4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communicating devices.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commonly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Emails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Messeges.</a:t>
            </a:r>
            <a:endParaRPr sz="19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9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store-and-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technique.</a:t>
            </a:r>
            <a:endParaRPr sz="1900">
              <a:latin typeface="Times New Roman"/>
              <a:cs typeface="Times New Roman"/>
            </a:endParaRPr>
          </a:p>
          <a:p>
            <a:pPr marL="374650" marR="8890" indent="-36258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whole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treated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unit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9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transferred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entirety.</a:t>
            </a:r>
            <a:endParaRPr sz="1900">
              <a:latin typeface="Times New Roman"/>
              <a:cs typeface="Times New Roman"/>
            </a:endParaRPr>
          </a:p>
          <a:p>
            <a:pPr marL="374650" marR="10795" indent="-36258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19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19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whole</a:t>
            </a:r>
            <a:r>
              <a:rPr sz="19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19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9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buffers</a:t>
            </a:r>
            <a:r>
              <a:rPr sz="19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9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until</a:t>
            </a:r>
            <a:r>
              <a:rPr sz="19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there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9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sz="19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available.</a:t>
            </a:r>
            <a:endParaRPr sz="1900">
              <a:latin typeface="Times New Roman"/>
              <a:cs typeface="Times New Roman"/>
            </a:endParaRPr>
          </a:p>
          <a:p>
            <a:pPr marL="374650" marR="7620" indent="-36258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1900" spc="2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9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900" spc="2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hop</a:t>
            </a:r>
            <a:r>
              <a:rPr sz="19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900" spc="2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9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1900" spc="2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enough</a:t>
            </a:r>
            <a:r>
              <a:rPr sz="19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resource</a:t>
            </a:r>
            <a:r>
              <a:rPr sz="1900" spc="2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accommodate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large size message, the</a:t>
            </a:r>
            <a:r>
              <a:rPr sz="1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message is stored </a:t>
            </a:r>
            <a:r>
              <a:rPr sz="19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switch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waits.</a:t>
            </a:r>
            <a:endParaRPr sz="1900">
              <a:latin typeface="Times New Roman"/>
              <a:cs typeface="Times New Roman"/>
            </a:endParaRPr>
          </a:p>
          <a:p>
            <a:pPr marL="374650" indent="-36195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Very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slow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19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storing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 forwarding.</a:t>
            </a:r>
            <a:endParaRPr sz="1900">
              <a:latin typeface="Times New Roman"/>
              <a:cs typeface="Times New Roman"/>
            </a:endParaRPr>
          </a:p>
          <a:p>
            <a:pPr marL="374650" marR="8255" indent="-36258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947"/>
              <a:buFont typeface="Lucida Sans Unicode"/>
              <a:buChar char="□"/>
              <a:tabLst>
                <a:tab pos="374650" algn="l"/>
              </a:tabLst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900" spc="3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900" spc="3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r>
              <a:rPr sz="1900" spc="3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900" spc="3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streaming</a:t>
            </a:r>
            <a:r>
              <a:rPr sz="1900" spc="3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1900" spc="3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900" spc="3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sz="19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applications.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8555">
              <a:lnSpc>
                <a:spcPct val="100000"/>
              </a:lnSpc>
              <a:spcBef>
                <a:spcPts val="100"/>
              </a:spcBef>
            </a:pPr>
            <a:r>
              <a:rPr dirty="0"/>
              <a:t>PACKET</a:t>
            </a:r>
            <a:r>
              <a:rPr spc="-21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525" y="1363079"/>
            <a:ext cx="10510520" cy="4089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Short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comings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gave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birth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Commonly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Model.</a:t>
            </a:r>
            <a:endParaRPr sz="2000">
              <a:latin typeface="Times New Roman"/>
              <a:cs typeface="Times New Roman"/>
            </a:endParaRPr>
          </a:p>
          <a:p>
            <a:pPr marL="375285" marR="825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splits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pieces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their order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end.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sequence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number.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shortest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possible.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reassembled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correct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order.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missing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corrupted,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resend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message.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correct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reached,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acknowledgment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100"/>
              </a:spcBef>
            </a:pPr>
            <a:r>
              <a:rPr dirty="0"/>
              <a:t>DATAGRAM</a:t>
            </a:r>
            <a:r>
              <a:rPr spc="-130" dirty="0"/>
              <a:t> </a:t>
            </a:r>
            <a:r>
              <a:rPr dirty="0"/>
              <a:t>PACKET</a:t>
            </a:r>
            <a:r>
              <a:rPr spc="-12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824" y="1294253"/>
            <a:ext cx="5293360" cy="3530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connectionless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switching.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datagram.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Considered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independent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entity.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correct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destination.</a:t>
            </a:r>
            <a:endParaRPr sz="2000">
              <a:latin typeface="Times New Roman"/>
              <a:cs typeface="Times New Roman"/>
            </a:endParaRP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fixed.</a:t>
            </a:r>
            <a:endParaRPr sz="2000">
              <a:latin typeface="Times New Roman"/>
              <a:cs typeface="Times New Roman"/>
            </a:endParaRPr>
          </a:p>
          <a:p>
            <a:pPr marL="375285" marR="889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Intermediate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nodes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decisions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packets.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3315" y="1406013"/>
            <a:ext cx="5791200" cy="47194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5519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35" dirty="0"/>
              <a:t> </a:t>
            </a:r>
            <a:r>
              <a:rPr dirty="0"/>
              <a:t>CIRCUIT</a:t>
            </a:r>
            <a:r>
              <a:rPr spc="-3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924" y="1499911"/>
            <a:ext cx="4528820" cy="314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40385" indent="-36322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connection-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oriented switching.</a:t>
            </a:r>
            <a:endParaRPr sz="2000">
              <a:latin typeface="Times New Roman"/>
              <a:cs typeface="Times New Roman"/>
            </a:endParaRPr>
          </a:p>
          <a:p>
            <a:pPr marL="375285" marR="4889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preplanned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established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before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sent.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accept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 establish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between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sender 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receiver.</a:t>
            </a:r>
            <a:endParaRPr sz="2000">
              <a:latin typeface="Times New Roman"/>
              <a:cs typeface="Times New Roman"/>
            </a:endParaRPr>
          </a:p>
          <a:p>
            <a:pPr marL="375285" marR="33718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duration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logical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8348" y="1484671"/>
            <a:ext cx="5720621" cy="46626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735">
              <a:lnSpc>
                <a:spcPct val="100000"/>
              </a:lnSpc>
              <a:spcBef>
                <a:spcPts val="100"/>
              </a:spcBef>
            </a:pPr>
            <a:r>
              <a:rPr dirty="0"/>
              <a:t>OSI</a:t>
            </a:r>
            <a:r>
              <a:rPr spc="-65" dirty="0"/>
              <a:t> </a:t>
            </a:r>
            <a:r>
              <a:rPr dirty="0"/>
              <a:t>LAYERED</a:t>
            </a:r>
            <a:r>
              <a:rPr spc="-6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0258" y="1868488"/>
            <a:ext cx="447357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Developed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ISO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‘international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organization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standardization‘,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year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1984.</a:t>
            </a:r>
            <a:endParaRPr sz="2000">
              <a:latin typeface="Times New Roman"/>
              <a:cs typeface="Times New Roman"/>
            </a:endParaRPr>
          </a:p>
          <a:p>
            <a:pPr marL="405765" marR="5715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conceptual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framework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divides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into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seven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layers.</a:t>
            </a:r>
            <a:endParaRPr sz="2000">
              <a:latin typeface="Times New Roman"/>
              <a:cs typeface="Times New Roman"/>
            </a:endParaRPr>
          </a:p>
          <a:p>
            <a:pPr marL="405765" marR="6985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groups: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Layers</a:t>
            </a:r>
            <a:endParaRPr sz="2000">
              <a:latin typeface="Times New Roman"/>
              <a:cs typeface="Times New Roman"/>
            </a:endParaRPr>
          </a:p>
          <a:p>
            <a:pPr marL="405765" marR="635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functionality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4796" y="1485722"/>
            <a:ext cx="6817260" cy="48047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PHYSICAL</a:t>
            </a:r>
            <a:r>
              <a:rPr spc="-120" dirty="0"/>
              <a:t> </a:t>
            </a:r>
            <a:r>
              <a:rPr dirty="0"/>
              <a:t>LAYER</a:t>
            </a:r>
            <a:r>
              <a:rPr spc="-10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6442" y="1357364"/>
            <a:ext cx="10642600" cy="3784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along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0" dirty="0">
                <a:solidFill>
                  <a:srgbClr val="E7E7E7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Determine</a:t>
            </a:r>
            <a:r>
              <a:rPr sz="2000" spc="-30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how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physical</a:t>
            </a:r>
            <a:r>
              <a:rPr sz="2000" spc="-30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connections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network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E7E7E7"/>
                </a:solidFill>
                <a:latin typeface="Times New Roman"/>
                <a:cs typeface="Times New Roman"/>
              </a:rPr>
              <a:t>set</a:t>
            </a:r>
            <a:r>
              <a:rPr sz="2000" spc="-25" dirty="0">
                <a:solidFill>
                  <a:srgbClr val="E7E7E7"/>
                </a:solidFill>
                <a:latin typeface="Times New Roman"/>
                <a:cs typeface="Times New Roman"/>
              </a:rPr>
              <a:t> up.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Consists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components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plugs,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connectors,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receivers,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types,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(that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0’s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1’s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encoded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signal).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(mesh,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star,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bus,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ring)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decisions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configuration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configuration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multi-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configuration.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interface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medium.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decisions.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82289" y="772636"/>
            <a:ext cx="68795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11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dirty="0"/>
              <a:t>Physical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785866"/>
            <a:ext cx="10273030" cy="2057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Configuration: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physically.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Transmission:  It  defines  the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  mode  whether  it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  simplex,  half-duplex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full-duplex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mode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network.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Topology: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arranged.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Signals: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dirty="0"/>
              <a:t>DATALINK</a:t>
            </a:r>
            <a:r>
              <a:rPr spc="-35" dirty="0"/>
              <a:t> </a:t>
            </a:r>
            <a:r>
              <a:rPr dirty="0"/>
              <a:t>LAYER</a:t>
            </a:r>
            <a:r>
              <a:rPr spc="-3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65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/>
              <a:t>This</a:t>
            </a:r>
            <a:r>
              <a:rPr sz="1850" spc="-30" dirty="0"/>
              <a:t> </a:t>
            </a:r>
            <a:r>
              <a:rPr sz="1850" dirty="0"/>
              <a:t>layer</a:t>
            </a:r>
            <a:r>
              <a:rPr sz="1850" spc="-20" dirty="0"/>
              <a:t> </a:t>
            </a:r>
            <a:r>
              <a:rPr sz="1850" dirty="0"/>
              <a:t>is</a:t>
            </a:r>
            <a:r>
              <a:rPr sz="1850" spc="-25" dirty="0"/>
              <a:t> </a:t>
            </a:r>
            <a:r>
              <a:rPr sz="1850" spc="-10" dirty="0"/>
              <a:t>responsible</a:t>
            </a:r>
            <a:r>
              <a:rPr sz="1850" spc="-30" dirty="0"/>
              <a:t> </a:t>
            </a:r>
            <a:r>
              <a:rPr sz="1850" dirty="0"/>
              <a:t>for</a:t>
            </a:r>
            <a:r>
              <a:rPr sz="1850" spc="-20" dirty="0"/>
              <a:t> </a:t>
            </a:r>
            <a:r>
              <a:rPr sz="1850" dirty="0"/>
              <a:t>the</a:t>
            </a:r>
            <a:r>
              <a:rPr sz="1850" spc="-25" dirty="0"/>
              <a:t> </a:t>
            </a:r>
            <a:r>
              <a:rPr sz="1850" spc="-10" dirty="0"/>
              <a:t>error-</a:t>
            </a:r>
            <a:r>
              <a:rPr sz="1850" dirty="0"/>
              <a:t>free</a:t>
            </a:r>
            <a:r>
              <a:rPr sz="1850" spc="-25" dirty="0"/>
              <a:t> </a:t>
            </a:r>
            <a:r>
              <a:rPr sz="1850" dirty="0"/>
              <a:t>transfer</a:t>
            </a:r>
            <a:r>
              <a:rPr sz="1850" spc="-25" dirty="0"/>
              <a:t> </a:t>
            </a:r>
            <a:r>
              <a:rPr sz="1850" dirty="0"/>
              <a:t>of</a:t>
            </a:r>
            <a:r>
              <a:rPr sz="1850" spc="-20" dirty="0"/>
              <a:t> </a:t>
            </a:r>
            <a:r>
              <a:rPr sz="1850" dirty="0"/>
              <a:t>data</a:t>
            </a:r>
            <a:r>
              <a:rPr sz="1850" spc="-25" dirty="0"/>
              <a:t> </a:t>
            </a:r>
            <a:r>
              <a:rPr sz="1850" spc="-10" dirty="0"/>
              <a:t>frames.</a:t>
            </a:r>
            <a:endParaRPr sz="1850"/>
          </a:p>
          <a:p>
            <a:pPr marL="374015" indent="-361315">
              <a:lnSpc>
                <a:spcPct val="100000"/>
              </a:lnSpc>
              <a:spcBef>
                <a:spcPts val="55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/>
              <a:t>It</a:t>
            </a:r>
            <a:r>
              <a:rPr sz="1850" spc="-35" dirty="0"/>
              <a:t> </a:t>
            </a:r>
            <a:r>
              <a:rPr sz="1850" dirty="0"/>
              <a:t>defines</a:t>
            </a:r>
            <a:r>
              <a:rPr sz="1850" spc="-35" dirty="0"/>
              <a:t> </a:t>
            </a:r>
            <a:r>
              <a:rPr sz="1850" dirty="0"/>
              <a:t>the</a:t>
            </a:r>
            <a:r>
              <a:rPr sz="1850" spc="-35" dirty="0"/>
              <a:t> </a:t>
            </a:r>
            <a:r>
              <a:rPr sz="1850" dirty="0"/>
              <a:t>format</a:t>
            </a:r>
            <a:r>
              <a:rPr sz="1850" spc="-30" dirty="0"/>
              <a:t> </a:t>
            </a:r>
            <a:r>
              <a:rPr sz="1850" dirty="0"/>
              <a:t>of</a:t>
            </a:r>
            <a:r>
              <a:rPr sz="1850" spc="-30" dirty="0"/>
              <a:t> </a:t>
            </a:r>
            <a:r>
              <a:rPr sz="1850" dirty="0"/>
              <a:t>the</a:t>
            </a:r>
            <a:r>
              <a:rPr sz="1850" spc="-35" dirty="0"/>
              <a:t> </a:t>
            </a:r>
            <a:r>
              <a:rPr sz="1850" dirty="0"/>
              <a:t>data</a:t>
            </a:r>
            <a:r>
              <a:rPr sz="1850" spc="-30" dirty="0"/>
              <a:t> </a:t>
            </a:r>
            <a:r>
              <a:rPr sz="1850" dirty="0"/>
              <a:t>on</a:t>
            </a:r>
            <a:r>
              <a:rPr sz="1850" spc="-30" dirty="0"/>
              <a:t> </a:t>
            </a:r>
            <a:r>
              <a:rPr sz="1850" dirty="0"/>
              <a:t>the</a:t>
            </a:r>
            <a:r>
              <a:rPr sz="1850" spc="-35" dirty="0"/>
              <a:t> </a:t>
            </a:r>
            <a:r>
              <a:rPr sz="1850" spc="-10" dirty="0"/>
              <a:t>network.</a:t>
            </a:r>
            <a:endParaRPr sz="1850"/>
          </a:p>
          <a:p>
            <a:pPr marL="374015" indent="-361315">
              <a:lnSpc>
                <a:spcPct val="100000"/>
              </a:lnSpc>
              <a:spcBef>
                <a:spcPts val="55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/>
              <a:t>It</a:t>
            </a:r>
            <a:r>
              <a:rPr sz="1850" spc="-50" dirty="0"/>
              <a:t> </a:t>
            </a:r>
            <a:r>
              <a:rPr sz="1850" dirty="0"/>
              <a:t>provides</a:t>
            </a:r>
            <a:r>
              <a:rPr sz="1850" spc="-45" dirty="0"/>
              <a:t> </a:t>
            </a:r>
            <a:r>
              <a:rPr sz="1850" dirty="0"/>
              <a:t>a</a:t>
            </a:r>
            <a:r>
              <a:rPr sz="1850" spc="-50" dirty="0"/>
              <a:t> </a:t>
            </a:r>
            <a:r>
              <a:rPr sz="1850" dirty="0"/>
              <a:t>reliable</a:t>
            </a:r>
            <a:r>
              <a:rPr sz="1850" spc="-45" dirty="0"/>
              <a:t> </a:t>
            </a:r>
            <a:r>
              <a:rPr sz="1850" dirty="0"/>
              <a:t>and</a:t>
            </a:r>
            <a:r>
              <a:rPr sz="1850" spc="-40" dirty="0"/>
              <a:t> </a:t>
            </a:r>
            <a:r>
              <a:rPr sz="1850" dirty="0"/>
              <a:t>efficient</a:t>
            </a:r>
            <a:r>
              <a:rPr sz="1850" spc="-50" dirty="0"/>
              <a:t> </a:t>
            </a:r>
            <a:r>
              <a:rPr sz="1850" dirty="0"/>
              <a:t>communication</a:t>
            </a:r>
            <a:r>
              <a:rPr sz="1850" spc="-40" dirty="0"/>
              <a:t> </a:t>
            </a:r>
            <a:r>
              <a:rPr sz="1850" dirty="0"/>
              <a:t>between</a:t>
            </a:r>
            <a:r>
              <a:rPr sz="1850" spc="-45" dirty="0"/>
              <a:t> </a:t>
            </a:r>
            <a:r>
              <a:rPr sz="1850" dirty="0"/>
              <a:t>two</a:t>
            </a:r>
            <a:r>
              <a:rPr sz="1850" spc="-40" dirty="0"/>
              <a:t> </a:t>
            </a:r>
            <a:r>
              <a:rPr sz="1850" dirty="0"/>
              <a:t>or</a:t>
            </a:r>
            <a:r>
              <a:rPr sz="1850" spc="-40" dirty="0"/>
              <a:t> </a:t>
            </a:r>
            <a:r>
              <a:rPr sz="1850" dirty="0"/>
              <a:t>more</a:t>
            </a:r>
            <a:r>
              <a:rPr sz="1850" spc="-50" dirty="0"/>
              <a:t> </a:t>
            </a:r>
            <a:r>
              <a:rPr sz="1850" spc="-10" dirty="0"/>
              <a:t>devices.</a:t>
            </a:r>
            <a:endParaRPr sz="1850"/>
          </a:p>
          <a:p>
            <a:pPr marL="31115" marR="186690" indent="-19050">
              <a:lnSpc>
                <a:spcPct val="125000"/>
              </a:lnSpc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1115" algn="l"/>
                <a:tab pos="374015" algn="l"/>
              </a:tabLst>
            </a:pPr>
            <a:r>
              <a:rPr sz="1850" dirty="0"/>
              <a:t>	It</a:t>
            </a:r>
            <a:r>
              <a:rPr sz="1850" spc="-35" dirty="0"/>
              <a:t> </a:t>
            </a:r>
            <a:r>
              <a:rPr sz="1850" dirty="0"/>
              <a:t>is</a:t>
            </a:r>
            <a:r>
              <a:rPr sz="1850" spc="-35" dirty="0"/>
              <a:t> </a:t>
            </a:r>
            <a:r>
              <a:rPr sz="1850" dirty="0"/>
              <a:t>mainly</a:t>
            </a:r>
            <a:r>
              <a:rPr sz="1850" spc="-25" dirty="0"/>
              <a:t> </a:t>
            </a:r>
            <a:r>
              <a:rPr sz="1850" spc="-10" dirty="0"/>
              <a:t>responsible</a:t>
            </a:r>
            <a:r>
              <a:rPr sz="1850" spc="-35" dirty="0"/>
              <a:t> </a:t>
            </a:r>
            <a:r>
              <a:rPr sz="1850" dirty="0"/>
              <a:t>for</a:t>
            </a:r>
            <a:r>
              <a:rPr sz="1850" spc="-30" dirty="0"/>
              <a:t> </a:t>
            </a:r>
            <a:r>
              <a:rPr sz="1850" dirty="0"/>
              <a:t>the</a:t>
            </a:r>
            <a:r>
              <a:rPr sz="1850" spc="-30" dirty="0"/>
              <a:t> </a:t>
            </a:r>
            <a:r>
              <a:rPr sz="1850" dirty="0"/>
              <a:t>unique</a:t>
            </a:r>
            <a:r>
              <a:rPr sz="1850" spc="-35" dirty="0"/>
              <a:t> </a:t>
            </a:r>
            <a:r>
              <a:rPr sz="1850" dirty="0"/>
              <a:t>identification</a:t>
            </a:r>
            <a:r>
              <a:rPr sz="1850" spc="-30" dirty="0"/>
              <a:t> </a:t>
            </a:r>
            <a:r>
              <a:rPr sz="1850" dirty="0"/>
              <a:t>of</a:t>
            </a:r>
            <a:r>
              <a:rPr sz="1850" spc="-25" dirty="0"/>
              <a:t> </a:t>
            </a:r>
            <a:r>
              <a:rPr sz="1850" dirty="0"/>
              <a:t>each</a:t>
            </a:r>
            <a:r>
              <a:rPr sz="1850" spc="-30" dirty="0"/>
              <a:t> </a:t>
            </a:r>
            <a:r>
              <a:rPr sz="1850" dirty="0"/>
              <a:t>device</a:t>
            </a:r>
            <a:r>
              <a:rPr sz="1850" spc="-35" dirty="0"/>
              <a:t> </a:t>
            </a:r>
            <a:r>
              <a:rPr sz="1850" dirty="0"/>
              <a:t>that</a:t>
            </a:r>
            <a:r>
              <a:rPr sz="1850" spc="-30" dirty="0"/>
              <a:t> </a:t>
            </a:r>
            <a:r>
              <a:rPr sz="1850" dirty="0"/>
              <a:t>resides</a:t>
            </a:r>
            <a:r>
              <a:rPr sz="1850" spc="-35" dirty="0"/>
              <a:t> </a:t>
            </a:r>
            <a:r>
              <a:rPr sz="1850" dirty="0"/>
              <a:t>on</a:t>
            </a:r>
            <a:r>
              <a:rPr sz="1850" spc="-25" dirty="0"/>
              <a:t> </a:t>
            </a:r>
            <a:r>
              <a:rPr sz="1850" dirty="0"/>
              <a:t>a</a:t>
            </a:r>
            <a:r>
              <a:rPr sz="1850" spc="-35" dirty="0"/>
              <a:t> </a:t>
            </a:r>
            <a:r>
              <a:rPr sz="1850" dirty="0"/>
              <a:t>local</a:t>
            </a:r>
            <a:r>
              <a:rPr sz="1850" spc="-35" dirty="0"/>
              <a:t> </a:t>
            </a:r>
            <a:r>
              <a:rPr sz="1850" spc="-10" dirty="0"/>
              <a:t>network. </a:t>
            </a:r>
            <a:r>
              <a:rPr sz="1850" dirty="0"/>
              <a:t>It</a:t>
            </a:r>
            <a:r>
              <a:rPr sz="1850" spc="-30" dirty="0"/>
              <a:t> </a:t>
            </a:r>
            <a:r>
              <a:rPr sz="1850" dirty="0"/>
              <a:t>contains</a:t>
            </a:r>
            <a:r>
              <a:rPr sz="1850" spc="-30" dirty="0"/>
              <a:t> </a:t>
            </a:r>
            <a:r>
              <a:rPr sz="1850" dirty="0"/>
              <a:t>two</a:t>
            </a:r>
            <a:r>
              <a:rPr sz="1850" spc="-25" dirty="0"/>
              <a:t> </a:t>
            </a:r>
            <a:r>
              <a:rPr sz="1850" spc="-20" dirty="0"/>
              <a:t>sub-</a:t>
            </a:r>
            <a:r>
              <a:rPr sz="1850" spc="-10" dirty="0"/>
              <a:t>layers:</a:t>
            </a:r>
            <a:endParaRPr sz="1850"/>
          </a:p>
          <a:p>
            <a:pPr marL="374015" indent="-361315">
              <a:lnSpc>
                <a:spcPct val="100000"/>
              </a:lnSpc>
              <a:spcBef>
                <a:spcPts val="560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/>
              <a:t>Logical</a:t>
            </a:r>
            <a:r>
              <a:rPr sz="1850" spc="-25" dirty="0"/>
              <a:t> </a:t>
            </a:r>
            <a:r>
              <a:rPr sz="1850" dirty="0"/>
              <a:t>Link</a:t>
            </a:r>
            <a:r>
              <a:rPr sz="1850" spc="-25" dirty="0"/>
              <a:t> </a:t>
            </a:r>
            <a:r>
              <a:rPr sz="1850" dirty="0"/>
              <a:t>Control</a:t>
            </a:r>
            <a:r>
              <a:rPr sz="1850" spc="-20" dirty="0"/>
              <a:t> </a:t>
            </a:r>
            <a:r>
              <a:rPr sz="1850" spc="-10" dirty="0"/>
              <a:t>Layer</a:t>
            </a:r>
            <a:endParaRPr sz="1850"/>
          </a:p>
          <a:p>
            <a:pPr marL="774065" lvl="1" indent="-260350">
              <a:lnSpc>
                <a:spcPct val="100000"/>
              </a:lnSpc>
              <a:spcBef>
                <a:spcPts val="610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406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transferring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receiver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receiving.</a:t>
            </a:r>
            <a:endParaRPr sz="1650">
              <a:latin typeface="Times New Roman"/>
              <a:cs typeface="Times New Roman"/>
            </a:endParaRPr>
          </a:p>
          <a:p>
            <a:pPr marL="774065" lvl="1" indent="-260350">
              <a:lnSpc>
                <a:spcPct val="100000"/>
              </a:lnSpc>
              <a:spcBef>
                <a:spcPts val="620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406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identifies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header.</a:t>
            </a:r>
            <a:endParaRPr sz="1650">
              <a:latin typeface="Times New Roman"/>
              <a:cs typeface="Times New Roman"/>
            </a:endParaRPr>
          </a:p>
          <a:p>
            <a:pPr marL="774065" lvl="1" indent="-260350">
              <a:lnSpc>
                <a:spcPct val="100000"/>
              </a:lnSpc>
              <a:spcBef>
                <a:spcPts val="620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406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control.</a:t>
            </a:r>
            <a:endParaRPr sz="1650">
              <a:latin typeface="Times New Roman"/>
              <a:cs typeface="Times New Roman"/>
            </a:endParaRPr>
          </a:p>
          <a:p>
            <a:pPr marL="374015" indent="-361315">
              <a:lnSpc>
                <a:spcPct val="100000"/>
              </a:lnSpc>
              <a:spcBef>
                <a:spcPts val="560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/>
              <a:t>Media</a:t>
            </a:r>
            <a:r>
              <a:rPr sz="1850" spc="-65" dirty="0"/>
              <a:t> </a:t>
            </a:r>
            <a:r>
              <a:rPr sz="1850" dirty="0"/>
              <a:t>Access</a:t>
            </a:r>
            <a:r>
              <a:rPr sz="1850" spc="-65" dirty="0"/>
              <a:t> </a:t>
            </a:r>
            <a:r>
              <a:rPr sz="1850" dirty="0"/>
              <a:t>Control</a:t>
            </a:r>
            <a:r>
              <a:rPr sz="1850" spc="-60" dirty="0"/>
              <a:t> </a:t>
            </a:r>
            <a:r>
              <a:rPr sz="1850" spc="-10" dirty="0"/>
              <a:t>Layer</a:t>
            </a:r>
            <a:endParaRPr sz="1850"/>
          </a:p>
          <a:p>
            <a:pPr marL="774065" marR="5080" lvl="1" indent="-260985">
              <a:lnSpc>
                <a:spcPts val="1600"/>
              </a:lnSpc>
              <a:spcBef>
                <a:spcPts val="985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406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Logical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network's</a:t>
            </a:r>
            <a:r>
              <a:rPr sz="16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 layer.</a:t>
            </a:r>
            <a:endParaRPr sz="1650">
              <a:latin typeface="Times New Roman"/>
              <a:cs typeface="Times New Roman"/>
            </a:endParaRPr>
          </a:p>
          <a:p>
            <a:pPr marL="774065" lvl="1" indent="-260350">
              <a:lnSpc>
                <a:spcPct val="100000"/>
              </a:lnSpc>
              <a:spcBef>
                <a:spcPts val="625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406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transferring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09776" y="199692"/>
            <a:ext cx="7626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35" dirty="0"/>
              <a:t>Data-</a:t>
            </a:r>
            <a:r>
              <a:rPr dirty="0"/>
              <a:t>link</a:t>
            </a:r>
            <a:r>
              <a:rPr spc="-7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024" y="1155782"/>
            <a:ext cx="11330305" cy="510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10795" indent="-36322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Framing: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translates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physical's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raw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stream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Frames.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adds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trailer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frame.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added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contains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375285" marR="1206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Addressing: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mentioned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header.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Control: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functionality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Data-link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layer.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technique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through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 the constant data rate is maintained on both the sides so that no data get corrupted. It ensures that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transmitting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exceed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 lower processing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speed.</a:t>
            </a:r>
            <a:endParaRPr sz="2000">
              <a:latin typeface="Times New Roman"/>
              <a:cs typeface="Times New Roman"/>
            </a:endParaRPr>
          </a:p>
          <a:p>
            <a:pPr marL="375285" marR="1016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Control: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achieved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calculated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(Cyclic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Redundancy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Check)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that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placed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layer's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trailer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layer. If any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 seems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 occur, then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receiver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sends the acknowledgment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 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retransmission of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corrupted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frames.</a:t>
            </a:r>
            <a:endParaRPr sz="2000">
              <a:latin typeface="Times New Roman"/>
              <a:cs typeface="Times New Roman"/>
            </a:endParaRPr>
          </a:p>
          <a:p>
            <a:pPr marL="375285" marR="825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Control: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channel,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time.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150" dirty="0"/>
              <a:t> </a:t>
            </a:r>
            <a:r>
              <a:rPr dirty="0"/>
              <a:t>LAYER</a:t>
            </a:r>
            <a:r>
              <a:rPr spc="-14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3970" rIns="0" bIns="0" rtlCol="0">
            <a:spAutoFit/>
          </a:bodyPr>
          <a:lstStyle/>
          <a:p>
            <a:pPr marL="373380" indent="-36258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It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layer</a:t>
            </a:r>
            <a:r>
              <a:rPr spc="-10" dirty="0"/>
              <a:t> </a:t>
            </a:r>
            <a:r>
              <a:rPr dirty="0"/>
              <a:t>3</a:t>
            </a:r>
            <a:r>
              <a:rPr spc="-10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manages</a:t>
            </a:r>
            <a:r>
              <a:rPr spc="-15" dirty="0"/>
              <a:t> </a:t>
            </a:r>
            <a:r>
              <a:rPr dirty="0"/>
              <a:t>device</a:t>
            </a:r>
            <a:r>
              <a:rPr spc="-15" dirty="0"/>
              <a:t> </a:t>
            </a:r>
            <a:r>
              <a:rPr dirty="0"/>
              <a:t>addressing,</a:t>
            </a:r>
            <a:r>
              <a:rPr spc="-10" dirty="0"/>
              <a:t> </a:t>
            </a:r>
            <a:r>
              <a:rPr dirty="0"/>
              <a:t>tracks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location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devices</a:t>
            </a:r>
            <a:r>
              <a:rPr spc="-1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network.</a:t>
            </a:r>
          </a:p>
          <a:p>
            <a:pPr marL="373380" marR="698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It</a:t>
            </a:r>
            <a:r>
              <a:rPr spc="15" dirty="0"/>
              <a:t> </a:t>
            </a:r>
            <a:r>
              <a:rPr dirty="0"/>
              <a:t>determines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best</a:t>
            </a:r>
            <a:r>
              <a:rPr spc="30" dirty="0"/>
              <a:t> </a:t>
            </a:r>
            <a:r>
              <a:rPr dirty="0"/>
              <a:t>path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move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dirty="0"/>
              <a:t>from</a:t>
            </a:r>
            <a:r>
              <a:rPr spc="30" dirty="0"/>
              <a:t> </a:t>
            </a:r>
            <a:r>
              <a:rPr dirty="0"/>
              <a:t>source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destination</a:t>
            </a:r>
            <a:r>
              <a:rPr spc="30" dirty="0"/>
              <a:t> </a:t>
            </a:r>
            <a:r>
              <a:rPr dirty="0"/>
              <a:t>based</a:t>
            </a:r>
            <a:r>
              <a:rPr spc="30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10" dirty="0"/>
              <a:t>network </a:t>
            </a:r>
            <a:r>
              <a:rPr dirty="0"/>
              <a:t>conditions,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priority of</a:t>
            </a:r>
            <a:r>
              <a:rPr spc="-5" dirty="0"/>
              <a:t> </a:t>
            </a:r>
            <a:r>
              <a:rPr dirty="0"/>
              <a:t>service, and other </a:t>
            </a:r>
            <a:r>
              <a:rPr spc="-10" dirty="0"/>
              <a:t>factors.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link</a:t>
            </a:r>
            <a:r>
              <a:rPr spc="-10" dirty="0"/>
              <a:t> </a:t>
            </a:r>
            <a:r>
              <a:rPr dirty="0"/>
              <a:t>layer</a:t>
            </a:r>
            <a:r>
              <a:rPr spc="-1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responsible</a:t>
            </a:r>
            <a:r>
              <a:rPr spc="-2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routing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forwarding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packets.</a:t>
            </a:r>
          </a:p>
          <a:p>
            <a:pPr marL="373380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Routers</a:t>
            </a:r>
            <a:r>
              <a:rPr spc="335" dirty="0"/>
              <a:t> </a:t>
            </a:r>
            <a:r>
              <a:rPr dirty="0"/>
              <a:t>are</a:t>
            </a:r>
            <a:r>
              <a:rPr spc="350" dirty="0"/>
              <a:t> </a:t>
            </a:r>
            <a:r>
              <a:rPr dirty="0"/>
              <a:t>the</a:t>
            </a:r>
            <a:r>
              <a:rPr spc="350" dirty="0"/>
              <a:t> </a:t>
            </a:r>
            <a:r>
              <a:rPr dirty="0"/>
              <a:t>layer</a:t>
            </a:r>
            <a:r>
              <a:rPr spc="345" dirty="0"/>
              <a:t> </a:t>
            </a:r>
            <a:r>
              <a:rPr dirty="0"/>
              <a:t>3</a:t>
            </a:r>
            <a:r>
              <a:rPr spc="350" dirty="0"/>
              <a:t> </a:t>
            </a:r>
            <a:r>
              <a:rPr dirty="0"/>
              <a:t>devices,</a:t>
            </a:r>
            <a:r>
              <a:rPr spc="350" dirty="0"/>
              <a:t> </a:t>
            </a:r>
            <a:r>
              <a:rPr dirty="0"/>
              <a:t>they</a:t>
            </a:r>
            <a:r>
              <a:rPr spc="345" dirty="0"/>
              <a:t> </a:t>
            </a:r>
            <a:r>
              <a:rPr dirty="0"/>
              <a:t>are</a:t>
            </a:r>
            <a:r>
              <a:rPr spc="350" dirty="0"/>
              <a:t> </a:t>
            </a:r>
            <a:r>
              <a:rPr dirty="0"/>
              <a:t>specified</a:t>
            </a:r>
            <a:r>
              <a:rPr spc="350" dirty="0"/>
              <a:t> </a:t>
            </a:r>
            <a:r>
              <a:rPr dirty="0"/>
              <a:t>in</a:t>
            </a:r>
            <a:r>
              <a:rPr spc="345" dirty="0"/>
              <a:t> </a:t>
            </a:r>
            <a:r>
              <a:rPr dirty="0"/>
              <a:t>this</a:t>
            </a:r>
            <a:r>
              <a:rPr spc="350" dirty="0"/>
              <a:t> </a:t>
            </a:r>
            <a:r>
              <a:rPr dirty="0"/>
              <a:t>layer</a:t>
            </a:r>
            <a:r>
              <a:rPr spc="350" dirty="0"/>
              <a:t> </a:t>
            </a:r>
            <a:r>
              <a:rPr dirty="0"/>
              <a:t>and</a:t>
            </a:r>
            <a:r>
              <a:rPr spc="345" dirty="0"/>
              <a:t> </a:t>
            </a:r>
            <a:r>
              <a:rPr dirty="0"/>
              <a:t>used</a:t>
            </a:r>
            <a:r>
              <a:rPr spc="350" dirty="0"/>
              <a:t> </a:t>
            </a:r>
            <a:r>
              <a:rPr dirty="0"/>
              <a:t>to</a:t>
            </a:r>
            <a:r>
              <a:rPr spc="350" dirty="0"/>
              <a:t> </a:t>
            </a:r>
            <a:r>
              <a:rPr dirty="0"/>
              <a:t>provide</a:t>
            </a:r>
            <a:r>
              <a:rPr spc="350" dirty="0"/>
              <a:t> </a:t>
            </a:r>
            <a:r>
              <a:rPr spc="-25" dirty="0"/>
              <a:t>the </a:t>
            </a:r>
            <a:r>
              <a:rPr dirty="0"/>
              <a:t>routing</a:t>
            </a:r>
            <a:r>
              <a:rPr spc="-10" dirty="0"/>
              <a:t> </a:t>
            </a:r>
            <a:r>
              <a:rPr dirty="0"/>
              <a:t>services</a:t>
            </a:r>
            <a:r>
              <a:rPr spc="-15" dirty="0"/>
              <a:t> </a:t>
            </a:r>
            <a:r>
              <a:rPr dirty="0"/>
              <a:t>within</a:t>
            </a:r>
            <a:r>
              <a:rPr spc="-10" dirty="0"/>
              <a:t> </a:t>
            </a:r>
            <a:r>
              <a:rPr dirty="0"/>
              <a:t>an</a:t>
            </a:r>
            <a:r>
              <a:rPr spc="-5" dirty="0"/>
              <a:t> </a:t>
            </a:r>
            <a:r>
              <a:rPr spc="-10" dirty="0"/>
              <a:t>internetwork.</a:t>
            </a:r>
          </a:p>
          <a:p>
            <a:pPr marL="373380" marR="635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The</a:t>
            </a:r>
            <a:r>
              <a:rPr spc="415" dirty="0"/>
              <a:t> </a:t>
            </a:r>
            <a:r>
              <a:rPr dirty="0"/>
              <a:t>protocols</a:t>
            </a:r>
            <a:r>
              <a:rPr spc="420" dirty="0"/>
              <a:t> </a:t>
            </a:r>
            <a:r>
              <a:rPr dirty="0"/>
              <a:t>used</a:t>
            </a:r>
            <a:r>
              <a:rPr spc="420" dirty="0"/>
              <a:t> </a:t>
            </a:r>
            <a:r>
              <a:rPr dirty="0"/>
              <a:t>to</a:t>
            </a:r>
            <a:r>
              <a:rPr spc="415" dirty="0"/>
              <a:t> </a:t>
            </a:r>
            <a:r>
              <a:rPr dirty="0"/>
              <a:t>route</a:t>
            </a:r>
            <a:r>
              <a:rPr spc="420" dirty="0"/>
              <a:t> </a:t>
            </a:r>
            <a:r>
              <a:rPr dirty="0"/>
              <a:t>the</a:t>
            </a:r>
            <a:r>
              <a:rPr spc="420" dirty="0"/>
              <a:t> </a:t>
            </a:r>
            <a:r>
              <a:rPr dirty="0"/>
              <a:t>network</a:t>
            </a:r>
            <a:r>
              <a:rPr spc="415" dirty="0"/>
              <a:t> </a:t>
            </a:r>
            <a:r>
              <a:rPr dirty="0"/>
              <a:t>traffic</a:t>
            </a:r>
            <a:r>
              <a:rPr spc="420" dirty="0"/>
              <a:t> </a:t>
            </a:r>
            <a:r>
              <a:rPr dirty="0"/>
              <a:t>are</a:t>
            </a:r>
            <a:r>
              <a:rPr spc="420" dirty="0"/>
              <a:t> </a:t>
            </a:r>
            <a:r>
              <a:rPr dirty="0"/>
              <a:t>known</a:t>
            </a:r>
            <a:r>
              <a:rPr spc="415" dirty="0"/>
              <a:t> </a:t>
            </a:r>
            <a:r>
              <a:rPr dirty="0"/>
              <a:t>as</a:t>
            </a:r>
            <a:r>
              <a:rPr spc="420" dirty="0"/>
              <a:t> </a:t>
            </a:r>
            <a:r>
              <a:rPr dirty="0"/>
              <a:t>Network</a:t>
            </a:r>
            <a:r>
              <a:rPr spc="420" dirty="0"/>
              <a:t> </a:t>
            </a:r>
            <a:r>
              <a:rPr dirty="0"/>
              <a:t>layer</a:t>
            </a:r>
            <a:r>
              <a:rPr spc="415" dirty="0"/>
              <a:t> </a:t>
            </a:r>
            <a:r>
              <a:rPr spc="-10" dirty="0"/>
              <a:t>protocols. </a:t>
            </a:r>
            <a:r>
              <a:rPr dirty="0"/>
              <a:t>Examples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protocols</a:t>
            </a:r>
            <a:r>
              <a:rPr spc="-15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IP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Ipv6.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36850" y="772636"/>
            <a:ext cx="67735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9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Network</a:t>
            </a:r>
            <a:r>
              <a:rPr spc="-90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912866"/>
            <a:ext cx="1027557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Internetworking: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internetworking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responsibility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layer.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provides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logical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 marL="375285" marR="571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Addressing: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frame.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internet.</a:t>
            </a:r>
            <a:endParaRPr sz="2000">
              <a:latin typeface="Times New Roman"/>
              <a:cs typeface="Times New Roman"/>
            </a:endParaRPr>
          </a:p>
          <a:p>
            <a:pPr marL="375285" marR="889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Routing:</a:t>
            </a:r>
            <a:r>
              <a:rPr sz="2000" spc="4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component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layer,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determines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best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paths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destination.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Packetizing: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upper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converts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them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into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Packetizing.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achieved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(IP).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TRANSPORT</a:t>
            </a:r>
            <a:r>
              <a:rPr spc="-140" dirty="0"/>
              <a:t> </a:t>
            </a:r>
            <a:r>
              <a:rPr dirty="0"/>
              <a:t>LAYER</a:t>
            </a:r>
            <a:r>
              <a:rPr spc="-12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3970" rIns="0" bIns="0" rtlCol="0">
            <a:spAutoFit/>
          </a:bodyPr>
          <a:lstStyle/>
          <a:p>
            <a:pPr marL="373380" marR="5080" indent="-36322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The</a:t>
            </a:r>
            <a:r>
              <a:rPr spc="50" dirty="0"/>
              <a:t> </a:t>
            </a:r>
            <a:r>
              <a:rPr dirty="0"/>
              <a:t>Transport</a:t>
            </a:r>
            <a:r>
              <a:rPr spc="55" dirty="0"/>
              <a:t> </a:t>
            </a:r>
            <a:r>
              <a:rPr dirty="0"/>
              <a:t>layer</a:t>
            </a:r>
            <a:r>
              <a:rPr spc="6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Layer</a:t>
            </a:r>
            <a:r>
              <a:rPr spc="60" dirty="0"/>
              <a:t> </a:t>
            </a:r>
            <a:r>
              <a:rPr dirty="0"/>
              <a:t>4</a:t>
            </a:r>
            <a:r>
              <a:rPr spc="55" dirty="0"/>
              <a:t> </a:t>
            </a:r>
            <a:r>
              <a:rPr dirty="0"/>
              <a:t>ensures</a:t>
            </a:r>
            <a:r>
              <a:rPr spc="55" dirty="0"/>
              <a:t> </a:t>
            </a:r>
            <a:r>
              <a:rPr dirty="0"/>
              <a:t>that</a:t>
            </a:r>
            <a:r>
              <a:rPr spc="55" dirty="0"/>
              <a:t> </a:t>
            </a:r>
            <a:r>
              <a:rPr dirty="0"/>
              <a:t>messages</a:t>
            </a:r>
            <a:r>
              <a:rPr spc="50" dirty="0"/>
              <a:t> </a:t>
            </a:r>
            <a:r>
              <a:rPr dirty="0"/>
              <a:t>are</a:t>
            </a:r>
            <a:r>
              <a:rPr spc="55" dirty="0"/>
              <a:t> </a:t>
            </a:r>
            <a:r>
              <a:rPr dirty="0"/>
              <a:t>transmitted</a:t>
            </a:r>
            <a:r>
              <a:rPr spc="60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order</a:t>
            </a:r>
            <a:r>
              <a:rPr spc="60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spc="-10" dirty="0"/>
              <a:t>which </a:t>
            </a:r>
            <a:r>
              <a:rPr dirty="0"/>
              <a:t>they</a:t>
            </a:r>
            <a:r>
              <a:rPr spc="-10" dirty="0"/>
              <a:t> </a:t>
            </a:r>
            <a:r>
              <a:rPr dirty="0"/>
              <a:t>are</a:t>
            </a:r>
            <a:r>
              <a:rPr spc="-10" dirty="0"/>
              <a:t> </a:t>
            </a:r>
            <a:r>
              <a:rPr dirty="0"/>
              <a:t>sent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there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no</a:t>
            </a:r>
            <a:r>
              <a:rPr spc="-5" dirty="0"/>
              <a:t> </a:t>
            </a:r>
            <a:r>
              <a:rPr dirty="0"/>
              <a:t>duplication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data.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main</a:t>
            </a:r>
            <a:r>
              <a:rPr spc="-15" dirty="0"/>
              <a:t> </a:t>
            </a:r>
            <a:r>
              <a:rPr dirty="0"/>
              <a:t>responsibility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transport</a:t>
            </a:r>
            <a:r>
              <a:rPr spc="-15" dirty="0"/>
              <a:t> </a:t>
            </a:r>
            <a:r>
              <a:rPr dirty="0"/>
              <a:t>layer</a:t>
            </a:r>
            <a:r>
              <a:rPr spc="-1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transfer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completely.</a:t>
            </a:r>
          </a:p>
          <a:p>
            <a:pPr marL="373380" marR="5080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It</a:t>
            </a:r>
            <a:r>
              <a:rPr spc="310" dirty="0"/>
              <a:t> </a:t>
            </a:r>
            <a:r>
              <a:rPr dirty="0"/>
              <a:t>receives</a:t>
            </a:r>
            <a:r>
              <a:rPr spc="310" dirty="0"/>
              <a:t> </a:t>
            </a:r>
            <a:r>
              <a:rPr dirty="0"/>
              <a:t>the</a:t>
            </a:r>
            <a:r>
              <a:rPr spc="310" dirty="0"/>
              <a:t> </a:t>
            </a:r>
            <a:r>
              <a:rPr dirty="0"/>
              <a:t>data</a:t>
            </a:r>
            <a:r>
              <a:rPr spc="310" dirty="0"/>
              <a:t> </a:t>
            </a:r>
            <a:r>
              <a:rPr dirty="0"/>
              <a:t>from</a:t>
            </a:r>
            <a:r>
              <a:rPr spc="310" dirty="0"/>
              <a:t> </a:t>
            </a:r>
            <a:r>
              <a:rPr dirty="0"/>
              <a:t>the</a:t>
            </a:r>
            <a:r>
              <a:rPr spc="310" dirty="0"/>
              <a:t> </a:t>
            </a:r>
            <a:r>
              <a:rPr dirty="0"/>
              <a:t>upper</a:t>
            </a:r>
            <a:r>
              <a:rPr spc="320" dirty="0"/>
              <a:t> </a:t>
            </a:r>
            <a:r>
              <a:rPr dirty="0"/>
              <a:t>layer</a:t>
            </a:r>
            <a:r>
              <a:rPr spc="315" dirty="0"/>
              <a:t> </a:t>
            </a:r>
            <a:r>
              <a:rPr dirty="0"/>
              <a:t>and</a:t>
            </a:r>
            <a:r>
              <a:rPr spc="315" dirty="0"/>
              <a:t> </a:t>
            </a:r>
            <a:r>
              <a:rPr dirty="0"/>
              <a:t>converts</a:t>
            </a:r>
            <a:r>
              <a:rPr spc="310" dirty="0"/>
              <a:t> </a:t>
            </a:r>
            <a:r>
              <a:rPr dirty="0"/>
              <a:t>them</a:t>
            </a:r>
            <a:r>
              <a:rPr spc="310" dirty="0"/>
              <a:t> </a:t>
            </a:r>
            <a:r>
              <a:rPr dirty="0"/>
              <a:t>into</a:t>
            </a:r>
            <a:r>
              <a:rPr spc="315" dirty="0"/>
              <a:t> </a:t>
            </a:r>
            <a:r>
              <a:rPr dirty="0"/>
              <a:t>smaller</a:t>
            </a:r>
            <a:r>
              <a:rPr spc="315" dirty="0"/>
              <a:t> </a:t>
            </a:r>
            <a:r>
              <a:rPr dirty="0"/>
              <a:t>units</a:t>
            </a:r>
            <a:r>
              <a:rPr spc="310" dirty="0"/>
              <a:t> </a:t>
            </a:r>
            <a:r>
              <a:rPr dirty="0"/>
              <a:t>known</a:t>
            </a:r>
            <a:r>
              <a:rPr spc="320" dirty="0"/>
              <a:t> </a:t>
            </a:r>
            <a:r>
              <a:rPr spc="-25" dirty="0"/>
              <a:t>as </a:t>
            </a:r>
            <a:r>
              <a:rPr spc="-10" dirty="0"/>
              <a:t>segments.</a:t>
            </a:r>
          </a:p>
          <a:p>
            <a:pPr marL="373380" marR="571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This</a:t>
            </a:r>
            <a:r>
              <a:rPr spc="215" dirty="0"/>
              <a:t> </a:t>
            </a:r>
            <a:r>
              <a:rPr dirty="0"/>
              <a:t>layer</a:t>
            </a:r>
            <a:r>
              <a:rPr spc="220" dirty="0"/>
              <a:t> </a:t>
            </a:r>
            <a:r>
              <a:rPr dirty="0"/>
              <a:t>can</a:t>
            </a:r>
            <a:r>
              <a:rPr spc="215" dirty="0"/>
              <a:t> </a:t>
            </a:r>
            <a:r>
              <a:rPr dirty="0"/>
              <a:t>be</a:t>
            </a:r>
            <a:r>
              <a:rPr spc="220" dirty="0"/>
              <a:t> </a:t>
            </a:r>
            <a:r>
              <a:rPr dirty="0"/>
              <a:t>termed</a:t>
            </a:r>
            <a:r>
              <a:rPr spc="215" dirty="0"/>
              <a:t> </a:t>
            </a:r>
            <a:r>
              <a:rPr dirty="0"/>
              <a:t>as</a:t>
            </a:r>
            <a:r>
              <a:rPr spc="220" dirty="0"/>
              <a:t> </a:t>
            </a:r>
            <a:r>
              <a:rPr dirty="0"/>
              <a:t>an</a:t>
            </a:r>
            <a:r>
              <a:rPr spc="215" dirty="0"/>
              <a:t> </a:t>
            </a:r>
            <a:r>
              <a:rPr dirty="0"/>
              <a:t>end-to-end</a:t>
            </a:r>
            <a:r>
              <a:rPr spc="220" dirty="0"/>
              <a:t> </a:t>
            </a:r>
            <a:r>
              <a:rPr dirty="0"/>
              <a:t>layer</a:t>
            </a:r>
            <a:r>
              <a:rPr spc="215" dirty="0"/>
              <a:t> </a:t>
            </a:r>
            <a:r>
              <a:rPr dirty="0"/>
              <a:t>as</a:t>
            </a:r>
            <a:r>
              <a:rPr spc="220" dirty="0"/>
              <a:t> </a:t>
            </a:r>
            <a:r>
              <a:rPr dirty="0"/>
              <a:t>it</a:t>
            </a:r>
            <a:r>
              <a:rPr spc="215" dirty="0"/>
              <a:t> </a:t>
            </a:r>
            <a:r>
              <a:rPr dirty="0"/>
              <a:t>provides</a:t>
            </a:r>
            <a:r>
              <a:rPr spc="220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spc="-10" dirty="0"/>
              <a:t>point-to-</a:t>
            </a:r>
            <a:r>
              <a:rPr dirty="0"/>
              <a:t>point</a:t>
            </a:r>
            <a:r>
              <a:rPr spc="220" dirty="0"/>
              <a:t> </a:t>
            </a:r>
            <a:r>
              <a:rPr spc="-10" dirty="0"/>
              <a:t>connection </a:t>
            </a:r>
            <a:r>
              <a:rPr dirty="0"/>
              <a:t>between</a:t>
            </a:r>
            <a:r>
              <a:rPr spc="-10" dirty="0"/>
              <a:t> </a:t>
            </a:r>
            <a:r>
              <a:rPr dirty="0"/>
              <a:t>source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destination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deliver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reliably.</a:t>
            </a:r>
          </a:p>
          <a:p>
            <a:pPr marL="30480">
              <a:lnSpc>
                <a:spcPct val="100000"/>
              </a:lnSpc>
              <a:spcBef>
                <a:spcPts val="1005"/>
              </a:spcBef>
            </a:pPr>
            <a:r>
              <a:rPr sz="1800" dirty="0"/>
              <a:t>The</a:t>
            </a:r>
            <a:r>
              <a:rPr sz="1800" spc="-40" dirty="0"/>
              <a:t> </a:t>
            </a:r>
            <a:r>
              <a:rPr sz="1800" dirty="0"/>
              <a:t>two</a:t>
            </a:r>
            <a:r>
              <a:rPr sz="1800" spc="-35" dirty="0"/>
              <a:t> </a:t>
            </a:r>
            <a:r>
              <a:rPr sz="1800" dirty="0"/>
              <a:t>protocols</a:t>
            </a:r>
            <a:r>
              <a:rPr sz="1800" spc="-35" dirty="0"/>
              <a:t> </a:t>
            </a:r>
            <a:r>
              <a:rPr sz="1800" dirty="0"/>
              <a:t>used</a:t>
            </a:r>
            <a:r>
              <a:rPr sz="1800" spc="-35" dirty="0"/>
              <a:t> </a:t>
            </a:r>
            <a:r>
              <a:rPr sz="1800" dirty="0"/>
              <a:t>in</a:t>
            </a:r>
            <a:r>
              <a:rPr sz="1800" spc="-30" dirty="0"/>
              <a:t> </a:t>
            </a:r>
            <a:r>
              <a:rPr sz="1800" dirty="0"/>
              <a:t>this</a:t>
            </a:r>
            <a:r>
              <a:rPr sz="1800" spc="-40" dirty="0"/>
              <a:t> </a:t>
            </a:r>
            <a:r>
              <a:rPr sz="1800" dirty="0"/>
              <a:t>layer</a:t>
            </a:r>
            <a:r>
              <a:rPr sz="1800" spc="-30" dirty="0"/>
              <a:t> </a:t>
            </a:r>
            <a:r>
              <a:rPr sz="1800" spc="-20" dirty="0"/>
              <a:t>are:</a:t>
            </a:r>
            <a:endParaRPr sz="1800"/>
          </a:p>
          <a:p>
            <a:pPr marL="773430" lvl="1" indent="-260985">
              <a:lnSpc>
                <a:spcPct val="100000"/>
              </a:lnSpc>
              <a:spcBef>
                <a:spcPts val="1010"/>
              </a:spcBef>
              <a:buClr>
                <a:srgbClr val="8ACED4"/>
              </a:buClr>
              <a:buSzPct val="78125"/>
              <a:buFont typeface="Arial MT"/>
              <a:buChar char="•"/>
              <a:tabLst>
                <a:tab pos="774065" algn="l"/>
              </a:tabLst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16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endParaRPr sz="1600">
              <a:latin typeface="Times New Roman"/>
              <a:cs typeface="Times New Roman"/>
            </a:endParaRPr>
          </a:p>
          <a:p>
            <a:pPr marL="773430" lvl="1" indent="-2609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125"/>
              <a:buFont typeface="Arial MT"/>
              <a:buChar char="•"/>
              <a:tabLst>
                <a:tab pos="774065" algn="l"/>
              </a:tabLst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Datagram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8907" y="248854"/>
            <a:ext cx="13449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151193"/>
            <a:ext cx="10271760" cy="428371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78460" indent="-365760" algn="just">
              <a:lnSpc>
                <a:spcPct val="100000"/>
              </a:lnSpc>
              <a:spcBef>
                <a:spcPts val="122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  <a:p>
            <a:pPr marL="773430" lvl="1" indent="-301625" algn="just">
              <a:lnSpc>
                <a:spcPct val="100000"/>
              </a:lnSpc>
              <a:spcBef>
                <a:spcPts val="1005"/>
              </a:spcBef>
              <a:buClr>
                <a:srgbClr val="8ACED4"/>
              </a:buClr>
              <a:buSzPct val="77777"/>
              <a:buFont typeface="Lucida Sans Unicode"/>
              <a:buChar char="□"/>
              <a:tabLst>
                <a:tab pos="77343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communicate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internet.</a:t>
            </a:r>
            <a:endParaRPr sz="1800">
              <a:latin typeface="Times New Roman"/>
              <a:cs typeface="Times New Roman"/>
            </a:endParaRPr>
          </a:p>
          <a:p>
            <a:pPr marL="773430" lvl="1" indent="-30162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Lucida Sans Unicode"/>
              <a:buChar char="□"/>
              <a:tabLst>
                <a:tab pos="77343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establishes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maintains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hosts.</a:t>
            </a:r>
            <a:endParaRPr sz="1800">
              <a:latin typeface="Times New Roman"/>
              <a:cs typeface="Times New Roman"/>
            </a:endParaRPr>
          </a:p>
          <a:p>
            <a:pPr marL="772795" marR="5715" lvl="1" indent="-30162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Lucida Sans Unicode"/>
              <a:buChar char="□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connection,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divides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units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18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segments.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8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travels</a:t>
            </a:r>
            <a:r>
              <a:rPr sz="18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18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routes,</a:t>
            </a:r>
            <a:r>
              <a:rPr sz="18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18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arrive</a:t>
            </a:r>
            <a:r>
              <a:rPr sz="18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orders at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destination. The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transmission control protocol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reorders the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packets in the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correct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end.</a:t>
            </a:r>
            <a:endParaRPr sz="1800">
              <a:latin typeface="Times New Roman"/>
              <a:cs typeface="Times New Roman"/>
            </a:endParaRPr>
          </a:p>
          <a:p>
            <a:pPr marL="378460" indent="-365760" algn="just">
              <a:lnSpc>
                <a:spcPct val="100000"/>
              </a:lnSpc>
              <a:spcBef>
                <a:spcPts val="994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Datagram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  <a:p>
            <a:pPr marL="773430" lvl="1" indent="-301625" algn="just">
              <a:lnSpc>
                <a:spcPct val="100000"/>
              </a:lnSpc>
              <a:spcBef>
                <a:spcPts val="1005"/>
              </a:spcBef>
              <a:buClr>
                <a:srgbClr val="8ACED4"/>
              </a:buClr>
              <a:buSzPct val="77777"/>
              <a:buFont typeface="Lucida Sans Unicode"/>
              <a:buChar char="□"/>
              <a:tabLst>
                <a:tab pos="77343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Datagram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protocol.</a:t>
            </a:r>
            <a:endParaRPr sz="1800">
              <a:latin typeface="Times New Roman"/>
              <a:cs typeface="Times New Roman"/>
            </a:endParaRPr>
          </a:p>
          <a:p>
            <a:pPr marL="772795" marR="5080" lvl="1" indent="-30162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Lucida Sans Unicode"/>
              <a:buChar char="□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unreliable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receiver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send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acknowledgment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when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received,</a:t>
            </a:r>
            <a:r>
              <a:rPr sz="18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sender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wait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8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acknowledgment.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Therefore,</a:t>
            </a:r>
            <a:r>
              <a:rPr sz="18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18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a 	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unreliable.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50252" y="772636"/>
            <a:ext cx="71469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8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Transport</a:t>
            </a:r>
            <a:r>
              <a:rPr spc="-7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912866"/>
            <a:ext cx="10276205" cy="320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addressing: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run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several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programs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reason,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another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process.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service-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responsibility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responsibility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correct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process.</a:t>
            </a:r>
            <a:endParaRPr sz="2000">
              <a:latin typeface="Times New Roman"/>
              <a:cs typeface="Times New Roman"/>
            </a:endParaRPr>
          </a:p>
          <a:p>
            <a:pPr marL="375285" marR="825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Segmentation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reassembly: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upper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layer,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divides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segments,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sequence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uniquely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identifies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segment.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arrived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destination,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reassembles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sequence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numbers.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8907" y="248854"/>
            <a:ext cx="13449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293433"/>
            <a:ext cx="10275570" cy="332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  control: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Connection-oriented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connectionless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connectionless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treats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individual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destination.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connection-oriented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delivering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packets.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connection-oriented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route.</a:t>
            </a:r>
            <a:endParaRPr sz="2000">
              <a:latin typeface="Times New Roman"/>
              <a:cs typeface="Times New Roman"/>
            </a:endParaRPr>
          </a:p>
          <a:p>
            <a:pPr marL="375285" marR="1143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 control: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transport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 responsible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 control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 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performed end-to-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end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rather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link.</a:t>
            </a:r>
            <a:endParaRPr sz="2000">
              <a:latin typeface="Times New Roman"/>
              <a:cs typeface="Times New Roman"/>
            </a:endParaRPr>
          </a:p>
          <a:p>
            <a:pPr marL="375285" marR="635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control: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end-to-end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rather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link.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sender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ensures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message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error.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0275">
              <a:lnSpc>
                <a:spcPct val="100000"/>
              </a:lnSpc>
              <a:spcBef>
                <a:spcPts val="100"/>
              </a:spcBef>
            </a:pPr>
            <a:r>
              <a:rPr dirty="0"/>
              <a:t>SESSION</a:t>
            </a:r>
            <a:r>
              <a:rPr spc="-125" dirty="0"/>
              <a:t> </a:t>
            </a:r>
            <a:r>
              <a:rPr dirty="0"/>
              <a:t>LAYER</a:t>
            </a:r>
            <a:r>
              <a:rPr spc="-12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6026" y="1481066"/>
            <a:ext cx="9852660" cy="40132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2000">
              <a:latin typeface="Times New Roman"/>
              <a:cs typeface="Times New Roman"/>
            </a:endParaRPr>
          </a:p>
          <a:p>
            <a:pPr marL="375285" marR="571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establish,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synchronizes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interaction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between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communicating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layer: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Dialog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control: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acts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dialog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controller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creates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dialog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two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processes,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say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processes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either half-duplex or full-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duplex.</a:t>
            </a:r>
            <a:endParaRPr sz="2000">
              <a:latin typeface="Times New Roman"/>
              <a:cs typeface="Times New Roman"/>
            </a:endParaRPr>
          </a:p>
          <a:p>
            <a:pPr marL="375285" marR="698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Synchronization: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adds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checkpoints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transmitting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sequence.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occurs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middle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data,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again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checkpoint.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Synchronization and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recovery.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PRESENTATION</a:t>
            </a:r>
            <a:r>
              <a:rPr spc="-100" dirty="0"/>
              <a:t> </a:t>
            </a:r>
            <a:r>
              <a:rPr dirty="0"/>
              <a:t>LAYER</a:t>
            </a:r>
            <a:r>
              <a:rPr spc="-9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8770" rIns="0" bIns="0" rtlCol="0">
            <a:spAutoFit/>
          </a:bodyPr>
          <a:lstStyle/>
          <a:p>
            <a:pPr marL="373380" marR="5080" indent="-36322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A</a:t>
            </a:r>
            <a:r>
              <a:rPr spc="145" dirty="0"/>
              <a:t> </a:t>
            </a:r>
            <a:r>
              <a:rPr dirty="0"/>
              <a:t>Presentation</a:t>
            </a:r>
            <a:r>
              <a:rPr spc="150" dirty="0"/>
              <a:t> </a:t>
            </a:r>
            <a:r>
              <a:rPr dirty="0"/>
              <a:t>layer</a:t>
            </a:r>
            <a:r>
              <a:rPr spc="150" dirty="0"/>
              <a:t> </a:t>
            </a:r>
            <a:r>
              <a:rPr dirty="0"/>
              <a:t>is</a:t>
            </a:r>
            <a:r>
              <a:rPr spc="150" dirty="0"/>
              <a:t> </a:t>
            </a:r>
            <a:r>
              <a:rPr dirty="0"/>
              <a:t>mainly</a:t>
            </a:r>
            <a:r>
              <a:rPr spc="145" dirty="0"/>
              <a:t> </a:t>
            </a:r>
            <a:r>
              <a:rPr dirty="0"/>
              <a:t>concerned</a:t>
            </a:r>
            <a:r>
              <a:rPr spc="150" dirty="0"/>
              <a:t> </a:t>
            </a:r>
            <a:r>
              <a:rPr dirty="0"/>
              <a:t>with</a:t>
            </a:r>
            <a:r>
              <a:rPr spc="150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dirty="0"/>
              <a:t>syntax</a:t>
            </a:r>
            <a:r>
              <a:rPr spc="150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dirty="0"/>
              <a:t>semantics</a:t>
            </a:r>
            <a:r>
              <a:rPr spc="150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spc="-10" dirty="0"/>
              <a:t>information </a:t>
            </a:r>
            <a:r>
              <a:rPr dirty="0"/>
              <a:t>exchanged</a:t>
            </a:r>
            <a:r>
              <a:rPr spc="-5" dirty="0"/>
              <a:t> </a:t>
            </a:r>
            <a:r>
              <a:rPr dirty="0"/>
              <a:t>between the</a:t>
            </a:r>
            <a:r>
              <a:rPr spc="-10" dirty="0"/>
              <a:t> </a:t>
            </a:r>
            <a:r>
              <a:rPr dirty="0"/>
              <a:t>two </a:t>
            </a:r>
            <a:r>
              <a:rPr spc="-10" dirty="0"/>
              <a:t>systems.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It</a:t>
            </a:r>
            <a:r>
              <a:rPr spc="-10" dirty="0"/>
              <a:t> </a:t>
            </a:r>
            <a:r>
              <a:rPr dirty="0"/>
              <a:t>acts</a:t>
            </a:r>
            <a:r>
              <a:rPr spc="-10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translator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network.</a:t>
            </a:r>
          </a:p>
          <a:p>
            <a:pPr marL="373380" marR="10795" indent="-3632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This</a:t>
            </a:r>
            <a:r>
              <a:rPr spc="305" dirty="0"/>
              <a:t> </a:t>
            </a:r>
            <a:r>
              <a:rPr dirty="0"/>
              <a:t>layer</a:t>
            </a:r>
            <a:r>
              <a:rPr spc="310" dirty="0"/>
              <a:t> </a:t>
            </a:r>
            <a:r>
              <a:rPr dirty="0"/>
              <a:t>is</a:t>
            </a:r>
            <a:r>
              <a:rPr spc="310" dirty="0"/>
              <a:t> </a:t>
            </a:r>
            <a:r>
              <a:rPr dirty="0"/>
              <a:t>a</a:t>
            </a:r>
            <a:r>
              <a:rPr spc="305" dirty="0"/>
              <a:t> </a:t>
            </a:r>
            <a:r>
              <a:rPr dirty="0"/>
              <a:t>part</a:t>
            </a:r>
            <a:r>
              <a:rPr spc="310" dirty="0"/>
              <a:t> </a:t>
            </a:r>
            <a:r>
              <a:rPr dirty="0"/>
              <a:t>of</a:t>
            </a:r>
            <a:r>
              <a:rPr spc="310" dirty="0"/>
              <a:t> </a:t>
            </a:r>
            <a:r>
              <a:rPr dirty="0"/>
              <a:t>the</a:t>
            </a:r>
            <a:r>
              <a:rPr spc="310" dirty="0"/>
              <a:t> </a:t>
            </a:r>
            <a:r>
              <a:rPr dirty="0"/>
              <a:t>operating</a:t>
            </a:r>
            <a:r>
              <a:rPr spc="305" dirty="0"/>
              <a:t> </a:t>
            </a:r>
            <a:r>
              <a:rPr dirty="0"/>
              <a:t>system</a:t>
            </a:r>
            <a:r>
              <a:rPr spc="310" dirty="0"/>
              <a:t> </a:t>
            </a:r>
            <a:r>
              <a:rPr dirty="0"/>
              <a:t>that</a:t>
            </a:r>
            <a:r>
              <a:rPr spc="310" dirty="0"/>
              <a:t> </a:t>
            </a:r>
            <a:r>
              <a:rPr dirty="0"/>
              <a:t>converts</a:t>
            </a:r>
            <a:r>
              <a:rPr spc="310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dirty="0"/>
              <a:t>data</a:t>
            </a:r>
            <a:r>
              <a:rPr spc="310" dirty="0"/>
              <a:t> </a:t>
            </a:r>
            <a:r>
              <a:rPr dirty="0"/>
              <a:t>from</a:t>
            </a:r>
            <a:r>
              <a:rPr spc="310" dirty="0"/>
              <a:t> </a:t>
            </a:r>
            <a:r>
              <a:rPr dirty="0"/>
              <a:t>one</a:t>
            </a:r>
            <a:r>
              <a:rPr spc="310" dirty="0"/>
              <a:t> </a:t>
            </a:r>
            <a:r>
              <a:rPr spc="-10" dirty="0"/>
              <a:t>presentation </a:t>
            </a:r>
            <a:r>
              <a:rPr dirty="0"/>
              <a:t>format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another</a:t>
            </a:r>
            <a:r>
              <a:rPr spc="-5" dirty="0"/>
              <a:t> </a:t>
            </a:r>
            <a:r>
              <a:rPr spc="-10" dirty="0"/>
              <a:t>format.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Presentation</a:t>
            </a:r>
            <a:r>
              <a:rPr spc="-15" dirty="0"/>
              <a:t> </a:t>
            </a:r>
            <a:r>
              <a:rPr dirty="0"/>
              <a:t>layer</a:t>
            </a:r>
            <a:r>
              <a:rPr spc="-1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also</a:t>
            </a:r>
            <a:r>
              <a:rPr spc="-10" dirty="0"/>
              <a:t> </a:t>
            </a:r>
            <a:r>
              <a:rPr dirty="0"/>
              <a:t>known</a:t>
            </a:r>
            <a:r>
              <a:rPr spc="-1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syntax</a:t>
            </a:r>
            <a:r>
              <a:rPr spc="-15" dirty="0"/>
              <a:t> </a:t>
            </a:r>
            <a:r>
              <a:rPr spc="-10" dirty="0"/>
              <a:t>layer.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80024" y="772636"/>
            <a:ext cx="74866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Presentation</a:t>
            </a:r>
            <a:r>
              <a:rPr spc="-100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912866"/>
            <a:ext cx="10277475" cy="363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Translation: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processes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exchange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character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strings,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on.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methods,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handles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interoperability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methods.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converts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sender-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dependent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format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format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changes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common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format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receiver-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dependent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end.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Encryption: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privacy.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converting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sender-transmitted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sends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resulting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375285" marR="889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Compression: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compression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compressing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data,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transmitted.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compression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very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multimedia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text,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audio, video.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50" dirty="0"/>
              <a:t> </a:t>
            </a:r>
            <a:r>
              <a:rPr dirty="0"/>
              <a:t>LAYER</a:t>
            </a:r>
            <a:r>
              <a:rPr spc="-4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8770" rIns="0" bIns="0" rtlCol="0">
            <a:spAutoFit/>
          </a:bodyPr>
          <a:lstStyle/>
          <a:p>
            <a:pPr marL="373380" marR="5080" indent="-36322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An</a:t>
            </a:r>
            <a:r>
              <a:rPr spc="450" dirty="0"/>
              <a:t> </a:t>
            </a:r>
            <a:r>
              <a:rPr dirty="0"/>
              <a:t>application</a:t>
            </a:r>
            <a:r>
              <a:rPr spc="455" dirty="0"/>
              <a:t> </a:t>
            </a:r>
            <a:r>
              <a:rPr dirty="0"/>
              <a:t>layer</a:t>
            </a:r>
            <a:r>
              <a:rPr spc="455" dirty="0"/>
              <a:t> </a:t>
            </a:r>
            <a:r>
              <a:rPr dirty="0"/>
              <a:t>serves</a:t>
            </a:r>
            <a:r>
              <a:rPr spc="455" dirty="0"/>
              <a:t> </a:t>
            </a:r>
            <a:r>
              <a:rPr dirty="0"/>
              <a:t>as</a:t>
            </a:r>
            <a:r>
              <a:rPr spc="455" dirty="0"/>
              <a:t> </a:t>
            </a:r>
            <a:r>
              <a:rPr dirty="0"/>
              <a:t>a</a:t>
            </a:r>
            <a:r>
              <a:rPr spc="455" dirty="0"/>
              <a:t> </a:t>
            </a:r>
            <a:r>
              <a:rPr dirty="0"/>
              <a:t>window</a:t>
            </a:r>
            <a:r>
              <a:rPr spc="455" dirty="0"/>
              <a:t> </a:t>
            </a:r>
            <a:r>
              <a:rPr dirty="0"/>
              <a:t>for</a:t>
            </a:r>
            <a:r>
              <a:rPr spc="450" dirty="0"/>
              <a:t> </a:t>
            </a:r>
            <a:r>
              <a:rPr dirty="0"/>
              <a:t>users</a:t>
            </a:r>
            <a:r>
              <a:rPr spc="455" dirty="0"/>
              <a:t> </a:t>
            </a:r>
            <a:r>
              <a:rPr dirty="0"/>
              <a:t>and</a:t>
            </a:r>
            <a:r>
              <a:rPr spc="455" dirty="0"/>
              <a:t> </a:t>
            </a:r>
            <a:r>
              <a:rPr dirty="0"/>
              <a:t>application</a:t>
            </a:r>
            <a:r>
              <a:rPr spc="455" dirty="0"/>
              <a:t> </a:t>
            </a:r>
            <a:r>
              <a:rPr dirty="0"/>
              <a:t>processes</a:t>
            </a:r>
            <a:r>
              <a:rPr spc="455" dirty="0"/>
              <a:t> </a:t>
            </a:r>
            <a:r>
              <a:rPr dirty="0"/>
              <a:t>to</a:t>
            </a:r>
            <a:r>
              <a:rPr spc="455" dirty="0"/>
              <a:t> </a:t>
            </a:r>
            <a:r>
              <a:rPr spc="-10" dirty="0"/>
              <a:t>access </a:t>
            </a:r>
            <a:r>
              <a:rPr dirty="0"/>
              <a:t>network </a:t>
            </a:r>
            <a:r>
              <a:rPr spc="-10" dirty="0"/>
              <a:t>service.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It</a:t>
            </a:r>
            <a:r>
              <a:rPr spc="-20" dirty="0"/>
              <a:t> </a:t>
            </a:r>
            <a:r>
              <a:rPr dirty="0"/>
              <a:t>handles</a:t>
            </a:r>
            <a:r>
              <a:rPr spc="-15" dirty="0"/>
              <a:t> </a:t>
            </a:r>
            <a:r>
              <a:rPr dirty="0"/>
              <a:t>issues</a:t>
            </a:r>
            <a:r>
              <a:rPr spc="-15" dirty="0"/>
              <a:t> </a:t>
            </a:r>
            <a:r>
              <a:rPr dirty="0"/>
              <a:t>such</a:t>
            </a:r>
            <a:r>
              <a:rPr spc="-10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network</a:t>
            </a:r>
            <a:r>
              <a:rPr spc="-10" dirty="0"/>
              <a:t> </a:t>
            </a:r>
            <a:r>
              <a:rPr dirty="0"/>
              <a:t>transparency,</a:t>
            </a:r>
            <a:r>
              <a:rPr spc="-10" dirty="0"/>
              <a:t> </a:t>
            </a:r>
            <a:r>
              <a:rPr dirty="0"/>
              <a:t>resource</a:t>
            </a:r>
            <a:r>
              <a:rPr spc="-15" dirty="0"/>
              <a:t> </a:t>
            </a:r>
            <a:r>
              <a:rPr dirty="0"/>
              <a:t>allocation,</a:t>
            </a:r>
            <a:r>
              <a:rPr spc="-10" dirty="0"/>
              <a:t> </a:t>
            </a:r>
            <a:r>
              <a:rPr spc="-20" dirty="0"/>
              <a:t>etc.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An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5" dirty="0"/>
              <a:t> </a:t>
            </a:r>
            <a:r>
              <a:rPr dirty="0"/>
              <a:t>layer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not</a:t>
            </a:r>
            <a:r>
              <a:rPr spc="-10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application,</a:t>
            </a:r>
            <a:r>
              <a:rPr spc="-5" dirty="0"/>
              <a:t> </a:t>
            </a:r>
            <a:r>
              <a:rPr dirty="0"/>
              <a:t>but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performs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10" dirty="0"/>
              <a:t> </a:t>
            </a:r>
            <a:r>
              <a:rPr dirty="0"/>
              <a:t>layer</a:t>
            </a:r>
            <a:r>
              <a:rPr spc="-5" dirty="0"/>
              <a:t> </a:t>
            </a:r>
            <a:r>
              <a:rPr spc="-10" dirty="0"/>
              <a:t>functions.</a:t>
            </a:r>
          </a:p>
          <a:p>
            <a:pPr marL="373380" indent="-36258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4015" algn="l"/>
              </a:tabLst>
            </a:pPr>
            <a:r>
              <a:rPr dirty="0"/>
              <a:t>This</a:t>
            </a:r>
            <a:r>
              <a:rPr spc="-30" dirty="0"/>
              <a:t> </a:t>
            </a:r>
            <a:r>
              <a:rPr dirty="0"/>
              <a:t>layer</a:t>
            </a:r>
            <a:r>
              <a:rPr spc="-15" dirty="0"/>
              <a:t> </a:t>
            </a:r>
            <a:r>
              <a:rPr dirty="0"/>
              <a:t>provides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dirty="0"/>
              <a:t>services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end-</a:t>
            </a:r>
            <a:r>
              <a:rPr spc="-10" dirty="0"/>
              <a:t>users.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88054" y="772636"/>
            <a:ext cx="72707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13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10" dirty="0"/>
              <a:t>Application</a:t>
            </a:r>
            <a:r>
              <a:rPr spc="-13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8596" y="1912866"/>
            <a:ext cx="10276205" cy="210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8255" indent="-36322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transfer,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access,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(FTAM):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files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remote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computer,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retrieve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files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manage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files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remote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computer.</a:t>
            </a:r>
            <a:endParaRPr sz="2000">
              <a:latin typeface="Times New Roman"/>
              <a:cs typeface="Times New Roman"/>
            </a:endParaRP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services: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facility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storage.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Directory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services: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distributed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sources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2675">
              <a:lnSpc>
                <a:spcPct val="100000"/>
              </a:lnSpc>
              <a:spcBef>
                <a:spcPts val="100"/>
              </a:spcBef>
            </a:pPr>
            <a:r>
              <a:rPr dirty="0"/>
              <a:t>TCP/IP</a:t>
            </a:r>
            <a:r>
              <a:rPr spc="-175" dirty="0"/>
              <a:t>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011" y="1313917"/>
            <a:ext cx="4321810" cy="1498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8460" indent="-365760" algn="just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Developed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model.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TCP/IP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designed</a:t>
            </a:r>
            <a:r>
              <a:rPr sz="2000" spc="3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developed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Defense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(DoD)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1960s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222" y="2787117"/>
            <a:ext cx="39560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1260" algn="l"/>
                <a:tab pos="1755139" algn="l"/>
                <a:tab pos="2687320" algn="l"/>
                <a:tab pos="3491229" algn="l"/>
                <a:tab pos="383032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protocols.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TCP/IP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7011" y="2964917"/>
            <a:ext cx="4318000" cy="1930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5285" algn="just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concise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version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hierarchical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made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interactive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modules,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them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functionality.</a:t>
            </a:r>
            <a:endParaRPr sz="2000">
              <a:latin typeface="Times New Roman"/>
              <a:cs typeface="Times New Roman"/>
            </a:endParaRP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four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222" y="4869916"/>
            <a:ext cx="2443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829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standards,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222" y="5174716"/>
            <a:ext cx="2566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630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internetworking,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1092" y="4869916"/>
            <a:ext cx="9772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" marR="5080" indent="-4889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interface, transport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222" y="5479517"/>
            <a:ext cx="395477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r>
              <a:rPr sz="200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correspond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first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four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6632" y="1179871"/>
            <a:ext cx="7148052" cy="522541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921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NETWORK</a:t>
            </a:r>
            <a:r>
              <a:rPr sz="4000" spc="-35" dirty="0"/>
              <a:t> </a:t>
            </a:r>
            <a:r>
              <a:rPr sz="4000" dirty="0"/>
              <a:t>ACCESS</a:t>
            </a:r>
            <a:r>
              <a:rPr sz="4000" spc="-30" dirty="0"/>
              <a:t> </a:t>
            </a:r>
            <a:r>
              <a:rPr sz="4000" spc="-10" dirty="0"/>
              <a:t>LAYER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06443" y="1484364"/>
            <a:ext cx="9278620" cy="302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requiring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communications.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generating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requesting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connections.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acts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behalf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sender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behalf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receiver.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article,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talking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behalf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receiver.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buClr>
                <a:srgbClr val="8ACED4"/>
              </a:buClr>
              <a:buFont typeface="Lucida Sans Unicode"/>
              <a:buChar char="□"/>
            </a:pPr>
            <a:endParaRPr sz="2000">
              <a:latin typeface="Times New Roman"/>
              <a:cs typeface="Times New Roman"/>
            </a:endParaRPr>
          </a:p>
          <a:p>
            <a:pPr marL="375285" marR="6985" indent="-363220" algn="just">
              <a:lnSpc>
                <a:spcPct val="100000"/>
              </a:lnSpc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packet’s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type,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case,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TCP/IP,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layer.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prevention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“framing”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provided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layer. Point-to-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(PPP)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framing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Ethernet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IEEE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802.2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framing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two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data-link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56567" y="260720"/>
            <a:ext cx="4580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INTERNET</a:t>
            </a:r>
            <a:r>
              <a:rPr sz="4000" spc="-50" dirty="0"/>
              <a:t> </a:t>
            </a:r>
            <a:r>
              <a:rPr sz="4000" spc="-20" dirty="0"/>
              <a:t>LAYER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8825" y="1185279"/>
            <a:ext cx="10985500" cy="510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635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 layer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parallels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functions of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OSI’s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layer.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protocols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logical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residing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follows: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IP: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 and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delivering packets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 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looking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headers.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versions: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IPv6.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websites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currently.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IPv6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growing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IPv4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limited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users.</a:t>
            </a:r>
            <a:endParaRPr sz="2000">
              <a:latin typeface="Times New Roman"/>
              <a:cs typeface="Times New Roman"/>
            </a:endParaRPr>
          </a:p>
          <a:p>
            <a:pPr marL="375285" marR="762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ICMP: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ICMP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Protocol.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encapsulated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datagrams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  <a:p>
            <a:pPr marL="375285" marR="762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ARP: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Resolution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Protocol.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host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32384" marR="762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(IP)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suite,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Internet.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assigning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6854" y="260720"/>
            <a:ext cx="5059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TRANSPORT</a:t>
            </a:r>
            <a:r>
              <a:rPr sz="4000" spc="-55" dirty="0"/>
              <a:t> </a:t>
            </a:r>
            <a:r>
              <a:rPr sz="4000" spc="-10" dirty="0"/>
              <a:t>LAYER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47449" y="1185279"/>
            <a:ext cx="10139680" cy="424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8255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TCP/IP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exchange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receipt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acknowledgments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retransmit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missing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arrive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error.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End-to-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end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referred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such.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(TCP)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Datagram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(UDP).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TCP: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interact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though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were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circuit.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transmits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resembles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character-by-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character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rather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packets.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starting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establishes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connection,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whole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byte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order,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ending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closes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this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UDP: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datagram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delivery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provided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UDP,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protocol.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sending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verified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UDP.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little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amounts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UDP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rather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eliminates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processes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establishing and validating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05290" y="260720"/>
            <a:ext cx="54857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APPLICATION</a:t>
            </a:r>
            <a:r>
              <a:rPr sz="4000" spc="-65" dirty="0"/>
              <a:t> </a:t>
            </a:r>
            <a:r>
              <a:rPr sz="4000" spc="-10" dirty="0"/>
              <a:t>LAYER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8826" y="1185279"/>
            <a:ext cx="10899140" cy="497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762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analogous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transport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OSI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responsible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end-to-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end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error-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delivery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data.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shields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upper-layer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applications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complexities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three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present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are: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HTTP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HTTPS: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HTTP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Hypertext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protocol.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Wide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manage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browsers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servers.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HTTPS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HTTP-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Secure.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combination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HTTP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SSL(Secure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Socket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Layer).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cases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browser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forms,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in, authenticate,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carry out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bank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2000">
              <a:latin typeface="Times New Roman"/>
              <a:cs typeface="Times New Roman"/>
            </a:endParaRPr>
          </a:p>
          <a:p>
            <a:pPr marL="375285" marR="889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SSH: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SSH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Secure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Shell.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terminal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emulations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software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similar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Telnet.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reason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SSH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preferred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encrypted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connection.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sets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secure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TCP/IP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connection.</a:t>
            </a:r>
            <a:endParaRPr sz="2000">
              <a:latin typeface="Times New Roman"/>
              <a:cs typeface="Times New Roman"/>
            </a:endParaRPr>
          </a:p>
          <a:p>
            <a:pPr marL="375285" marR="698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NTP: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NTP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Protocol.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synchronize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clocks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source.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very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useful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situations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Assume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following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situation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presence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NTP.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Suppose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carry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transaction,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reads 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 at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2:30 PM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while 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server records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 at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2:28 PM.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server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 crash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very badly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it’s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sync.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5878" y="6096000"/>
            <a:ext cx="993733" cy="761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71949" y="0"/>
            <a:ext cx="10690225" cy="6602730"/>
            <a:chOff x="471949" y="0"/>
            <a:chExt cx="10690225" cy="6602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9712" y="0"/>
              <a:ext cx="762000" cy="1206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12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1142999"/>
                  </a:lnTo>
                  <a:close/>
                </a:path>
              </a:pathLst>
            </a:custGeom>
            <a:solidFill>
              <a:srgbClr val="B01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949" y="1169988"/>
              <a:ext cx="10687664" cy="5432371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96797" y="260720"/>
            <a:ext cx="94265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Difference</a:t>
            </a:r>
            <a:r>
              <a:rPr sz="4000" spc="-120" dirty="0"/>
              <a:t> </a:t>
            </a:r>
            <a:r>
              <a:rPr sz="4000" dirty="0"/>
              <a:t>between</a:t>
            </a:r>
            <a:r>
              <a:rPr sz="4000" spc="-120" dirty="0"/>
              <a:t> </a:t>
            </a:r>
            <a:r>
              <a:rPr sz="4000" dirty="0"/>
              <a:t>TCP/IP</a:t>
            </a:r>
            <a:r>
              <a:rPr sz="4000" spc="-120" dirty="0"/>
              <a:t> </a:t>
            </a:r>
            <a:r>
              <a:rPr sz="4000" dirty="0"/>
              <a:t>and</a:t>
            </a:r>
            <a:r>
              <a:rPr sz="4000" spc="-120" dirty="0"/>
              <a:t> </a:t>
            </a:r>
            <a:r>
              <a:rPr sz="4000" dirty="0"/>
              <a:t>OSI</a:t>
            </a:r>
            <a:r>
              <a:rPr sz="4000" spc="-120" dirty="0"/>
              <a:t> </a:t>
            </a:r>
            <a:r>
              <a:rPr sz="4000" spc="-10" dirty="0"/>
              <a:t>Model</a:t>
            </a:r>
            <a:endParaRPr sz="4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8175">
              <a:lnSpc>
                <a:spcPct val="100000"/>
              </a:lnSpc>
              <a:spcBef>
                <a:spcPts val="100"/>
              </a:spcBef>
            </a:pPr>
            <a:r>
              <a:rPr dirty="0"/>
              <a:t>GUIDED</a:t>
            </a:r>
            <a:r>
              <a:rPr spc="-30" dirty="0"/>
              <a:t> </a:t>
            </a:r>
            <a:r>
              <a:rPr spc="-20" dirty="0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596" y="1677461"/>
            <a:ext cx="40525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104900" algn="l"/>
                <a:tab pos="2127250" algn="l"/>
                <a:tab pos="2543810" algn="l"/>
                <a:tab pos="2974340" algn="l"/>
                <a:tab pos="3827779" algn="l"/>
              </a:tabLst>
            </a:pP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referred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Wired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0596" y="1855261"/>
            <a:ext cx="4050029" cy="889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Bounded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media.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Defined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medium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4259" y="2718861"/>
            <a:ext cx="36582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6794" algn="l"/>
                <a:tab pos="1871980" algn="l"/>
                <a:tab pos="2406015" algn="l"/>
                <a:tab pos="333502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596" y="2896662"/>
            <a:ext cx="4053204" cy="24892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100"/>
              </a:spcBef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transmitted.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Features:</a:t>
            </a:r>
            <a:endParaRPr sz="2000">
              <a:latin typeface="Times New Roman"/>
              <a:cs typeface="Times New Roman"/>
            </a:endParaRPr>
          </a:p>
          <a:p>
            <a:pPr marL="405765" indent="-31305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▪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endParaRPr sz="2000">
              <a:latin typeface="Times New Roman"/>
              <a:cs typeface="Times New Roman"/>
            </a:endParaRPr>
          </a:p>
          <a:p>
            <a:pPr marL="405765" indent="-31305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▪"/>
              <a:tabLst>
                <a:tab pos="40576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Secure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1369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▪"/>
              <a:tabLst>
                <a:tab pos="405765" algn="l"/>
                <a:tab pos="1147445" algn="l"/>
                <a:tab pos="1662430" algn="l"/>
                <a:tab pos="3334385" algn="l"/>
              </a:tabLst>
            </a:pP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comparatively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shorter distances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9240" y="2314072"/>
            <a:ext cx="6451223" cy="310895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6636" y="365231"/>
            <a:ext cx="6201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TWISTED</a:t>
            </a:r>
            <a:r>
              <a:rPr spc="-135" dirty="0"/>
              <a:t> </a:t>
            </a:r>
            <a:r>
              <a:rPr dirty="0"/>
              <a:t>PAIR</a:t>
            </a:r>
            <a:r>
              <a:rPr spc="-130" dirty="0"/>
              <a:t> </a:t>
            </a:r>
            <a:r>
              <a:rPr spc="-10" dirty="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8948" y="1650953"/>
            <a:ext cx="9600565" cy="2057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guided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media.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Invented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Alexander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Graham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Bell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conductors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generally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made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copper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conductor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has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insulation.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conductors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twisted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together,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thus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giving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name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twisted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pair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cables.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361" y="4597861"/>
            <a:ext cx="6734119" cy="126555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1944" y="455765"/>
            <a:ext cx="9602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UNSHIELDED</a:t>
            </a:r>
            <a:r>
              <a:rPr spc="-170" dirty="0"/>
              <a:t> </a:t>
            </a:r>
            <a:r>
              <a:rPr dirty="0"/>
              <a:t>TWISTED</a:t>
            </a:r>
            <a:r>
              <a:rPr spc="-165" dirty="0"/>
              <a:t> </a:t>
            </a:r>
            <a:r>
              <a:rPr dirty="0"/>
              <a:t>PAIR</a:t>
            </a:r>
            <a:r>
              <a:rPr spc="-170" dirty="0"/>
              <a:t> </a:t>
            </a:r>
            <a:r>
              <a:rPr spc="-10" dirty="0"/>
              <a:t>(UTP)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2787" y="1126326"/>
            <a:ext cx="6103620" cy="138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rgbClr val="EBEBEB"/>
                </a:solidFill>
                <a:latin typeface="Times New Roman"/>
                <a:cs typeface="Times New Roman"/>
              </a:rPr>
              <a:t>CABLE</a:t>
            </a:r>
            <a:endParaRPr sz="4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305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748665" algn="l"/>
                <a:tab pos="1303020" algn="l"/>
                <a:tab pos="1674495" algn="l"/>
                <a:tab pos="2750820" algn="l"/>
                <a:tab pos="3601720" algn="l"/>
                <a:tab pos="4311015" algn="l"/>
              </a:tabLst>
            </a:pP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pair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insulated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copper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wires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twisted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6450" y="2489256"/>
            <a:ext cx="46628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5690" algn="l"/>
                <a:tab pos="1504315" algn="l"/>
                <a:tab pos="2411095" algn="l"/>
                <a:tab pos="3176905" algn="l"/>
                <a:tab pos="439547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together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787" y="2667056"/>
            <a:ext cx="5052695" cy="2184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external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Widely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 in 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telephone, computers,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expensive.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Installation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UTP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easier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Limited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bandwidth for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transmitting 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3781" y="2370922"/>
            <a:ext cx="4286249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48217" y="455765"/>
            <a:ext cx="870267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8360" marR="5080" indent="-3376295">
              <a:lnSpc>
                <a:spcPct val="100000"/>
              </a:lnSpc>
              <a:spcBef>
                <a:spcPts val="100"/>
              </a:spcBef>
            </a:pPr>
            <a:r>
              <a:rPr dirty="0"/>
              <a:t>SHIELDED</a:t>
            </a:r>
            <a:r>
              <a:rPr spc="-180" dirty="0"/>
              <a:t> </a:t>
            </a:r>
            <a:r>
              <a:rPr dirty="0"/>
              <a:t>TWISTED</a:t>
            </a:r>
            <a:r>
              <a:rPr spc="-175" dirty="0"/>
              <a:t> </a:t>
            </a:r>
            <a:r>
              <a:rPr dirty="0"/>
              <a:t>PAIR</a:t>
            </a:r>
            <a:r>
              <a:rPr spc="-175" dirty="0"/>
              <a:t> </a:t>
            </a:r>
            <a:r>
              <a:rPr spc="-10" dirty="0"/>
              <a:t>(STP) 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6808" y="2320257"/>
            <a:ext cx="5481955" cy="297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238125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extra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wrapping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foil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copper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braid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jacket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protect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Usually used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underground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Costly than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UTP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Supports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rates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across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long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endParaRPr sz="2000">
              <a:latin typeface="Times New Roman"/>
              <a:cs typeface="Times New Roman"/>
            </a:endParaRPr>
          </a:p>
          <a:p>
            <a:pPr marL="405765" marR="155575" indent="-39370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Installation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shielded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difficult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UTP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(Unshielded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Twisted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Pair)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cable.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4786" y="2665900"/>
            <a:ext cx="4092166" cy="275272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8960">
              <a:lnSpc>
                <a:spcPct val="100000"/>
              </a:lnSpc>
              <a:spcBef>
                <a:spcPts val="100"/>
              </a:spcBef>
            </a:pPr>
            <a:r>
              <a:rPr dirty="0"/>
              <a:t>COAXIAL</a:t>
            </a:r>
            <a:r>
              <a:rPr spc="-110" dirty="0"/>
              <a:t> </a:t>
            </a:r>
            <a:r>
              <a:rPr dirty="0"/>
              <a:t>CABLE</a:t>
            </a:r>
            <a:r>
              <a:rPr spc="-105" dirty="0"/>
              <a:t> </a:t>
            </a:r>
            <a:r>
              <a:rPr spc="-10" dirty="0"/>
              <a:t>(COAX)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360" y="2084868"/>
            <a:ext cx="4144010" cy="271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electrical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copper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conductor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insulator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shielding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around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braided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metal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mesh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prevents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cross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talk</a:t>
            </a:r>
            <a:endParaRPr sz="2000">
              <a:latin typeface="Times New Roman"/>
              <a:cs typeface="Times New Roman"/>
            </a:endParaRPr>
          </a:p>
          <a:p>
            <a:pPr marL="405765" marR="762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copper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specially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built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shield.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TV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companies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3023" y="4777267"/>
            <a:ext cx="37458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59180" algn="l"/>
                <a:tab pos="1097280" algn="l"/>
                <a:tab pos="1859280" algn="l"/>
                <a:tab pos="294386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satellite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 facilities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0622" y="5082067"/>
            <a:ext cx="23323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6330" algn="l"/>
                <a:tab pos="1951989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homes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3023" y="5386867"/>
            <a:ext cx="1161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businesses.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4998" y="2548730"/>
            <a:ext cx="5214795" cy="24216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6655">
              <a:lnSpc>
                <a:spcPct val="100000"/>
              </a:lnSpc>
              <a:spcBef>
                <a:spcPts val="100"/>
              </a:spcBef>
            </a:pPr>
            <a:r>
              <a:rPr dirty="0"/>
              <a:t>FIBER</a:t>
            </a:r>
            <a:r>
              <a:rPr spc="-165" dirty="0"/>
              <a:t> </a:t>
            </a:r>
            <a:r>
              <a:rPr dirty="0"/>
              <a:t>OPTIC</a:t>
            </a:r>
            <a:r>
              <a:rPr spc="-160" dirty="0"/>
              <a:t> </a:t>
            </a:r>
            <a:r>
              <a:rPr spc="-10" dirty="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970" y="2229725"/>
            <a:ext cx="6198870" cy="358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8255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Consists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center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glass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surrounded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several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protective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materials.</a:t>
            </a:r>
            <a:endParaRPr sz="2000">
              <a:latin typeface="Times New Roman"/>
              <a:cs typeface="Times New Roman"/>
            </a:endParaRPr>
          </a:p>
          <a:p>
            <a:pPr marL="405765" marR="762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light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rather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electronic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eliminating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electrical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capability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carry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vastly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greater speeds</a:t>
            </a:r>
            <a:endParaRPr sz="2000">
              <a:latin typeface="Times New Roman"/>
              <a:cs typeface="Times New Roman"/>
            </a:endParaRPr>
          </a:p>
          <a:p>
            <a:pPr marL="405765" marR="635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Broadens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possibilities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video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conferencing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interactive services.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bandwidth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speeds.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6270" y="2509035"/>
            <a:ext cx="4357343" cy="265143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6505">
              <a:lnSpc>
                <a:spcPct val="100000"/>
              </a:lnSpc>
              <a:spcBef>
                <a:spcPts val="100"/>
              </a:spcBef>
            </a:pPr>
            <a:r>
              <a:rPr dirty="0"/>
              <a:t>UNGUIDED</a:t>
            </a:r>
            <a:r>
              <a:rPr spc="-50" dirty="0"/>
              <a:t> </a:t>
            </a:r>
            <a:r>
              <a:rPr spc="-10" dirty="0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2489" y="1868488"/>
            <a:ext cx="3777615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85725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371600" algn="l"/>
                <a:tab pos="2548255" algn="l"/>
              </a:tabLst>
            </a:pP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wireless transmission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  <a:tab pos="1628775" algn="l"/>
                <a:tab pos="2145665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Transmits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electromagnetic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6152" y="2909888"/>
            <a:ext cx="33858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1235" algn="l"/>
                <a:tab pos="2110740" algn="l"/>
                <a:tab pos="3006090" algn="l"/>
              </a:tabLst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waves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489" y="3087688"/>
            <a:ext cx="3780154" cy="1498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5765" algn="just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medium.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Air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media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which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electromagnetic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easily.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8170" y="1853248"/>
            <a:ext cx="6701041" cy="41555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4055">
              <a:lnSpc>
                <a:spcPct val="100000"/>
              </a:lnSpc>
              <a:spcBef>
                <a:spcPts val="100"/>
              </a:spcBef>
            </a:pPr>
            <a:r>
              <a:rPr dirty="0"/>
              <a:t>RADIO</a:t>
            </a:r>
            <a:r>
              <a:rPr spc="-25" dirty="0"/>
              <a:t> </a:t>
            </a:r>
            <a:r>
              <a:rPr spc="-10" dirty="0"/>
              <a:t>WAVES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372" y="1595980"/>
            <a:ext cx="4817110" cy="462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715" indent="-393700" algn="just">
              <a:lnSpc>
                <a:spcPct val="100000"/>
              </a:lnSpc>
              <a:spcBef>
                <a:spcPts val="1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electromagnetic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waves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directions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free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space.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Omnidirectional,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propagated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directions.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3Khz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1Khz.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sending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not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aligned,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wave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sending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receiving antenna.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Useful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multicasting.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Example: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FM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radio,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Television,</a:t>
            </a:r>
            <a:r>
              <a:rPr sz="2000" spc="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cordless phones.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2737" y="2237701"/>
            <a:ext cx="6382691" cy="315434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19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MICROWAVES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313" y="1774988"/>
            <a:ext cx="4966970" cy="3403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8940" indent="-396240" algn="just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line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sight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endParaRPr sz="2000">
              <a:latin typeface="Times New Roman"/>
              <a:cs typeface="Times New Roman"/>
            </a:endParaRPr>
          </a:p>
          <a:p>
            <a:pPr marL="405765" marR="508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sending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properly aligned with each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 marL="405765" marR="889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covered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directly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proportional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height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antenna.</a:t>
            </a:r>
            <a:endParaRPr sz="2000">
              <a:latin typeface="Times New Roman"/>
              <a:cs typeface="Times New Roman"/>
            </a:endParaRPr>
          </a:p>
          <a:p>
            <a:pPr marL="408940" indent="-39624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89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range: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1GHZ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300GHZ.</a:t>
            </a:r>
            <a:endParaRPr sz="2000">
              <a:latin typeface="Times New Roman"/>
              <a:cs typeface="Times New Roman"/>
            </a:endParaRPr>
          </a:p>
          <a:p>
            <a:pPr marL="405765" marR="635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Majorly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phone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 and television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distribution.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1212" y="2353901"/>
            <a:ext cx="5649362" cy="28886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782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INFRAED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5574" y="2075815"/>
            <a:ext cx="6217285" cy="340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over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short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ranges.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penetrate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obstacles.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Prevents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300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GHz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400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THz.</a:t>
            </a:r>
            <a:endParaRPr sz="20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►"/>
              <a:tabLst>
                <a:tab pos="4057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TV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remotes,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mouse,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keyboard,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printer,</a:t>
            </a:r>
            <a:endParaRPr sz="2000">
              <a:latin typeface="Times New Roman"/>
              <a:cs typeface="Times New Roman"/>
            </a:endParaRPr>
          </a:p>
          <a:p>
            <a:pPr marL="405765" marR="6350" indent="-39370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►"/>
              <a:tabLst>
                <a:tab pos="405765" algn="l"/>
                <a:tab pos="40830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phones,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TV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remote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operation,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phone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resides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closed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6249" y="1948728"/>
            <a:ext cx="3250704" cy="408993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8554" y="6138671"/>
            <a:ext cx="908382" cy="71932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409236" y="0"/>
            <a:ext cx="742950" cy="1197610"/>
            <a:chOff x="10409236" y="0"/>
            <a:chExt cx="742950" cy="11976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9236" y="0"/>
              <a:ext cx="742950" cy="119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11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1142999"/>
                  </a:lnTo>
                  <a:close/>
                </a:path>
              </a:pathLst>
            </a:custGeom>
            <a:solidFill>
              <a:srgbClr val="B01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882073" y="2019898"/>
            <a:ext cx="6192520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FFFFFF"/>
                </a:solidFill>
              </a:rPr>
              <a:t>THANKS</a:t>
            </a:r>
            <a:endParaRPr sz="1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4884</Words>
  <Application>Microsoft Office PowerPoint</Application>
  <PresentationFormat>Widescreen</PresentationFormat>
  <Paragraphs>360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 Black</vt:lpstr>
      <vt:lpstr>Arial MT</vt:lpstr>
      <vt:lpstr>Lucida Sans Unicode</vt:lpstr>
      <vt:lpstr>Times New Roman</vt:lpstr>
      <vt:lpstr>Office Theme</vt:lpstr>
      <vt:lpstr>COMPUTER NETWORK</vt:lpstr>
      <vt:lpstr>UNIT CONTENTS</vt:lpstr>
      <vt:lpstr>COURSE OUTCOME</vt:lpstr>
      <vt:lpstr>NETWORK TYPES</vt:lpstr>
      <vt:lpstr>LAN (LOCAL AREA NETWORK)</vt:lpstr>
      <vt:lpstr>MAN (METROPOLITAN AREA NETWORK)</vt:lpstr>
      <vt:lpstr>WAN (WIDE AREA NETWORK)</vt:lpstr>
      <vt:lpstr>PAN (PERSONAL AREA NETWORK)</vt:lpstr>
      <vt:lpstr>TYPES OF PERSONAL AREA NETWORK</vt:lpstr>
      <vt:lpstr>NETWORK TOPOLOGY</vt:lpstr>
      <vt:lpstr>TYPES OF PHYSICAL TOPOLOGY</vt:lpstr>
      <vt:lpstr>BUS TOPOLOGY</vt:lpstr>
      <vt:lpstr>STAR TOPOLOGY</vt:lpstr>
      <vt:lpstr>RING TOPOLOGY</vt:lpstr>
      <vt:lpstr>MESH TOPOLOGY</vt:lpstr>
      <vt:lpstr>HYBRID TOPOLOGY</vt:lpstr>
      <vt:lpstr>SWITCHING</vt:lpstr>
      <vt:lpstr>TYPES OF SWITCHING</vt:lpstr>
      <vt:lpstr>CIRCUIT SWITCHING</vt:lpstr>
      <vt:lpstr>PHASES OF CIRCUIT SWITCHING</vt:lpstr>
      <vt:lpstr>MESSAGE SWITCHING</vt:lpstr>
      <vt:lpstr>PACKET SWITCHING</vt:lpstr>
      <vt:lpstr>DATAGRAM PACKET SWITCHING</vt:lpstr>
      <vt:lpstr>VIRTUAL CIRCUIT SWITCHING</vt:lpstr>
      <vt:lpstr>OSI LAYERED ARCHITECTURE</vt:lpstr>
      <vt:lpstr>PHYSICAL LAYER OVERVIEW</vt:lpstr>
      <vt:lpstr>Functions of a Physical layer</vt:lpstr>
      <vt:lpstr>DATALINK LAYER OVERVIEW</vt:lpstr>
      <vt:lpstr>Functions of the Data-link layer</vt:lpstr>
      <vt:lpstr>NETWORK LAYER OVERVIEW</vt:lpstr>
      <vt:lpstr>Functions of Network Layer</vt:lpstr>
      <vt:lpstr>TRANSPORT LAYER OVERVIEW</vt:lpstr>
      <vt:lpstr>Cont.</vt:lpstr>
      <vt:lpstr>Functions of Transport Layer</vt:lpstr>
      <vt:lpstr>Cont.</vt:lpstr>
      <vt:lpstr>SESSION LAYER OVERVIEW</vt:lpstr>
      <vt:lpstr>PRESENTATION LAYER OVERVIEW</vt:lpstr>
      <vt:lpstr>Functions of Presentation layer</vt:lpstr>
      <vt:lpstr>APPLICATION LAYER OVERVIEW</vt:lpstr>
      <vt:lpstr>Functions of Application layer</vt:lpstr>
      <vt:lpstr>TCP/IP Model</vt:lpstr>
      <vt:lpstr>NETWORK ACCESS LAYER</vt:lpstr>
      <vt:lpstr>INTERNET LAYER</vt:lpstr>
      <vt:lpstr>TRANSPORT LAYER</vt:lpstr>
      <vt:lpstr>APPLICATION LAYER</vt:lpstr>
      <vt:lpstr>Difference between TCP/IP and OSI Model</vt:lpstr>
      <vt:lpstr>GUIDED MEDIA</vt:lpstr>
      <vt:lpstr>TWISTED PAIR CABLE</vt:lpstr>
      <vt:lpstr>UNSHIELDED TWISTED PAIR (UTP)</vt:lpstr>
      <vt:lpstr>SHIELDED TWISTED PAIR (STP) CABLE</vt:lpstr>
      <vt:lpstr>COAXIAL CABLE (COAX)</vt:lpstr>
      <vt:lpstr>FIBER OPTIC CABLE</vt:lpstr>
      <vt:lpstr>UNGUIDED MEDIA</vt:lpstr>
      <vt:lpstr>RADIO WAVES</vt:lpstr>
      <vt:lpstr>MICROWAVES</vt:lpstr>
      <vt:lpstr>INFRAED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anand</cp:lastModifiedBy>
  <cp:revision>1</cp:revision>
  <dcterms:created xsi:type="dcterms:W3CDTF">2026-08-20T04:25:33Z</dcterms:created>
  <dcterms:modified xsi:type="dcterms:W3CDTF">2026-08-20T04:26:50Z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2026-08-20T00:00:00Z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2026-08-20T00:00:00Z</vt:filetime>
  </property>
</Properties>
</file>