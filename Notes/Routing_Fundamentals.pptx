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0" d="100"/>
          <a:sy n="80" d="100"/>
        </p:scale>
        <p:origin x="691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6142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4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463040"/>
            <a:ext cx="5029200" cy="5029200"/>
          </a:xfrm>
          <a:prstGeom prst="ellipse">
            <a:avLst/>
          </a:prstGeom>
          <a:solidFill>
            <a:srgbClr val="11192E"/>
          </a:solidFill>
          <a:ln/>
        </p:spPr>
      </p:sp>
      <p:sp>
        <p:nvSpPr>
          <p:cNvPr id="3" name="Shape 1"/>
          <p:cNvSpPr/>
          <p:nvPr/>
        </p:nvSpPr>
        <p:spPr>
          <a:xfrm>
            <a:off x="10241280" y="3291840"/>
            <a:ext cx="3108960" cy="3108960"/>
          </a:xfrm>
          <a:prstGeom prst="ellipse">
            <a:avLst/>
          </a:prstGeom>
          <a:solidFill>
            <a:srgbClr val="223460"/>
          </a:solidFill>
          <a:ln/>
        </p:spPr>
      </p:sp>
      <p:sp>
        <p:nvSpPr>
          <p:cNvPr id="4" name="Shape 2"/>
          <p:cNvSpPr/>
          <p:nvPr/>
        </p:nvSpPr>
        <p:spPr>
          <a:xfrm>
            <a:off x="-1280160" y="4206240"/>
            <a:ext cx="3840480" cy="3840480"/>
          </a:xfrm>
          <a:prstGeom prst="ellipse">
            <a:avLst/>
          </a:prstGeom>
          <a:solidFill>
            <a:srgbClr val="223460"/>
          </a:solidFill>
          <a:ln/>
        </p:spPr>
      </p:sp>
      <p:sp>
        <p:nvSpPr>
          <p:cNvPr id="5" name="Shape 3"/>
          <p:cNvSpPr/>
          <p:nvPr/>
        </p:nvSpPr>
        <p:spPr>
          <a:xfrm>
            <a:off x="9052560" y="1005840"/>
            <a:ext cx="2194560" cy="2194560"/>
          </a:xfrm>
          <a:prstGeom prst="ellipse">
            <a:avLst/>
          </a:prstGeom>
          <a:solidFill>
            <a:srgbClr val="25335C"/>
          </a:solidFill>
          <a:ln w="25400">
            <a:solidFill>
              <a:srgbClr val="F2A104"/>
            </a:solidFill>
            <a:prstDash val="solid"/>
          </a:ln>
        </p:spPr>
      </p:sp>
      <p:pic>
        <p:nvPicPr>
          <p:cNvPr id="6" name="Image 0" descr="icons/router_amb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9760" y="1463040"/>
            <a:ext cx="1280160" cy="12801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14173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F2A1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Routing· Unit 3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77240" y="178308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Routing Fundamentals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822960" y="2606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i="1" dirty="0">
                <a:solidFill>
                  <a:srgbClr val="F2A10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Routers Forward Packets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822960" y="3291840"/>
            <a:ext cx="7680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D9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routing tables to static, RIP and OSPF configuration — with the real Cisco IOS commands at every step.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822960" y="3977640"/>
            <a:ext cx="1280160" cy="0"/>
          </a:xfrm>
          <a:prstGeom prst="line">
            <a:avLst/>
          </a:prstGeom>
          <a:noFill/>
          <a:ln w="38100">
            <a:solidFill>
              <a:srgbClr val="F2A104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822960" y="4297680"/>
            <a:ext cx="1600200" cy="457200"/>
          </a:xfrm>
          <a:prstGeom prst="roundRect">
            <a:avLst>
              <a:gd name="adj" fmla="val 16000"/>
            </a:avLst>
          </a:prstGeom>
          <a:solidFill>
            <a:srgbClr val="25335C"/>
          </a:solidFill>
          <a:ln w="12700">
            <a:solidFill>
              <a:srgbClr val="3C4C8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22960" y="4297680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Routes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2606040" y="4297680"/>
            <a:ext cx="1600200" cy="457200"/>
          </a:xfrm>
          <a:prstGeom prst="roundRect">
            <a:avLst>
              <a:gd name="adj" fmla="val 16000"/>
            </a:avLst>
          </a:prstGeom>
          <a:solidFill>
            <a:srgbClr val="25335C"/>
          </a:solidFill>
          <a:ln w="12700">
            <a:solidFill>
              <a:srgbClr val="3C4C8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2606040" y="4297680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RIP &amp; OSPF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4389120" y="4297680"/>
            <a:ext cx="1600200" cy="457200"/>
          </a:xfrm>
          <a:prstGeom prst="roundRect">
            <a:avLst>
              <a:gd name="adj" fmla="val 16000"/>
            </a:avLst>
          </a:prstGeom>
          <a:solidFill>
            <a:srgbClr val="25335C"/>
          </a:solidFill>
          <a:ln w="12700">
            <a:solidFill>
              <a:srgbClr val="3C4C8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389120" y="4297680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 Labs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822960" y="4892040"/>
            <a:ext cx="5669280" cy="1051560"/>
          </a:xfrm>
          <a:prstGeom prst="roundRect">
            <a:avLst>
              <a:gd name="adj" fmla="val 8696"/>
            </a:avLst>
          </a:prstGeom>
          <a:solidFill>
            <a:srgbClr val="0D1420"/>
          </a:solidFill>
          <a:ln w="12700">
            <a:solidFill>
              <a:srgbClr val="2A3B5C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822960" y="4892040"/>
            <a:ext cx="5669280" cy="329184"/>
          </a:xfrm>
          <a:prstGeom prst="roundRect">
            <a:avLst>
              <a:gd name="adj" fmla="val 27778"/>
            </a:avLst>
          </a:prstGeom>
          <a:solidFill>
            <a:srgbClr val="17233A"/>
          </a:solidFill>
          <a:ln/>
        </p:spPr>
      </p:sp>
      <p:sp>
        <p:nvSpPr>
          <p:cNvPr id="20" name="Shape 17"/>
          <p:cNvSpPr/>
          <p:nvPr/>
        </p:nvSpPr>
        <p:spPr>
          <a:xfrm>
            <a:off x="969264" y="5010912"/>
            <a:ext cx="100584" cy="100584"/>
          </a:xfrm>
          <a:prstGeom prst="ellipse">
            <a:avLst/>
          </a:prstGeom>
          <a:solidFill>
            <a:srgbClr val="F25F5C"/>
          </a:solidFill>
          <a:ln/>
        </p:spPr>
      </p:sp>
      <p:sp>
        <p:nvSpPr>
          <p:cNvPr id="21" name="Shape 18"/>
          <p:cNvSpPr/>
          <p:nvPr/>
        </p:nvSpPr>
        <p:spPr>
          <a:xfrm>
            <a:off x="1170432" y="5010912"/>
            <a:ext cx="100584" cy="100584"/>
          </a:xfrm>
          <a:prstGeom prst="ellipse">
            <a:avLst/>
          </a:prstGeom>
          <a:solidFill>
            <a:srgbClr val="F2C14E"/>
          </a:solidFill>
          <a:ln/>
        </p:spPr>
      </p:sp>
      <p:sp>
        <p:nvSpPr>
          <p:cNvPr id="22" name="Shape 19"/>
          <p:cNvSpPr/>
          <p:nvPr/>
        </p:nvSpPr>
        <p:spPr>
          <a:xfrm>
            <a:off x="1371600" y="5010912"/>
            <a:ext cx="100584" cy="100584"/>
          </a:xfrm>
          <a:prstGeom prst="ellipse">
            <a:avLst/>
          </a:prstGeom>
          <a:solidFill>
            <a:srgbClr val="5FD68A"/>
          </a:solidFill>
          <a:ln/>
        </p:spPr>
      </p:sp>
      <p:sp>
        <p:nvSpPr>
          <p:cNvPr id="23" name="Text 20"/>
          <p:cNvSpPr/>
          <p:nvPr/>
        </p:nvSpPr>
        <p:spPr>
          <a:xfrm>
            <a:off x="1645920" y="4892040"/>
            <a:ext cx="4663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494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R1#</a:t>
            </a:r>
            <a:endParaRPr lang="en-US" sz="950" dirty="0"/>
          </a:p>
        </p:txBody>
      </p:sp>
      <p:sp>
        <p:nvSpPr>
          <p:cNvPr id="24" name="Text 21"/>
          <p:cNvSpPr/>
          <p:nvPr/>
        </p:nvSpPr>
        <p:spPr>
          <a:xfrm>
            <a:off x="1078992" y="5349240"/>
            <a:ext cx="5157216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5FD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R1(config)# ip route 0.0.0.0 0.0.0.0 192.168.1.1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822960" y="6053328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850" dirty="0"/>
          </a:p>
        </p:txBody>
      </p:sp>
      <p:sp>
        <p:nvSpPr>
          <p:cNvPr id="26" name="Text 23"/>
          <p:cNvSpPr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D9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457200" y="635508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200" dirty="0">
                <a:solidFill>
                  <a:srgbClr val="7E8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 FUNDAMENTALS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A1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— THE CORE IDEA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Routing?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Routers connect multiple networks and decide, packet by packet, the best path to a destination.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333756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  <a:effectLst>
            <a:outerShdw blurRad="76200" dist="25400" dir="5400000" algn="bl" rotWithShape="0">
              <a:srgbClr val="1B2A4A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2240280"/>
            <a:ext cx="548640" cy="548640"/>
          </a:xfrm>
          <a:prstGeom prst="ellipse">
            <a:avLst/>
          </a:prstGeom>
          <a:solidFill>
            <a:srgbClr val="F2A104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2402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119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77240" y="2852928"/>
            <a:ext cx="2880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Packet Reception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77240" y="3182112"/>
            <a:ext cx="2880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C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 receives a packet and inspects the destination IP in the header.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206240" y="2011680"/>
            <a:ext cx="333756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  <a:effectLst>
            <a:outerShdw blurRad="76200" dist="25400" dir="5400000" algn="bl" rotWithShape="0">
              <a:srgbClr val="1B2A4A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434840" y="2240280"/>
            <a:ext cx="548640" cy="548640"/>
          </a:xfrm>
          <a:prstGeom prst="ellipse">
            <a:avLst/>
          </a:prstGeom>
          <a:solidFill>
            <a:srgbClr val="F2A104"/>
          </a:solidFill>
          <a:ln/>
        </p:spPr>
      </p:sp>
      <p:sp>
        <p:nvSpPr>
          <p:cNvPr id="12" name="Text 10"/>
          <p:cNvSpPr/>
          <p:nvPr/>
        </p:nvSpPr>
        <p:spPr>
          <a:xfrm>
            <a:off x="4434840" y="22402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119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434840" y="2852928"/>
            <a:ext cx="2880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Lookup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434840" y="3182112"/>
            <a:ext cx="2880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C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Consults its routing table for the most specific matching route.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7863840" y="2011680"/>
            <a:ext cx="333756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  <a:effectLst>
            <a:outerShdw blurRad="76200" dist="25400" dir="5400000" algn="bl" rotWithShape="0">
              <a:srgbClr val="1B2A4A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092440" y="2240280"/>
            <a:ext cx="548640" cy="548640"/>
          </a:xfrm>
          <a:prstGeom prst="ellipse">
            <a:avLst/>
          </a:prstGeom>
          <a:solidFill>
            <a:srgbClr val="F2A104"/>
          </a:solidFill>
          <a:ln/>
        </p:spPr>
      </p:sp>
      <p:sp>
        <p:nvSpPr>
          <p:cNvPr id="17" name="Text 15"/>
          <p:cNvSpPr/>
          <p:nvPr/>
        </p:nvSpPr>
        <p:spPr>
          <a:xfrm>
            <a:off x="8092440" y="22402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119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8092440" y="2852928"/>
            <a:ext cx="2880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Packet Forwarding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092440" y="3182112"/>
            <a:ext cx="2880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C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Sends the packet out the correct interface toward its destination.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48640" y="39776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F2A1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— DELIVERING A PACKET TO 192.168.2.50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48640" y="4297680"/>
            <a:ext cx="11091672" cy="1874520"/>
          </a:xfrm>
          <a:prstGeom prst="roundRect">
            <a:avLst>
              <a:gd name="adj" fmla="val 4878"/>
            </a:avLst>
          </a:prstGeom>
          <a:solidFill>
            <a:srgbClr val="0D1420"/>
          </a:solidFill>
          <a:ln w="12700">
            <a:solidFill>
              <a:srgbClr val="2A3B5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48640" y="4297680"/>
            <a:ext cx="11091672" cy="329184"/>
          </a:xfrm>
          <a:prstGeom prst="roundRect">
            <a:avLst>
              <a:gd name="adj" fmla="val 27778"/>
            </a:avLst>
          </a:prstGeom>
          <a:solidFill>
            <a:srgbClr val="17233A"/>
          </a:solidFill>
          <a:ln/>
        </p:spPr>
      </p:sp>
      <p:sp>
        <p:nvSpPr>
          <p:cNvPr id="23" name="Shape 21"/>
          <p:cNvSpPr/>
          <p:nvPr/>
        </p:nvSpPr>
        <p:spPr>
          <a:xfrm>
            <a:off x="694944" y="4416552"/>
            <a:ext cx="100584" cy="100584"/>
          </a:xfrm>
          <a:prstGeom prst="ellipse">
            <a:avLst/>
          </a:prstGeom>
          <a:solidFill>
            <a:srgbClr val="F25F5C"/>
          </a:solidFill>
          <a:ln/>
        </p:spPr>
      </p:sp>
      <p:sp>
        <p:nvSpPr>
          <p:cNvPr id="24" name="Shape 22"/>
          <p:cNvSpPr/>
          <p:nvPr/>
        </p:nvSpPr>
        <p:spPr>
          <a:xfrm>
            <a:off x="896112" y="4416552"/>
            <a:ext cx="100584" cy="100584"/>
          </a:xfrm>
          <a:prstGeom prst="ellipse">
            <a:avLst/>
          </a:prstGeom>
          <a:solidFill>
            <a:srgbClr val="F2C14E"/>
          </a:solidFill>
          <a:ln/>
        </p:spPr>
      </p:sp>
      <p:sp>
        <p:nvSpPr>
          <p:cNvPr id="25" name="Shape 23"/>
          <p:cNvSpPr/>
          <p:nvPr/>
        </p:nvSpPr>
        <p:spPr>
          <a:xfrm>
            <a:off x="1097280" y="4416552"/>
            <a:ext cx="100584" cy="100584"/>
          </a:xfrm>
          <a:prstGeom prst="ellipse">
            <a:avLst/>
          </a:prstGeom>
          <a:solidFill>
            <a:srgbClr val="5FD68A"/>
          </a:solidFill>
          <a:ln/>
        </p:spPr>
      </p:sp>
      <p:sp>
        <p:nvSpPr>
          <p:cNvPr id="26" name="Text 24"/>
          <p:cNvSpPr/>
          <p:nvPr/>
        </p:nvSpPr>
        <p:spPr>
          <a:xfrm>
            <a:off x="1371600" y="4297680"/>
            <a:ext cx="1008583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494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Router A — decision logic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804672" y="4754880"/>
            <a:ext cx="10579608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D7E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Router A# show ip route</a:t>
            </a:r>
            <a:endParaRPr lang="en-US" sz="11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D7E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    192.168.2.0/24 is directly connected, GigabitEthernet0/1</a:t>
            </a:r>
            <a:endParaRPr lang="en-US" sz="1150" dirty="0"/>
          </a:p>
          <a:p>
            <a:pPr marL="0" indent="0">
              <a:lnSpc>
                <a:spcPct val="135000"/>
              </a:lnSpc>
              <a:buNone/>
            </a:pPr>
            <a:endParaRPr lang="en-US" sz="11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6B7A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! Destination 192.168.2.50 matches 192.168.2.0/24 directly</a:t>
            </a:r>
            <a:endParaRPr lang="en-US" sz="11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6B7A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! Packet is forwarded out GigabitEthernet0/1 -- no next hop needed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C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57200" y="635508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200" dirty="0">
                <a:solidFill>
                  <a:srgbClr val="9AA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 FUNDAMENTALS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A1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— THE ROUTING TABLE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058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Connected, Static &amp; Dynamic Routes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9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routing table is built from three sources, each with a different administrative trust level.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F2A104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" y="2148840"/>
            <a:ext cx="548640" cy="548640"/>
          </a:xfrm>
          <a:prstGeom prst="ellipse">
            <a:avLst/>
          </a:prstGeom>
          <a:solidFill>
            <a:srgbClr val="11192E"/>
          </a:solidFill>
          <a:ln/>
        </p:spPr>
      </p:sp>
      <p:pic>
        <p:nvPicPr>
          <p:cNvPr id="7" name="Image 0" descr="icons/checkcircl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112" y="2267712"/>
            <a:ext cx="310896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7240" y="2761488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119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Connected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777240" y="3090672"/>
            <a:ext cx="3063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11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 automatically when an interface is assigned an IP and brought up.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343400" y="192024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25335C"/>
          </a:solidFill>
          <a:ln/>
        </p:spPr>
      </p:sp>
      <p:sp>
        <p:nvSpPr>
          <p:cNvPr id="11" name="Shape 8"/>
          <p:cNvSpPr/>
          <p:nvPr/>
        </p:nvSpPr>
        <p:spPr>
          <a:xfrm>
            <a:off x="4572000" y="2148840"/>
            <a:ext cx="548640" cy="548640"/>
          </a:xfrm>
          <a:prstGeom prst="ellipse">
            <a:avLst/>
          </a:prstGeom>
          <a:solidFill>
            <a:srgbClr val="11192E"/>
          </a:solidFill>
          <a:ln/>
        </p:spPr>
      </p:sp>
      <p:pic>
        <p:nvPicPr>
          <p:cNvPr id="12" name="Image 1" descr="icons/settings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90872" y="2267712"/>
            <a:ext cx="310896" cy="31089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572000" y="2761488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Static</a:t>
            </a:r>
            <a:endParaRPr lang="en-US" sz="1700" dirty="0"/>
          </a:p>
        </p:txBody>
      </p:sp>
      <p:sp>
        <p:nvSpPr>
          <p:cNvPr id="14" name="Text 10"/>
          <p:cNvSpPr/>
          <p:nvPr/>
        </p:nvSpPr>
        <p:spPr>
          <a:xfrm>
            <a:off x="4572000" y="3090672"/>
            <a:ext cx="3063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9FB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Manually configured by an administrator to define a specific path.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8138160" y="192024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25335C"/>
          </a:solidFill>
          <a:ln/>
        </p:spPr>
      </p:sp>
      <p:sp>
        <p:nvSpPr>
          <p:cNvPr id="16" name="Shape 12"/>
          <p:cNvSpPr/>
          <p:nvPr/>
        </p:nvSpPr>
        <p:spPr>
          <a:xfrm>
            <a:off x="8366760" y="2148840"/>
            <a:ext cx="548640" cy="548640"/>
          </a:xfrm>
          <a:prstGeom prst="ellipse">
            <a:avLst/>
          </a:prstGeom>
          <a:solidFill>
            <a:srgbClr val="11192E"/>
          </a:solidFill>
          <a:ln/>
        </p:spPr>
      </p:sp>
      <p:pic>
        <p:nvPicPr>
          <p:cNvPr id="17" name="Image 2" descr="icons/refresh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85632" y="2267712"/>
            <a:ext cx="310896" cy="31089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366760" y="2761488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Dynamic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8366760" y="3090672"/>
            <a:ext cx="3063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9FB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 automatically via protocols like RIP, OSPF, EIGRP or BGP.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548640" y="4069080"/>
            <a:ext cx="11091672" cy="2148840"/>
          </a:xfrm>
          <a:prstGeom prst="roundRect">
            <a:avLst>
              <a:gd name="adj" fmla="val 4255"/>
            </a:avLst>
          </a:prstGeom>
          <a:solidFill>
            <a:srgbClr val="0D1420"/>
          </a:solidFill>
          <a:ln w="12700">
            <a:solidFill>
              <a:srgbClr val="2A3B5C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548640" y="4069080"/>
            <a:ext cx="11091672" cy="329184"/>
          </a:xfrm>
          <a:prstGeom prst="roundRect">
            <a:avLst>
              <a:gd name="adj" fmla="val 27778"/>
            </a:avLst>
          </a:prstGeom>
          <a:solidFill>
            <a:srgbClr val="17233A"/>
          </a:solidFill>
          <a:ln/>
        </p:spPr>
      </p:sp>
      <p:sp>
        <p:nvSpPr>
          <p:cNvPr id="22" name="Shape 17"/>
          <p:cNvSpPr/>
          <p:nvPr/>
        </p:nvSpPr>
        <p:spPr>
          <a:xfrm>
            <a:off x="694944" y="4187952"/>
            <a:ext cx="100584" cy="100584"/>
          </a:xfrm>
          <a:prstGeom prst="ellipse">
            <a:avLst/>
          </a:prstGeom>
          <a:solidFill>
            <a:srgbClr val="F25F5C"/>
          </a:solidFill>
          <a:ln/>
        </p:spPr>
      </p:sp>
      <p:sp>
        <p:nvSpPr>
          <p:cNvPr id="23" name="Shape 18"/>
          <p:cNvSpPr/>
          <p:nvPr/>
        </p:nvSpPr>
        <p:spPr>
          <a:xfrm>
            <a:off x="896112" y="4187952"/>
            <a:ext cx="100584" cy="100584"/>
          </a:xfrm>
          <a:prstGeom prst="ellipse">
            <a:avLst/>
          </a:prstGeom>
          <a:solidFill>
            <a:srgbClr val="F2C14E"/>
          </a:solidFill>
          <a:ln/>
        </p:spPr>
      </p:sp>
      <p:sp>
        <p:nvSpPr>
          <p:cNvPr id="24" name="Shape 19"/>
          <p:cNvSpPr/>
          <p:nvPr/>
        </p:nvSpPr>
        <p:spPr>
          <a:xfrm>
            <a:off x="1097280" y="4187952"/>
            <a:ext cx="100584" cy="100584"/>
          </a:xfrm>
          <a:prstGeom prst="ellipse">
            <a:avLst/>
          </a:prstGeom>
          <a:solidFill>
            <a:srgbClr val="5FD68A"/>
          </a:solidFill>
          <a:ln/>
        </p:spPr>
      </p:sp>
      <p:sp>
        <p:nvSpPr>
          <p:cNvPr id="25" name="Text 20"/>
          <p:cNvSpPr/>
          <p:nvPr/>
        </p:nvSpPr>
        <p:spPr>
          <a:xfrm>
            <a:off x="1371600" y="4069080"/>
            <a:ext cx="1008583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494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R1#</a:t>
            </a:r>
            <a:endParaRPr lang="en-US" sz="950" dirty="0"/>
          </a:p>
        </p:txBody>
      </p:sp>
      <p:sp>
        <p:nvSpPr>
          <p:cNvPr id="26" name="Text 21"/>
          <p:cNvSpPr/>
          <p:nvPr/>
        </p:nvSpPr>
        <p:spPr>
          <a:xfrm>
            <a:off x="804672" y="4526280"/>
            <a:ext cx="10579608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5FD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R1# show ip route</a:t>
            </a:r>
            <a:endParaRPr lang="en-US" sz="12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D7E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    192.168.1.0/24 is directly connected, FastEthernet0/0</a:t>
            </a:r>
            <a:endParaRPr lang="en-US" sz="12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D7E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    10.0.0.0/8 [1/0] via 192.168.1.2</a:t>
            </a:r>
            <a:endParaRPr lang="en-US" sz="12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D7E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    172.16.0.0/16 [110/2] via 192.168.1.3, GigabitEthernet0/1</a:t>
            </a:r>
            <a:endParaRPr lang="en-US" sz="1200" dirty="0"/>
          </a:p>
          <a:p>
            <a:pPr marL="0" indent="0">
              <a:lnSpc>
                <a:spcPct val="135000"/>
              </a:lnSpc>
              <a:buNone/>
            </a:pPr>
            <a:endParaRPr lang="en-US" sz="12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6B7A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! C = Connected   S = Static   O = OSPF (Dynamic)</a:t>
            </a:r>
            <a:endParaRPr lang="en-US" sz="1200" dirty="0"/>
          </a:p>
        </p:txBody>
      </p:sp>
      <p:sp>
        <p:nvSpPr>
          <p:cNvPr id="27" name="Text 22"/>
          <p:cNvSpPr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D9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28" name="Text 23"/>
          <p:cNvSpPr/>
          <p:nvPr/>
        </p:nvSpPr>
        <p:spPr>
          <a:xfrm>
            <a:off x="457200" y="635508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200" dirty="0">
                <a:solidFill>
                  <a:srgbClr val="7E8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 FUNDAMENTALS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A1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— MANUAL CONTROL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058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Static Routing — Command Anatomy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Precise, predictable paths — ideal for small or stub networks where topology rarely changes.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11091672" cy="1051560"/>
          </a:xfrm>
          <a:prstGeom prst="roundRect">
            <a:avLst>
              <a:gd name="adj" fmla="val 8696"/>
            </a:avLst>
          </a:prstGeom>
          <a:solidFill>
            <a:srgbClr val="0D1420"/>
          </a:solidFill>
          <a:ln w="12700">
            <a:solidFill>
              <a:srgbClr val="2A3B5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2057400"/>
            <a:ext cx="11091672" cy="329184"/>
          </a:xfrm>
          <a:prstGeom prst="roundRect">
            <a:avLst>
              <a:gd name="adj" fmla="val 27778"/>
            </a:avLst>
          </a:prstGeom>
          <a:solidFill>
            <a:srgbClr val="17233A"/>
          </a:solidFill>
          <a:ln/>
        </p:spPr>
      </p:sp>
      <p:sp>
        <p:nvSpPr>
          <p:cNvPr id="7" name="Shape 5"/>
          <p:cNvSpPr/>
          <p:nvPr/>
        </p:nvSpPr>
        <p:spPr>
          <a:xfrm>
            <a:off x="694944" y="2176272"/>
            <a:ext cx="100584" cy="100584"/>
          </a:xfrm>
          <a:prstGeom prst="ellipse">
            <a:avLst/>
          </a:prstGeom>
          <a:solidFill>
            <a:srgbClr val="F25F5C"/>
          </a:solidFill>
          <a:ln/>
        </p:spPr>
      </p:sp>
      <p:sp>
        <p:nvSpPr>
          <p:cNvPr id="8" name="Shape 6"/>
          <p:cNvSpPr/>
          <p:nvPr/>
        </p:nvSpPr>
        <p:spPr>
          <a:xfrm>
            <a:off x="896112" y="2176272"/>
            <a:ext cx="100584" cy="100584"/>
          </a:xfrm>
          <a:prstGeom prst="ellipse">
            <a:avLst/>
          </a:prstGeom>
          <a:solidFill>
            <a:srgbClr val="F2C14E"/>
          </a:solidFill>
          <a:ln/>
        </p:spPr>
      </p:sp>
      <p:sp>
        <p:nvSpPr>
          <p:cNvPr id="9" name="Shape 7"/>
          <p:cNvSpPr/>
          <p:nvPr/>
        </p:nvSpPr>
        <p:spPr>
          <a:xfrm>
            <a:off x="1097280" y="2176272"/>
            <a:ext cx="100584" cy="100584"/>
          </a:xfrm>
          <a:prstGeom prst="ellipse">
            <a:avLst/>
          </a:prstGeom>
          <a:solidFill>
            <a:srgbClr val="5FD68A"/>
          </a:solidFill>
          <a:ln/>
        </p:spPr>
      </p:sp>
      <p:sp>
        <p:nvSpPr>
          <p:cNvPr id="10" name="Text 8"/>
          <p:cNvSpPr/>
          <p:nvPr/>
        </p:nvSpPr>
        <p:spPr>
          <a:xfrm>
            <a:off x="1371600" y="2057400"/>
            <a:ext cx="1008583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494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R1(config)#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804672" y="2514600"/>
            <a:ext cx="10579608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5FD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R1(config)# ip route 192.168.50.0 255.255.255.0 192.168.1.2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48640" y="3429000"/>
            <a:ext cx="2606040" cy="1234440"/>
          </a:xfrm>
          <a:prstGeom prst="roundRect">
            <a:avLst>
              <a:gd name="adj" fmla="val 5926"/>
            </a:avLst>
          </a:prstGeom>
          <a:solidFill>
            <a:srgbClr val="1B2A4A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3566160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2A10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ip route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85800" y="402336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D9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 keyword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383280" y="3429000"/>
            <a:ext cx="2606040" cy="1234440"/>
          </a:xfrm>
          <a:prstGeom prst="roundRect">
            <a:avLst>
              <a:gd name="adj" fmla="val 5926"/>
            </a:avLst>
          </a:prstGeom>
          <a:solidFill>
            <a:srgbClr val="1B2A4A"/>
          </a:solidFill>
          <a:ln/>
        </p:spPr>
      </p:sp>
      <p:sp>
        <p:nvSpPr>
          <p:cNvPr id="16" name="Text 14"/>
          <p:cNvSpPr/>
          <p:nvPr/>
        </p:nvSpPr>
        <p:spPr>
          <a:xfrm>
            <a:off x="3520440" y="3566160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2A10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192.168.50.0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520440" y="402336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D9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Destination network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217920" y="3429000"/>
            <a:ext cx="2606040" cy="1234440"/>
          </a:xfrm>
          <a:prstGeom prst="roundRect">
            <a:avLst>
              <a:gd name="adj" fmla="val 5926"/>
            </a:avLst>
          </a:prstGeom>
          <a:solidFill>
            <a:srgbClr val="1B2A4A"/>
          </a:solidFill>
          <a:ln/>
        </p:spPr>
      </p:sp>
      <p:sp>
        <p:nvSpPr>
          <p:cNvPr id="19" name="Text 17"/>
          <p:cNvSpPr/>
          <p:nvPr/>
        </p:nvSpPr>
        <p:spPr>
          <a:xfrm>
            <a:off x="6355080" y="3566160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2A10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255.255.255.0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355080" y="402336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D9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Subnet mask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9052560" y="3429000"/>
            <a:ext cx="2606040" cy="1234440"/>
          </a:xfrm>
          <a:prstGeom prst="roundRect">
            <a:avLst>
              <a:gd name="adj" fmla="val 5926"/>
            </a:avLst>
          </a:prstGeom>
          <a:solidFill>
            <a:srgbClr val="1B2A4A"/>
          </a:solidFill>
          <a:ln/>
        </p:spPr>
      </p:sp>
      <p:sp>
        <p:nvSpPr>
          <p:cNvPr id="22" name="Text 20"/>
          <p:cNvSpPr/>
          <p:nvPr/>
        </p:nvSpPr>
        <p:spPr>
          <a:xfrm>
            <a:off x="9189720" y="3566160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2A10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192.168.1.2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189720" y="402336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D9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Next-hop IP address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48640" y="48920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C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routes stay simple and reliable — but need manual updates whenever the topology changes.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48640" y="5349240"/>
            <a:ext cx="11091672" cy="1051560"/>
          </a:xfrm>
          <a:prstGeom prst="roundRect">
            <a:avLst>
              <a:gd name="adj" fmla="val 8696"/>
            </a:avLst>
          </a:prstGeom>
          <a:solidFill>
            <a:srgbClr val="D9E4F5"/>
          </a:solidFill>
          <a:ln/>
        </p:spPr>
      </p:sp>
      <p:pic>
        <p:nvPicPr>
          <p:cNvPr id="26" name="Image 0" descr="icons/checkcircle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5577840"/>
            <a:ext cx="310896" cy="310896"/>
          </a:xfrm>
          <a:prstGeom prst="rect">
            <a:avLst/>
          </a:prstGeom>
        </p:spPr>
      </p:pic>
      <p:sp>
        <p:nvSpPr>
          <p:cNvPr id="27" name="Text 24"/>
          <p:cNvSpPr/>
          <p:nvPr/>
        </p:nvSpPr>
        <p:spPr>
          <a:xfrm>
            <a:off x="1234440" y="5577840"/>
            <a:ext cx="3200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networks</a:t>
            </a:r>
            <a:endParaRPr lang="en-US" sz="1300" dirty="0"/>
          </a:p>
        </p:txBody>
      </p:sp>
      <p:pic>
        <p:nvPicPr>
          <p:cNvPr id="28" name="Image 1" descr="icons/checkcircle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0560" y="5577840"/>
            <a:ext cx="310896" cy="310896"/>
          </a:xfrm>
          <a:prstGeom prst="rect">
            <a:avLst/>
          </a:prstGeom>
        </p:spPr>
      </p:pic>
      <p:sp>
        <p:nvSpPr>
          <p:cNvPr id="29" name="Text 25"/>
          <p:cNvSpPr/>
          <p:nvPr/>
        </p:nvSpPr>
        <p:spPr>
          <a:xfrm>
            <a:off x="4892040" y="5577840"/>
            <a:ext cx="3200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Stub networks</a:t>
            </a:r>
            <a:endParaRPr lang="en-US" sz="1300" dirty="0"/>
          </a:p>
        </p:txBody>
      </p:sp>
      <p:pic>
        <p:nvPicPr>
          <p:cNvPr id="30" name="Image 2" descr="icons/checkcircle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8160" y="5577840"/>
            <a:ext cx="310896" cy="310896"/>
          </a:xfrm>
          <a:prstGeom prst="rect">
            <a:avLst/>
          </a:prstGeom>
        </p:spPr>
      </p:pic>
      <p:sp>
        <p:nvSpPr>
          <p:cNvPr id="31" name="Text 26"/>
          <p:cNvSpPr/>
          <p:nvPr/>
        </p:nvSpPr>
        <p:spPr>
          <a:xfrm>
            <a:off x="8549640" y="5577840"/>
            <a:ext cx="3200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/ predictable paths</a:t>
            </a:r>
            <a:endParaRPr lang="en-US" sz="1300" dirty="0"/>
          </a:p>
        </p:txBody>
      </p:sp>
      <p:sp>
        <p:nvSpPr>
          <p:cNvPr id="32" name="Text 27"/>
          <p:cNvSpPr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C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33" name="Text 28"/>
          <p:cNvSpPr/>
          <p:nvPr/>
        </p:nvSpPr>
        <p:spPr>
          <a:xfrm>
            <a:off x="457200" y="635508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200" dirty="0">
                <a:solidFill>
                  <a:srgbClr val="9AA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 FUNDAMENTALS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A1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— SPECIAL STATIC ROUTES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058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Default Routes &amp; Floating Static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9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variations on static routing that handle "everything else" and backup paths.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5349240" cy="4206240"/>
          </a:xfrm>
          <a:prstGeom prst="roundRect">
            <a:avLst>
              <a:gd name="adj" fmla="val 2609"/>
            </a:avLst>
          </a:prstGeom>
          <a:solidFill>
            <a:srgbClr val="25335C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2240280"/>
            <a:ext cx="548640" cy="548640"/>
          </a:xfrm>
          <a:prstGeom prst="ellipse">
            <a:avLst/>
          </a:prstGeom>
          <a:solidFill>
            <a:srgbClr val="F2A104"/>
          </a:solidFill>
          <a:ln/>
        </p:spPr>
      </p:sp>
      <p:pic>
        <p:nvPicPr>
          <p:cNvPr id="7" name="Image 0" descr="icons/navigation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832" y="2359152"/>
            <a:ext cx="310896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08760" y="228600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Default Route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822960" y="2926080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9FB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Catches all traffic to unknown destinations — the "gateway of last resort."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822960" y="3657600"/>
            <a:ext cx="4846320" cy="914400"/>
          </a:xfrm>
          <a:prstGeom prst="roundRect">
            <a:avLst>
              <a:gd name="adj" fmla="val 10000"/>
            </a:avLst>
          </a:prstGeom>
          <a:solidFill>
            <a:srgbClr val="0D1420"/>
          </a:solidFill>
          <a:ln w="12700">
            <a:solidFill>
              <a:srgbClr val="2A3B5C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3657600"/>
            <a:ext cx="4846320" cy="329184"/>
          </a:xfrm>
          <a:prstGeom prst="roundRect">
            <a:avLst>
              <a:gd name="adj" fmla="val 27778"/>
            </a:avLst>
          </a:prstGeom>
          <a:solidFill>
            <a:srgbClr val="17233A"/>
          </a:solidFill>
          <a:ln/>
        </p:spPr>
      </p:sp>
      <p:sp>
        <p:nvSpPr>
          <p:cNvPr id="12" name="Shape 9"/>
          <p:cNvSpPr/>
          <p:nvPr/>
        </p:nvSpPr>
        <p:spPr>
          <a:xfrm>
            <a:off x="969264" y="3776472"/>
            <a:ext cx="100584" cy="100584"/>
          </a:xfrm>
          <a:prstGeom prst="ellipse">
            <a:avLst/>
          </a:prstGeom>
          <a:solidFill>
            <a:srgbClr val="F25F5C"/>
          </a:solidFill>
          <a:ln/>
        </p:spPr>
      </p:sp>
      <p:sp>
        <p:nvSpPr>
          <p:cNvPr id="13" name="Shape 10"/>
          <p:cNvSpPr/>
          <p:nvPr/>
        </p:nvSpPr>
        <p:spPr>
          <a:xfrm>
            <a:off x="1170432" y="3776472"/>
            <a:ext cx="100584" cy="100584"/>
          </a:xfrm>
          <a:prstGeom prst="ellipse">
            <a:avLst/>
          </a:prstGeom>
          <a:solidFill>
            <a:srgbClr val="F2C14E"/>
          </a:solidFill>
          <a:ln/>
        </p:spPr>
      </p:sp>
      <p:sp>
        <p:nvSpPr>
          <p:cNvPr id="14" name="Shape 11"/>
          <p:cNvSpPr/>
          <p:nvPr/>
        </p:nvSpPr>
        <p:spPr>
          <a:xfrm>
            <a:off x="1371600" y="3776472"/>
            <a:ext cx="100584" cy="100584"/>
          </a:xfrm>
          <a:prstGeom prst="ellipse">
            <a:avLst/>
          </a:prstGeom>
          <a:solidFill>
            <a:srgbClr val="5FD68A"/>
          </a:solidFill>
          <a:ln/>
        </p:spPr>
      </p:sp>
      <p:sp>
        <p:nvSpPr>
          <p:cNvPr id="15" name="Text 12"/>
          <p:cNvSpPr/>
          <p:nvPr/>
        </p:nvSpPr>
        <p:spPr>
          <a:xfrm>
            <a:off x="1078992" y="4114800"/>
            <a:ext cx="4334256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5FD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R1(config)# ip route 0.0.0.0 0.0.0.0 192.168.1.1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822960" y="4754880"/>
            <a:ext cx="48463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100" i="1" dirty="0">
                <a:solidFill>
                  <a:srgbClr val="A8B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Destination 0.0.0.0/0 matches everything not already in the table — vital for stub networks and internet gateways.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6263640" y="2011680"/>
            <a:ext cx="5349240" cy="4206240"/>
          </a:xfrm>
          <a:prstGeom prst="roundRect">
            <a:avLst>
              <a:gd name="adj" fmla="val 2609"/>
            </a:avLst>
          </a:prstGeom>
          <a:solidFill>
            <a:srgbClr val="25335C"/>
          </a:solidFill>
          <a:ln/>
        </p:spPr>
      </p:sp>
      <p:sp>
        <p:nvSpPr>
          <p:cNvPr id="18" name="Shape 15"/>
          <p:cNvSpPr/>
          <p:nvPr/>
        </p:nvSpPr>
        <p:spPr>
          <a:xfrm>
            <a:off x="6537960" y="2240280"/>
            <a:ext cx="548640" cy="548640"/>
          </a:xfrm>
          <a:prstGeom prst="ellipse">
            <a:avLst/>
          </a:prstGeom>
          <a:solidFill>
            <a:srgbClr val="F2A104"/>
          </a:solidFill>
          <a:ln/>
        </p:spPr>
      </p:sp>
      <p:pic>
        <p:nvPicPr>
          <p:cNvPr id="19" name="Image 1" descr="icons/shield_nav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56832" y="2359152"/>
            <a:ext cx="310896" cy="310896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7223760" y="228600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Floating Static</a:t>
            </a:r>
            <a:endParaRPr lang="en-US" sz="1900" dirty="0"/>
          </a:p>
        </p:txBody>
      </p:sp>
      <p:sp>
        <p:nvSpPr>
          <p:cNvPr id="21" name="Text 17"/>
          <p:cNvSpPr/>
          <p:nvPr/>
        </p:nvSpPr>
        <p:spPr>
          <a:xfrm>
            <a:off x="6537960" y="2926080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9FB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backup route that only activates when the primary route fails.</a:t>
            </a:r>
            <a:endParaRPr lang="en-US" sz="1200" dirty="0"/>
          </a:p>
        </p:txBody>
      </p:sp>
      <p:sp>
        <p:nvSpPr>
          <p:cNvPr id="22" name="Shape 18"/>
          <p:cNvSpPr/>
          <p:nvPr/>
        </p:nvSpPr>
        <p:spPr>
          <a:xfrm>
            <a:off x="6537960" y="3657600"/>
            <a:ext cx="4846320" cy="914400"/>
          </a:xfrm>
          <a:prstGeom prst="roundRect">
            <a:avLst>
              <a:gd name="adj" fmla="val 10000"/>
            </a:avLst>
          </a:prstGeom>
          <a:solidFill>
            <a:srgbClr val="0D1420"/>
          </a:solidFill>
          <a:ln w="12700">
            <a:solidFill>
              <a:srgbClr val="2A3B5C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6537960" y="3657600"/>
            <a:ext cx="4846320" cy="329184"/>
          </a:xfrm>
          <a:prstGeom prst="roundRect">
            <a:avLst>
              <a:gd name="adj" fmla="val 27778"/>
            </a:avLst>
          </a:prstGeom>
          <a:solidFill>
            <a:srgbClr val="17233A"/>
          </a:solidFill>
          <a:ln/>
        </p:spPr>
      </p:sp>
      <p:sp>
        <p:nvSpPr>
          <p:cNvPr id="24" name="Shape 20"/>
          <p:cNvSpPr/>
          <p:nvPr/>
        </p:nvSpPr>
        <p:spPr>
          <a:xfrm>
            <a:off x="6684264" y="3776472"/>
            <a:ext cx="100584" cy="100584"/>
          </a:xfrm>
          <a:prstGeom prst="ellipse">
            <a:avLst/>
          </a:prstGeom>
          <a:solidFill>
            <a:srgbClr val="F25F5C"/>
          </a:solidFill>
          <a:ln/>
        </p:spPr>
      </p:sp>
      <p:sp>
        <p:nvSpPr>
          <p:cNvPr id="25" name="Shape 21"/>
          <p:cNvSpPr/>
          <p:nvPr/>
        </p:nvSpPr>
        <p:spPr>
          <a:xfrm>
            <a:off x="6885432" y="3776472"/>
            <a:ext cx="100584" cy="100584"/>
          </a:xfrm>
          <a:prstGeom prst="ellipse">
            <a:avLst/>
          </a:prstGeom>
          <a:solidFill>
            <a:srgbClr val="F2C14E"/>
          </a:solidFill>
          <a:ln/>
        </p:spPr>
      </p:sp>
      <p:sp>
        <p:nvSpPr>
          <p:cNvPr id="26" name="Shape 22"/>
          <p:cNvSpPr/>
          <p:nvPr/>
        </p:nvSpPr>
        <p:spPr>
          <a:xfrm>
            <a:off x="7086600" y="3776472"/>
            <a:ext cx="100584" cy="100584"/>
          </a:xfrm>
          <a:prstGeom prst="ellipse">
            <a:avLst/>
          </a:prstGeom>
          <a:solidFill>
            <a:srgbClr val="5FD68A"/>
          </a:solidFill>
          <a:ln/>
        </p:spPr>
      </p:sp>
      <p:sp>
        <p:nvSpPr>
          <p:cNvPr id="27" name="Text 23"/>
          <p:cNvSpPr/>
          <p:nvPr/>
        </p:nvSpPr>
        <p:spPr>
          <a:xfrm>
            <a:off x="6793992" y="4114800"/>
            <a:ext cx="4334256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5FD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R1(config)# ip route 10.0.0.0 255.0.0.0 192.168.1.3 250</a:t>
            </a:r>
            <a:endParaRPr lang="en-US" sz="1150" dirty="0"/>
          </a:p>
        </p:txBody>
      </p:sp>
      <p:sp>
        <p:nvSpPr>
          <p:cNvPr id="28" name="Text 24"/>
          <p:cNvSpPr/>
          <p:nvPr/>
        </p:nvSpPr>
        <p:spPr>
          <a:xfrm>
            <a:off x="6537960" y="4754880"/>
            <a:ext cx="48463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100" i="1" dirty="0">
                <a:solidFill>
                  <a:srgbClr val="A8B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Administrative distance 250 is higher than a normal static route (1) — so it only kicks in once the primary path is unavailable.</a:t>
            </a:r>
            <a:endParaRPr lang="en-US" sz="1100" dirty="0"/>
          </a:p>
        </p:txBody>
      </p:sp>
      <p:sp>
        <p:nvSpPr>
          <p:cNvPr id="29" name="Text 25"/>
          <p:cNvSpPr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D9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30" name="Text 26"/>
          <p:cNvSpPr/>
          <p:nvPr/>
        </p:nvSpPr>
        <p:spPr>
          <a:xfrm>
            <a:off x="457200" y="635508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200" dirty="0">
                <a:solidFill>
                  <a:srgbClr val="7E8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 FUNDAMENTALS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A1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— DYNAMIC PROTOCOLS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058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Distance Vector vs. Link State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fundamentally different ways routers learn and share topology information automatically.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2651760" cy="603504"/>
          </a:xfrm>
          <a:prstGeom prst="rect">
            <a:avLst/>
          </a:prstGeom>
          <a:solidFill>
            <a:srgbClr val="1B2A4A"/>
          </a:solidFill>
          <a:ln w="6350">
            <a:solidFill>
              <a:srgbClr val="E3E8F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2103120"/>
            <a:ext cx="2322576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0" y="2103120"/>
            <a:ext cx="4206240" cy="603504"/>
          </a:xfrm>
          <a:prstGeom prst="rect">
            <a:avLst/>
          </a:prstGeom>
          <a:solidFill>
            <a:srgbClr val="1B2A4A"/>
          </a:solidFill>
          <a:ln w="6350">
            <a:solidFill>
              <a:srgbClr val="E3E8F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64992" y="2103120"/>
            <a:ext cx="3877056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 Vector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406640" y="2103120"/>
            <a:ext cx="4206240" cy="603504"/>
          </a:xfrm>
          <a:prstGeom prst="rect">
            <a:avLst/>
          </a:prstGeom>
          <a:solidFill>
            <a:srgbClr val="F2A104"/>
          </a:solidFill>
          <a:ln w="6350">
            <a:solidFill>
              <a:srgbClr val="E3E8F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571232" y="2103120"/>
            <a:ext cx="3877056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State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2706624"/>
            <a:ext cx="2651760" cy="603504"/>
          </a:xfrm>
          <a:prstGeom prst="rect">
            <a:avLst/>
          </a:prstGeom>
          <a:solidFill>
            <a:srgbClr val="D9E4F5"/>
          </a:solidFill>
          <a:ln w="6350">
            <a:solidFill>
              <a:srgbClr val="E3E8F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13232" y="2706624"/>
            <a:ext cx="2322576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200400" y="2706624"/>
            <a:ext cx="4206240" cy="603504"/>
          </a:xfrm>
          <a:prstGeom prst="rect">
            <a:avLst/>
          </a:prstGeom>
          <a:solidFill>
            <a:srgbClr val="D9E4F5"/>
          </a:solidFill>
          <a:ln w="6350">
            <a:solidFill>
              <a:srgbClr val="E3E8F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64992" y="2706624"/>
            <a:ext cx="3877056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0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RIP, IGRP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406640" y="2706624"/>
            <a:ext cx="4206240" cy="603504"/>
          </a:xfrm>
          <a:prstGeom prst="rect">
            <a:avLst/>
          </a:prstGeom>
          <a:solidFill>
            <a:srgbClr val="D9E4F5"/>
          </a:solidFill>
          <a:ln w="6350">
            <a:solidFill>
              <a:srgbClr val="E3E8F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571232" y="2706624"/>
            <a:ext cx="3877056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0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OSPF, IS-IS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3310128"/>
            <a:ext cx="2651760" cy="60350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13232" y="3310128"/>
            <a:ext cx="2322576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 exchange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200400" y="3310128"/>
            <a:ext cx="4206240" cy="60350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64992" y="3310128"/>
            <a:ext cx="3877056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0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Periodic updates to neighbors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406640" y="3310128"/>
            <a:ext cx="4206240" cy="60350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571232" y="3310128"/>
            <a:ext cx="3877056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0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LSAs flooded to all routers in area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48640" y="3913632"/>
            <a:ext cx="2651760" cy="603504"/>
          </a:xfrm>
          <a:prstGeom prst="rect">
            <a:avLst/>
          </a:prstGeom>
          <a:solidFill>
            <a:srgbClr val="D9E4F5"/>
          </a:solidFill>
          <a:ln w="6350">
            <a:solidFill>
              <a:srgbClr val="E3E8F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13232" y="3913632"/>
            <a:ext cx="2322576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Convergence speed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200400" y="3913632"/>
            <a:ext cx="4206240" cy="603504"/>
          </a:xfrm>
          <a:prstGeom prst="rect">
            <a:avLst/>
          </a:prstGeom>
          <a:solidFill>
            <a:srgbClr val="D9E4F5"/>
          </a:solidFill>
          <a:ln w="6350">
            <a:solidFill>
              <a:srgbClr val="E3E8F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364992" y="3913632"/>
            <a:ext cx="3877056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0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Slower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7406640" y="3913632"/>
            <a:ext cx="4206240" cy="603504"/>
          </a:xfrm>
          <a:prstGeom prst="rect">
            <a:avLst/>
          </a:prstGeom>
          <a:solidFill>
            <a:srgbClr val="D9E4F5"/>
          </a:solidFill>
          <a:ln w="6350">
            <a:solidFill>
              <a:srgbClr val="E3E8F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571232" y="3913632"/>
            <a:ext cx="3877056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0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48640" y="4517136"/>
            <a:ext cx="2651760" cy="60350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13232" y="4517136"/>
            <a:ext cx="2322576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size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3200400" y="4517136"/>
            <a:ext cx="4206240" cy="60350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364992" y="4517136"/>
            <a:ext cx="3877056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0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to medium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7406640" y="4517136"/>
            <a:ext cx="4206240" cy="60350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571232" y="4517136"/>
            <a:ext cx="3877056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0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and hierarchical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548640" y="5120640"/>
            <a:ext cx="2651760" cy="603504"/>
          </a:xfrm>
          <a:prstGeom prst="rect">
            <a:avLst/>
          </a:prstGeom>
          <a:solidFill>
            <a:srgbClr val="D9E4F5"/>
          </a:solidFill>
          <a:ln w="6350">
            <a:solidFill>
              <a:srgbClr val="E3E8F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13232" y="5120640"/>
            <a:ext cx="2322576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usage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3200400" y="5120640"/>
            <a:ext cx="4206240" cy="603504"/>
          </a:xfrm>
          <a:prstGeom prst="rect">
            <a:avLst/>
          </a:prstGeom>
          <a:solidFill>
            <a:srgbClr val="D9E4F5"/>
          </a:solidFill>
          <a:ln w="6350">
            <a:solidFill>
              <a:srgbClr val="E3E8F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364992" y="5120640"/>
            <a:ext cx="3877056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0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7406640" y="5120640"/>
            <a:ext cx="4206240" cy="603504"/>
          </a:xfrm>
          <a:prstGeom prst="rect">
            <a:avLst/>
          </a:prstGeom>
          <a:solidFill>
            <a:srgbClr val="D9E4F5"/>
          </a:solidFill>
          <a:ln w="6350">
            <a:solidFill>
              <a:srgbClr val="E3E8F2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571232" y="5120640"/>
            <a:ext cx="3877056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0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548640" y="5888736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C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RIP uses hop count (max 15); OSPF uses Dijkstra's shortest-path algorithm over a full topology map.</a:t>
            </a:r>
            <a:endParaRPr lang="en-US" sz="1150" dirty="0"/>
          </a:p>
        </p:txBody>
      </p:sp>
      <p:sp>
        <p:nvSpPr>
          <p:cNvPr id="42" name="Text 40"/>
          <p:cNvSpPr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C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457200" y="635508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200" dirty="0">
                <a:solidFill>
                  <a:srgbClr val="9AA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 FUNDAMENTALS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A1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— DISTANCE VECTOR IN PRACTICE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Configuring RIP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9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simple distance-vector protocol, well suited to small networks with a flat topology.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6035040" cy="2011680"/>
          </a:xfrm>
          <a:prstGeom prst="roundRect">
            <a:avLst>
              <a:gd name="adj" fmla="val 4545"/>
            </a:avLst>
          </a:prstGeom>
          <a:solidFill>
            <a:srgbClr val="0D1420"/>
          </a:solidFill>
          <a:ln w="12700">
            <a:solidFill>
              <a:srgbClr val="2A3B5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2057400"/>
            <a:ext cx="6035040" cy="329184"/>
          </a:xfrm>
          <a:prstGeom prst="roundRect">
            <a:avLst>
              <a:gd name="adj" fmla="val 27778"/>
            </a:avLst>
          </a:prstGeom>
          <a:solidFill>
            <a:srgbClr val="17233A"/>
          </a:solidFill>
          <a:ln/>
        </p:spPr>
      </p:sp>
      <p:sp>
        <p:nvSpPr>
          <p:cNvPr id="7" name="Shape 5"/>
          <p:cNvSpPr/>
          <p:nvPr/>
        </p:nvSpPr>
        <p:spPr>
          <a:xfrm>
            <a:off x="694944" y="2176272"/>
            <a:ext cx="100584" cy="100584"/>
          </a:xfrm>
          <a:prstGeom prst="ellipse">
            <a:avLst/>
          </a:prstGeom>
          <a:solidFill>
            <a:srgbClr val="F25F5C"/>
          </a:solidFill>
          <a:ln/>
        </p:spPr>
      </p:sp>
      <p:sp>
        <p:nvSpPr>
          <p:cNvPr id="8" name="Shape 6"/>
          <p:cNvSpPr/>
          <p:nvPr/>
        </p:nvSpPr>
        <p:spPr>
          <a:xfrm>
            <a:off x="896112" y="2176272"/>
            <a:ext cx="100584" cy="100584"/>
          </a:xfrm>
          <a:prstGeom prst="ellipse">
            <a:avLst/>
          </a:prstGeom>
          <a:solidFill>
            <a:srgbClr val="F2C14E"/>
          </a:solidFill>
          <a:ln/>
        </p:spPr>
      </p:sp>
      <p:sp>
        <p:nvSpPr>
          <p:cNvPr id="9" name="Shape 7"/>
          <p:cNvSpPr/>
          <p:nvPr/>
        </p:nvSpPr>
        <p:spPr>
          <a:xfrm>
            <a:off x="1097280" y="2176272"/>
            <a:ext cx="100584" cy="100584"/>
          </a:xfrm>
          <a:prstGeom prst="ellipse">
            <a:avLst/>
          </a:prstGeom>
          <a:solidFill>
            <a:srgbClr val="5FD68A"/>
          </a:solidFill>
          <a:ln/>
        </p:spPr>
      </p:sp>
      <p:sp>
        <p:nvSpPr>
          <p:cNvPr id="10" name="Text 8"/>
          <p:cNvSpPr/>
          <p:nvPr/>
        </p:nvSpPr>
        <p:spPr>
          <a:xfrm>
            <a:off x="1371600" y="2057400"/>
            <a:ext cx="5029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494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R1(config)#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804672" y="2514600"/>
            <a:ext cx="5522976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5FD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R1(config)# router rip</a:t>
            </a:r>
            <a:endParaRPr lang="en-US" sz="14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5FD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R1(config-router)# version 2</a:t>
            </a:r>
            <a:endParaRPr lang="en-US" sz="14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5FD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R1(config-router)# network 192.168.1.0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903720" y="2057400"/>
            <a:ext cx="4754880" cy="4023360"/>
          </a:xfrm>
          <a:prstGeom prst="roundRect">
            <a:avLst>
              <a:gd name="adj" fmla="val 2727"/>
            </a:avLst>
          </a:prstGeom>
          <a:solidFill>
            <a:srgbClr val="25335C"/>
          </a:solidFill>
          <a:ln/>
        </p:spPr>
      </p:sp>
      <p:sp>
        <p:nvSpPr>
          <p:cNvPr id="13" name="Text 11"/>
          <p:cNvSpPr/>
          <p:nvPr/>
        </p:nvSpPr>
        <p:spPr>
          <a:xfrm>
            <a:off x="7178040" y="228600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F2A1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RIP PICKS A ROUTE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178040" y="2743200"/>
            <a:ext cx="128016" cy="128016"/>
          </a:xfrm>
          <a:prstGeom prst="ellipse">
            <a:avLst/>
          </a:prstGeom>
          <a:solidFill>
            <a:srgbClr val="F2A104"/>
          </a:solidFill>
          <a:ln/>
        </p:spPr>
      </p:sp>
      <p:sp>
        <p:nvSpPr>
          <p:cNvPr id="15" name="Text 13"/>
          <p:cNvSpPr/>
          <p:nvPr/>
        </p:nvSpPr>
        <p:spPr>
          <a:xfrm>
            <a:off x="7452360" y="260604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Metric: hop count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452360" y="292608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9FB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hops always wins — a 3-hop route beats a 5-hop route.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7178040" y="3794760"/>
            <a:ext cx="128016" cy="128016"/>
          </a:xfrm>
          <a:prstGeom prst="ellipse">
            <a:avLst/>
          </a:prstGeom>
          <a:solidFill>
            <a:srgbClr val="F2A104"/>
          </a:solidFill>
          <a:ln/>
        </p:spPr>
      </p:sp>
      <p:sp>
        <p:nvSpPr>
          <p:cNvPr id="18" name="Text 16"/>
          <p:cNvSpPr/>
          <p:nvPr/>
        </p:nvSpPr>
        <p:spPr>
          <a:xfrm>
            <a:off x="7452360" y="365760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15 hops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452360" y="397764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9FB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is considered unreachable — RIP does not scale to large networks.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178040" y="4846320"/>
            <a:ext cx="128016" cy="128016"/>
          </a:xfrm>
          <a:prstGeom prst="ellipse">
            <a:avLst/>
          </a:prstGeom>
          <a:solidFill>
            <a:srgbClr val="F2A104"/>
          </a:solidFill>
          <a:ln/>
        </p:spPr>
      </p:sp>
      <p:sp>
        <p:nvSpPr>
          <p:cNvPr id="21" name="Text 19"/>
          <p:cNvSpPr/>
          <p:nvPr/>
        </p:nvSpPr>
        <p:spPr>
          <a:xfrm>
            <a:off x="7452360" y="470916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Periodic updates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452360" y="502920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9FB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Neighbors exchange their full routing table on a fixed timer.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48640" y="4343400"/>
            <a:ext cx="6035040" cy="1737360"/>
          </a:xfrm>
          <a:prstGeom prst="roundRect">
            <a:avLst>
              <a:gd name="adj" fmla="val 5263"/>
            </a:avLst>
          </a:prstGeom>
          <a:solidFill>
            <a:srgbClr val="0D1420"/>
          </a:solidFill>
          <a:ln w="12700">
            <a:solidFill>
              <a:srgbClr val="2A3B5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48640" y="4343400"/>
            <a:ext cx="6035040" cy="329184"/>
          </a:xfrm>
          <a:prstGeom prst="roundRect">
            <a:avLst>
              <a:gd name="adj" fmla="val 27778"/>
            </a:avLst>
          </a:prstGeom>
          <a:solidFill>
            <a:srgbClr val="17233A"/>
          </a:solidFill>
          <a:ln/>
        </p:spPr>
      </p:sp>
      <p:sp>
        <p:nvSpPr>
          <p:cNvPr id="25" name="Shape 23"/>
          <p:cNvSpPr/>
          <p:nvPr/>
        </p:nvSpPr>
        <p:spPr>
          <a:xfrm>
            <a:off x="694944" y="4462272"/>
            <a:ext cx="100584" cy="100584"/>
          </a:xfrm>
          <a:prstGeom prst="ellipse">
            <a:avLst/>
          </a:prstGeom>
          <a:solidFill>
            <a:srgbClr val="F25F5C"/>
          </a:solidFill>
          <a:ln/>
        </p:spPr>
      </p:sp>
      <p:sp>
        <p:nvSpPr>
          <p:cNvPr id="26" name="Shape 24"/>
          <p:cNvSpPr/>
          <p:nvPr/>
        </p:nvSpPr>
        <p:spPr>
          <a:xfrm>
            <a:off x="896112" y="4462272"/>
            <a:ext cx="100584" cy="100584"/>
          </a:xfrm>
          <a:prstGeom prst="ellipse">
            <a:avLst/>
          </a:prstGeom>
          <a:solidFill>
            <a:srgbClr val="F2C14E"/>
          </a:solidFill>
          <a:ln/>
        </p:spPr>
      </p:sp>
      <p:sp>
        <p:nvSpPr>
          <p:cNvPr id="27" name="Shape 25"/>
          <p:cNvSpPr/>
          <p:nvPr/>
        </p:nvSpPr>
        <p:spPr>
          <a:xfrm>
            <a:off x="1097280" y="4462272"/>
            <a:ext cx="100584" cy="100584"/>
          </a:xfrm>
          <a:prstGeom prst="ellipse">
            <a:avLst/>
          </a:prstGeom>
          <a:solidFill>
            <a:srgbClr val="5FD68A"/>
          </a:solidFill>
          <a:ln/>
        </p:spPr>
      </p:sp>
      <p:sp>
        <p:nvSpPr>
          <p:cNvPr id="28" name="Text 26"/>
          <p:cNvSpPr/>
          <p:nvPr/>
        </p:nvSpPr>
        <p:spPr>
          <a:xfrm>
            <a:off x="1371600" y="4343400"/>
            <a:ext cx="5029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494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R1#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804672" y="4800600"/>
            <a:ext cx="5522976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5FD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R1# show ip route rip</a:t>
            </a:r>
            <a:endParaRPr lang="en-US" sz="12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D7E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    172.16.0.0/16 [120/2] via 192.168.1.4</a:t>
            </a:r>
            <a:endParaRPr lang="en-US" sz="1200" dirty="0"/>
          </a:p>
          <a:p>
            <a:pPr marL="0" indent="0">
              <a:lnSpc>
                <a:spcPct val="135000"/>
              </a:lnSpc>
              <a:buNone/>
            </a:pPr>
            <a:endParaRPr lang="en-US" sz="12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6B7A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! [120/2] = AD 120, metric 2 hops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D9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57200" y="635508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200" dirty="0">
                <a:solidFill>
                  <a:srgbClr val="7E8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 FUNDAMENTALS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A1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— LINK STATE IN PRACTICE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Configuring OSPF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a full topology map and computes the shortest path — scales to large, hierarchical networks.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11091672" cy="1371600"/>
          </a:xfrm>
          <a:prstGeom prst="roundRect">
            <a:avLst>
              <a:gd name="adj" fmla="val 6667"/>
            </a:avLst>
          </a:prstGeom>
          <a:solidFill>
            <a:srgbClr val="0D1420"/>
          </a:solidFill>
          <a:ln w="12700">
            <a:solidFill>
              <a:srgbClr val="2A3B5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2103120"/>
            <a:ext cx="11091672" cy="329184"/>
          </a:xfrm>
          <a:prstGeom prst="roundRect">
            <a:avLst>
              <a:gd name="adj" fmla="val 27778"/>
            </a:avLst>
          </a:prstGeom>
          <a:solidFill>
            <a:srgbClr val="17233A"/>
          </a:solidFill>
          <a:ln/>
        </p:spPr>
      </p:sp>
      <p:sp>
        <p:nvSpPr>
          <p:cNvPr id="7" name="Shape 5"/>
          <p:cNvSpPr/>
          <p:nvPr/>
        </p:nvSpPr>
        <p:spPr>
          <a:xfrm>
            <a:off x="694944" y="2221992"/>
            <a:ext cx="100584" cy="100584"/>
          </a:xfrm>
          <a:prstGeom prst="ellipse">
            <a:avLst/>
          </a:prstGeom>
          <a:solidFill>
            <a:srgbClr val="F25F5C"/>
          </a:solidFill>
          <a:ln/>
        </p:spPr>
      </p:sp>
      <p:sp>
        <p:nvSpPr>
          <p:cNvPr id="8" name="Shape 6"/>
          <p:cNvSpPr/>
          <p:nvPr/>
        </p:nvSpPr>
        <p:spPr>
          <a:xfrm>
            <a:off x="896112" y="2221992"/>
            <a:ext cx="100584" cy="100584"/>
          </a:xfrm>
          <a:prstGeom prst="ellipse">
            <a:avLst/>
          </a:prstGeom>
          <a:solidFill>
            <a:srgbClr val="F2C14E"/>
          </a:solidFill>
          <a:ln/>
        </p:spPr>
      </p:sp>
      <p:sp>
        <p:nvSpPr>
          <p:cNvPr id="9" name="Shape 7"/>
          <p:cNvSpPr/>
          <p:nvPr/>
        </p:nvSpPr>
        <p:spPr>
          <a:xfrm>
            <a:off x="1097280" y="2221992"/>
            <a:ext cx="100584" cy="100584"/>
          </a:xfrm>
          <a:prstGeom prst="ellipse">
            <a:avLst/>
          </a:prstGeom>
          <a:solidFill>
            <a:srgbClr val="5FD68A"/>
          </a:solidFill>
          <a:ln/>
        </p:spPr>
      </p:sp>
      <p:sp>
        <p:nvSpPr>
          <p:cNvPr id="10" name="Text 8"/>
          <p:cNvSpPr/>
          <p:nvPr/>
        </p:nvSpPr>
        <p:spPr>
          <a:xfrm>
            <a:off x="1371600" y="2103120"/>
            <a:ext cx="1008583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494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R1(config)#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804672" y="2560320"/>
            <a:ext cx="10579608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5FD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R1(config)# router ospf 1</a:t>
            </a:r>
            <a:endParaRPr lang="en-US" sz="15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5FD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R1(config-router)# network 192.168.1.0 0.0.0.255 area 0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48640" y="3794760"/>
            <a:ext cx="3520440" cy="2377440"/>
          </a:xfrm>
          <a:prstGeom prst="roundRect">
            <a:avLst>
              <a:gd name="adj" fmla="val 3846"/>
            </a:avLst>
          </a:prstGeom>
          <a:solidFill>
            <a:srgbClr val="1B2A4A"/>
          </a:solidFill>
          <a:ln/>
          <a:effectLst>
            <a:outerShdw blurRad="101600" dist="38100" dir="5400000" algn="bl" rotWithShape="0">
              <a:srgbClr val="1B2A4A">
                <a:alpha val="1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77240" y="4023360"/>
            <a:ext cx="548640" cy="548640"/>
          </a:xfrm>
          <a:prstGeom prst="ellipse">
            <a:avLst/>
          </a:prstGeom>
          <a:solidFill>
            <a:srgbClr val="F2A104"/>
          </a:solidFill>
          <a:ln/>
        </p:spPr>
      </p:sp>
      <p:pic>
        <p:nvPicPr>
          <p:cNvPr id="14" name="Image 0" descr="icons/meshnetwork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112" y="4142232"/>
            <a:ext cx="310896" cy="310896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777240" y="4709160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Link-State Advertisements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777240" y="5212080"/>
            <a:ext cx="3063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FB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Routers flood LSAs describing their directly connected links to the whole area.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4325112" y="3794760"/>
            <a:ext cx="3520440" cy="2377440"/>
          </a:xfrm>
          <a:prstGeom prst="roundRect">
            <a:avLst>
              <a:gd name="adj" fmla="val 3846"/>
            </a:avLst>
          </a:prstGeom>
          <a:solidFill>
            <a:srgbClr val="1B2A4A"/>
          </a:solidFill>
          <a:ln/>
          <a:effectLst>
            <a:outerShdw blurRad="101600" dist="38100" dir="5400000" algn="bl" rotWithShape="0">
              <a:srgbClr val="1B2A4A">
                <a:alpha val="15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4553712" y="4023360"/>
            <a:ext cx="548640" cy="548640"/>
          </a:xfrm>
          <a:prstGeom prst="ellipse">
            <a:avLst/>
          </a:prstGeom>
          <a:solidFill>
            <a:srgbClr val="F2A104"/>
          </a:solidFill>
          <a:ln/>
        </p:spPr>
      </p:sp>
      <p:pic>
        <p:nvPicPr>
          <p:cNvPr id="19" name="Image 1" descr="icons/zap_nav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72584" y="4142232"/>
            <a:ext cx="310896" cy="310896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4553712" y="4709160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Dijkstra's Algorithm</a:t>
            </a:r>
            <a:endParaRPr lang="en-US" sz="1300" dirty="0"/>
          </a:p>
        </p:txBody>
      </p:sp>
      <p:sp>
        <p:nvSpPr>
          <p:cNvPr id="21" name="Text 17"/>
          <p:cNvSpPr/>
          <p:nvPr/>
        </p:nvSpPr>
        <p:spPr>
          <a:xfrm>
            <a:off x="4553712" y="5212080"/>
            <a:ext cx="3063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FB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router independently computes the shortest path to every network.</a:t>
            </a:r>
            <a:endParaRPr lang="en-US" sz="1000" dirty="0"/>
          </a:p>
        </p:txBody>
      </p:sp>
      <p:sp>
        <p:nvSpPr>
          <p:cNvPr id="22" name="Shape 18"/>
          <p:cNvSpPr/>
          <p:nvPr/>
        </p:nvSpPr>
        <p:spPr>
          <a:xfrm>
            <a:off x="8101584" y="3794760"/>
            <a:ext cx="3520440" cy="2377440"/>
          </a:xfrm>
          <a:prstGeom prst="roundRect">
            <a:avLst>
              <a:gd name="adj" fmla="val 3846"/>
            </a:avLst>
          </a:prstGeom>
          <a:solidFill>
            <a:srgbClr val="1B2A4A"/>
          </a:solidFill>
          <a:ln/>
          <a:effectLst>
            <a:outerShdw blurRad="101600" dist="38100" dir="5400000" algn="bl" rotWithShape="0">
              <a:srgbClr val="1B2A4A">
                <a:alpha val="15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8330184" y="4023360"/>
            <a:ext cx="548640" cy="548640"/>
          </a:xfrm>
          <a:prstGeom prst="ellipse">
            <a:avLst/>
          </a:prstGeom>
          <a:solidFill>
            <a:srgbClr val="F2A104"/>
          </a:solidFill>
          <a:ln/>
        </p:spPr>
      </p:sp>
      <p:pic>
        <p:nvPicPr>
          <p:cNvPr id="24" name="Image 2" descr="icons/layers_nav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49056" y="4142232"/>
            <a:ext cx="310896" cy="310896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8330184" y="4709160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Areas &amp; Hierarchy</a:t>
            </a:r>
            <a:endParaRPr lang="en-US" sz="1300" dirty="0"/>
          </a:p>
        </p:txBody>
      </p:sp>
      <p:sp>
        <p:nvSpPr>
          <p:cNvPr id="26" name="Text 21"/>
          <p:cNvSpPr/>
          <p:nvPr/>
        </p:nvSpPr>
        <p:spPr>
          <a:xfrm>
            <a:off x="8330184" y="5212080"/>
            <a:ext cx="3063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FB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 0 is the backbone; other areas connect through it to control LSA flooding.</a:t>
            </a:r>
            <a:endParaRPr lang="en-US" sz="1000" dirty="0"/>
          </a:p>
        </p:txBody>
      </p:sp>
      <p:sp>
        <p:nvSpPr>
          <p:cNvPr id="27" name="Text 22"/>
          <p:cNvSpPr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C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100" dirty="0"/>
          </a:p>
        </p:txBody>
      </p:sp>
      <p:sp>
        <p:nvSpPr>
          <p:cNvPr id="28" name="Text 23"/>
          <p:cNvSpPr/>
          <p:nvPr/>
        </p:nvSpPr>
        <p:spPr>
          <a:xfrm>
            <a:off x="457200" y="635508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200" dirty="0">
                <a:solidFill>
                  <a:srgbClr val="9AA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 FUNDAMENTALS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A1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— TRACING A PACKET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058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Routing in Action — Hop by Hop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D9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packet from 192.168.1.10 travels through three routers to reach a server at 10.0.0.20.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1874520" cy="1417320"/>
          </a:xfrm>
          <a:prstGeom prst="roundRect">
            <a:avLst>
              <a:gd name="adj" fmla="val 6452"/>
            </a:avLst>
          </a:prstGeom>
          <a:solidFill>
            <a:srgbClr val="2A3B67"/>
          </a:solidFill>
          <a:ln/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229868" y="2194560"/>
            <a:ext cx="512064" cy="512064"/>
          </a:xfrm>
          <a:prstGeom prst="ellipse">
            <a:avLst/>
          </a:prstGeom>
          <a:solidFill>
            <a:srgbClr val="11192E"/>
          </a:solidFill>
          <a:ln/>
        </p:spPr>
      </p:sp>
      <p:pic>
        <p:nvPicPr>
          <p:cNvPr id="7" name="Image 0" descr="icons/server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9596" y="2304288"/>
            <a:ext cx="292608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94360" y="2743200"/>
            <a:ext cx="1783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594360" y="2999232"/>
            <a:ext cx="1783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850" dirty="0">
                <a:solidFill>
                  <a:srgbClr val="9FB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192.168.1.10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2432304" y="2720340"/>
            <a:ext cx="128016" cy="0"/>
          </a:xfrm>
          <a:prstGeom prst="line">
            <a:avLst/>
          </a:prstGeom>
          <a:noFill/>
          <a:ln w="25400">
            <a:solidFill>
              <a:srgbClr val="F2A104"/>
            </a:solidFill>
            <a:prstDash val="solid"/>
            <a:tailEnd type="triangle"/>
          </a:ln>
        </p:spPr>
      </p:sp>
      <p:sp>
        <p:nvSpPr>
          <p:cNvPr id="11" name="Shape 8"/>
          <p:cNvSpPr/>
          <p:nvPr/>
        </p:nvSpPr>
        <p:spPr>
          <a:xfrm>
            <a:off x="2569464" y="2011680"/>
            <a:ext cx="1874520" cy="1417320"/>
          </a:xfrm>
          <a:prstGeom prst="roundRect">
            <a:avLst>
              <a:gd name="adj" fmla="val 6452"/>
            </a:avLst>
          </a:prstGeom>
          <a:solidFill>
            <a:srgbClr val="25335C"/>
          </a:solidFill>
          <a:ln/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250692" y="2194560"/>
            <a:ext cx="512064" cy="512064"/>
          </a:xfrm>
          <a:prstGeom prst="ellipse">
            <a:avLst/>
          </a:prstGeom>
          <a:solidFill>
            <a:srgbClr val="11192E"/>
          </a:solidFill>
          <a:ln/>
        </p:spPr>
      </p:sp>
      <p:pic>
        <p:nvPicPr>
          <p:cNvPr id="13" name="Image 1" descr="icons/router_nav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60420" y="2304288"/>
            <a:ext cx="292608" cy="29260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615184" y="2743200"/>
            <a:ext cx="1783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 1</a:t>
            </a:r>
            <a:endParaRPr lang="en-US" sz="1150" dirty="0"/>
          </a:p>
        </p:txBody>
      </p:sp>
      <p:sp>
        <p:nvSpPr>
          <p:cNvPr id="15" name="Text 11"/>
          <p:cNvSpPr/>
          <p:nvPr/>
        </p:nvSpPr>
        <p:spPr>
          <a:xfrm>
            <a:off x="2615184" y="2999232"/>
            <a:ext cx="1783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850" dirty="0">
                <a:solidFill>
                  <a:srgbClr val="9FB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gateway</a:t>
            </a:r>
            <a:endParaRPr lang="en-US" sz="850" dirty="0"/>
          </a:p>
        </p:txBody>
      </p:sp>
      <p:sp>
        <p:nvSpPr>
          <p:cNvPr id="16" name="Shape 12"/>
          <p:cNvSpPr/>
          <p:nvPr/>
        </p:nvSpPr>
        <p:spPr>
          <a:xfrm>
            <a:off x="4453128" y="2720340"/>
            <a:ext cx="128016" cy="0"/>
          </a:xfrm>
          <a:prstGeom prst="line">
            <a:avLst/>
          </a:prstGeom>
          <a:noFill/>
          <a:ln w="25400">
            <a:solidFill>
              <a:srgbClr val="F2A104"/>
            </a:solidFill>
            <a:prstDash val="solid"/>
            <a:tailEnd type="triangle"/>
          </a:ln>
        </p:spPr>
      </p:sp>
      <p:sp>
        <p:nvSpPr>
          <p:cNvPr id="17" name="Shape 13"/>
          <p:cNvSpPr/>
          <p:nvPr/>
        </p:nvSpPr>
        <p:spPr>
          <a:xfrm>
            <a:off x="4590288" y="2011680"/>
            <a:ext cx="1874520" cy="1417320"/>
          </a:xfrm>
          <a:prstGeom prst="roundRect">
            <a:avLst>
              <a:gd name="adj" fmla="val 6452"/>
            </a:avLst>
          </a:prstGeom>
          <a:solidFill>
            <a:srgbClr val="25335C"/>
          </a:solidFill>
          <a:ln/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5271516" y="2194560"/>
            <a:ext cx="512064" cy="512064"/>
          </a:xfrm>
          <a:prstGeom prst="ellipse">
            <a:avLst/>
          </a:prstGeom>
          <a:solidFill>
            <a:srgbClr val="11192E"/>
          </a:solidFill>
          <a:ln/>
        </p:spPr>
      </p:sp>
      <p:pic>
        <p:nvPicPr>
          <p:cNvPr id="19" name="Image 2" descr="icons/router_nav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81244" y="2304288"/>
            <a:ext cx="292608" cy="292608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4636008" y="2743200"/>
            <a:ext cx="1783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 2</a:t>
            </a:r>
            <a:endParaRPr lang="en-US" sz="1150" dirty="0"/>
          </a:p>
        </p:txBody>
      </p:sp>
      <p:sp>
        <p:nvSpPr>
          <p:cNvPr id="21" name="Text 16"/>
          <p:cNvSpPr/>
          <p:nvPr/>
        </p:nvSpPr>
        <p:spPr>
          <a:xfrm>
            <a:off x="4636008" y="2999232"/>
            <a:ext cx="1783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850" dirty="0">
                <a:solidFill>
                  <a:srgbClr val="9FB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hop lookup</a:t>
            </a:r>
            <a:endParaRPr lang="en-US" sz="850" dirty="0"/>
          </a:p>
        </p:txBody>
      </p:sp>
      <p:sp>
        <p:nvSpPr>
          <p:cNvPr id="22" name="Shape 17"/>
          <p:cNvSpPr/>
          <p:nvPr/>
        </p:nvSpPr>
        <p:spPr>
          <a:xfrm>
            <a:off x="6473952" y="2720340"/>
            <a:ext cx="128016" cy="0"/>
          </a:xfrm>
          <a:prstGeom prst="line">
            <a:avLst/>
          </a:prstGeom>
          <a:noFill/>
          <a:ln w="25400">
            <a:solidFill>
              <a:srgbClr val="F2A104"/>
            </a:solidFill>
            <a:prstDash val="solid"/>
            <a:tailEnd type="triangle"/>
          </a:ln>
        </p:spPr>
      </p:sp>
      <p:sp>
        <p:nvSpPr>
          <p:cNvPr id="23" name="Shape 18"/>
          <p:cNvSpPr/>
          <p:nvPr/>
        </p:nvSpPr>
        <p:spPr>
          <a:xfrm>
            <a:off x="6611112" y="2011680"/>
            <a:ext cx="1874520" cy="1417320"/>
          </a:xfrm>
          <a:prstGeom prst="roundRect">
            <a:avLst>
              <a:gd name="adj" fmla="val 6452"/>
            </a:avLst>
          </a:prstGeom>
          <a:solidFill>
            <a:srgbClr val="25335C"/>
          </a:solidFill>
          <a:ln/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7292340" y="2194560"/>
            <a:ext cx="512064" cy="512064"/>
          </a:xfrm>
          <a:prstGeom prst="ellipse">
            <a:avLst/>
          </a:prstGeom>
          <a:solidFill>
            <a:srgbClr val="11192E"/>
          </a:solidFill>
          <a:ln/>
        </p:spPr>
      </p:sp>
      <p:pic>
        <p:nvPicPr>
          <p:cNvPr id="25" name="Image 3" descr="icons/router_nav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02068" y="2304288"/>
            <a:ext cx="292608" cy="292608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6656832" y="2743200"/>
            <a:ext cx="1783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 3</a:t>
            </a:r>
            <a:endParaRPr lang="en-US" sz="1150" dirty="0"/>
          </a:p>
        </p:txBody>
      </p:sp>
      <p:sp>
        <p:nvSpPr>
          <p:cNvPr id="27" name="Text 21"/>
          <p:cNvSpPr/>
          <p:nvPr/>
        </p:nvSpPr>
        <p:spPr>
          <a:xfrm>
            <a:off x="6656832" y="2999232"/>
            <a:ext cx="1783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850" dirty="0">
                <a:solidFill>
                  <a:srgbClr val="9FB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hop</a:t>
            </a:r>
            <a:endParaRPr lang="en-US" sz="850" dirty="0"/>
          </a:p>
        </p:txBody>
      </p:sp>
      <p:sp>
        <p:nvSpPr>
          <p:cNvPr id="28" name="Shape 22"/>
          <p:cNvSpPr/>
          <p:nvPr/>
        </p:nvSpPr>
        <p:spPr>
          <a:xfrm>
            <a:off x="8494776" y="2720340"/>
            <a:ext cx="128016" cy="0"/>
          </a:xfrm>
          <a:prstGeom prst="line">
            <a:avLst/>
          </a:prstGeom>
          <a:noFill/>
          <a:ln w="25400">
            <a:solidFill>
              <a:srgbClr val="F2A104"/>
            </a:solidFill>
            <a:prstDash val="solid"/>
            <a:tailEnd type="triangle"/>
          </a:ln>
        </p:spPr>
      </p:sp>
      <p:sp>
        <p:nvSpPr>
          <p:cNvPr id="29" name="Shape 23"/>
          <p:cNvSpPr/>
          <p:nvPr/>
        </p:nvSpPr>
        <p:spPr>
          <a:xfrm>
            <a:off x="8631936" y="2011680"/>
            <a:ext cx="1874520" cy="1417320"/>
          </a:xfrm>
          <a:prstGeom prst="roundRect">
            <a:avLst>
              <a:gd name="adj" fmla="val 6452"/>
            </a:avLst>
          </a:prstGeom>
          <a:solidFill>
            <a:srgbClr val="F2A104"/>
          </a:solidFill>
          <a:ln/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30" name="Shape 24"/>
          <p:cNvSpPr/>
          <p:nvPr/>
        </p:nvSpPr>
        <p:spPr>
          <a:xfrm>
            <a:off x="9313164" y="2194560"/>
            <a:ext cx="512064" cy="512064"/>
          </a:xfrm>
          <a:prstGeom prst="ellipse">
            <a:avLst/>
          </a:prstGeom>
          <a:solidFill>
            <a:srgbClr val="11192E"/>
          </a:solidFill>
          <a:ln/>
        </p:spPr>
      </p:sp>
      <p:pic>
        <p:nvPicPr>
          <p:cNvPr id="31" name="Image 4" descr="icons/db_nav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22892" y="2304288"/>
            <a:ext cx="292608" cy="292608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8677656" y="2743200"/>
            <a:ext cx="1783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11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Destination</a:t>
            </a:r>
            <a:endParaRPr lang="en-US" sz="1150" dirty="0"/>
          </a:p>
        </p:txBody>
      </p:sp>
      <p:sp>
        <p:nvSpPr>
          <p:cNvPr id="33" name="Text 26"/>
          <p:cNvSpPr/>
          <p:nvPr/>
        </p:nvSpPr>
        <p:spPr>
          <a:xfrm>
            <a:off x="8677656" y="2999232"/>
            <a:ext cx="1783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850" dirty="0">
                <a:solidFill>
                  <a:srgbClr val="111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10.0.0.20</a:t>
            </a:r>
            <a:endParaRPr lang="en-US" sz="850" dirty="0"/>
          </a:p>
        </p:txBody>
      </p:sp>
      <p:sp>
        <p:nvSpPr>
          <p:cNvPr id="34" name="Text 27"/>
          <p:cNvSpPr/>
          <p:nvPr/>
        </p:nvSpPr>
        <p:spPr>
          <a:xfrm>
            <a:off x="548640" y="356616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9FB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hop: inspects the destination IP  →  consults its routing table  →  forwards out the right interface.</a:t>
            </a:r>
            <a:endParaRPr lang="en-US" sz="1200" dirty="0"/>
          </a:p>
        </p:txBody>
      </p:sp>
      <p:sp>
        <p:nvSpPr>
          <p:cNvPr id="35" name="Shape 28"/>
          <p:cNvSpPr/>
          <p:nvPr/>
        </p:nvSpPr>
        <p:spPr>
          <a:xfrm>
            <a:off x="548640" y="3977640"/>
            <a:ext cx="11091672" cy="2331720"/>
          </a:xfrm>
          <a:prstGeom prst="roundRect">
            <a:avLst>
              <a:gd name="adj" fmla="val 3922"/>
            </a:avLst>
          </a:prstGeom>
          <a:solidFill>
            <a:srgbClr val="0D1420"/>
          </a:solidFill>
          <a:ln w="12700">
            <a:solidFill>
              <a:srgbClr val="2A3B5C"/>
            </a:solidFill>
            <a:prstDash val="solid"/>
          </a:ln>
        </p:spPr>
      </p:sp>
      <p:sp>
        <p:nvSpPr>
          <p:cNvPr id="36" name="Shape 29"/>
          <p:cNvSpPr/>
          <p:nvPr/>
        </p:nvSpPr>
        <p:spPr>
          <a:xfrm>
            <a:off x="548640" y="3977640"/>
            <a:ext cx="11091672" cy="329184"/>
          </a:xfrm>
          <a:prstGeom prst="roundRect">
            <a:avLst>
              <a:gd name="adj" fmla="val 27778"/>
            </a:avLst>
          </a:prstGeom>
          <a:solidFill>
            <a:srgbClr val="17233A"/>
          </a:solidFill>
          <a:ln/>
        </p:spPr>
      </p:sp>
      <p:sp>
        <p:nvSpPr>
          <p:cNvPr id="37" name="Shape 30"/>
          <p:cNvSpPr/>
          <p:nvPr/>
        </p:nvSpPr>
        <p:spPr>
          <a:xfrm>
            <a:off x="694944" y="4096512"/>
            <a:ext cx="100584" cy="100584"/>
          </a:xfrm>
          <a:prstGeom prst="ellipse">
            <a:avLst/>
          </a:prstGeom>
          <a:solidFill>
            <a:srgbClr val="F25F5C"/>
          </a:solidFill>
          <a:ln/>
        </p:spPr>
      </p:sp>
      <p:sp>
        <p:nvSpPr>
          <p:cNvPr id="38" name="Shape 31"/>
          <p:cNvSpPr/>
          <p:nvPr/>
        </p:nvSpPr>
        <p:spPr>
          <a:xfrm>
            <a:off x="896112" y="4096512"/>
            <a:ext cx="100584" cy="100584"/>
          </a:xfrm>
          <a:prstGeom prst="ellipse">
            <a:avLst/>
          </a:prstGeom>
          <a:solidFill>
            <a:srgbClr val="F2C14E"/>
          </a:solidFill>
          <a:ln/>
        </p:spPr>
      </p:sp>
      <p:sp>
        <p:nvSpPr>
          <p:cNvPr id="39" name="Shape 32"/>
          <p:cNvSpPr/>
          <p:nvPr/>
        </p:nvSpPr>
        <p:spPr>
          <a:xfrm>
            <a:off x="1097280" y="4096512"/>
            <a:ext cx="100584" cy="100584"/>
          </a:xfrm>
          <a:prstGeom prst="ellipse">
            <a:avLst/>
          </a:prstGeom>
          <a:solidFill>
            <a:srgbClr val="5FD68A"/>
          </a:solidFill>
          <a:ln/>
        </p:spPr>
      </p:sp>
      <p:sp>
        <p:nvSpPr>
          <p:cNvPr id="40" name="Text 33"/>
          <p:cNvSpPr/>
          <p:nvPr/>
        </p:nvSpPr>
        <p:spPr>
          <a:xfrm>
            <a:off x="1371600" y="3977640"/>
            <a:ext cx="1008583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494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C:\&gt;</a:t>
            </a:r>
            <a:endParaRPr lang="en-US" sz="950" dirty="0"/>
          </a:p>
        </p:txBody>
      </p:sp>
      <p:sp>
        <p:nvSpPr>
          <p:cNvPr id="41" name="Text 34"/>
          <p:cNvSpPr/>
          <p:nvPr/>
        </p:nvSpPr>
        <p:spPr>
          <a:xfrm>
            <a:off x="804672" y="4434840"/>
            <a:ext cx="10579608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D7E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C:\&gt; tracert 10.0.0.20</a:t>
            </a:r>
            <a:endParaRPr lang="en-US" sz="1150" dirty="0"/>
          </a:p>
          <a:p>
            <a:pPr marL="0" indent="0">
              <a:lnSpc>
                <a:spcPct val="135000"/>
              </a:lnSpc>
              <a:buNone/>
            </a:pPr>
            <a:endParaRPr lang="en-US" sz="11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D7E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1    2 ms    2 ms    1 ms  192.168.1.1   (Router 1)</a:t>
            </a:r>
            <a:endParaRPr lang="en-US" sz="11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D7E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2    5 ms    4 ms    5 ms  10.10.10.1    (Router 2)</a:t>
            </a:r>
            <a:endParaRPr lang="en-US" sz="11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D7E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3    8 ms    7 ms    8 ms  10.10.20.1    (Router 3)</a:t>
            </a:r>
            <a:endParaRPr lang="en-US" sz="11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D7E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4    9 ms    9 ms   10 ms  10.0.0.20     (Destination)</a:t>
            </a:r>
            <a:endParaRPr lang="en-US" sz="1150" dirty="0"/>
          </a:p>
        </p:txBody>
      </p:sp>
      <p:sp>
        <p:nvSpPr>
          <p:cNvPr id="42" name="Text 35"/>
          <p:cNvSpPr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D9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100" dirty="0"/>
          </a:p>
        </p:txBody>
      </p:sp>
      <p:sp>
        <p:nvSpPr>
          <p:cNvPr id="43" name="Text 36"/>
          <p:cNvSpPr/>
          <p:nvPr/>
        </p:nvSpPr>
        <p:spPr>
          <a:xfrm>
            <a:off x="457200" y="635508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200" dirty="0">
                <a:solidFill>
                  <a:srgbClr val="7E8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 FUNDAMENTALS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A1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— HANDS-ON LAB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058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Configuring Static &amp; Dynamic Routes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C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full command sequence for both a static route and an OSPF process, ready to type into a Cisco CLI.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48640" y="205740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50" dirty="0">
                <a:solidFill>
                  <a:srgbClr val="F2A1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ROUTE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48640" y="2377440"/>
            <a:ext cx="5303520" cy="3200400"/>
          </a:xfrm>
          <a:prstGeom prst="roundRect">
            <a:avLst>
              <a:gd name="adj" fmla="val 2857"/>
            </a:avLst>
          </a:prstGeom>
          <a:solidFill>
            <a:srgbClr val="0D1420"/>
          </a:solidFill>
          <a:ln w="12700">
            <a:solidFill>
              <a:srgbClr val="2A3B5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2377440"/>
            <a:ext cx="5303520" cy="329184"/>
          </a:xfrm>
          <a:prstGeom prst="roundRect">
            <a:avLst>
              <a:gd name="adj" fmla="val 27778"/>
            </a:avLst>
          </a:prstGeom>
          <a:solidFill>
            <a:srgbClr val="17233A"/>
          </a:solidFill>
          <a:ln/>
        </p:spPr>
      </p:sp>
      <p:sp>
        <p:nvSpPr>
          <p:cNvPr id="8" name="Shape 6"/>
          <p:cNvSpPr/>
          <p:nvPr/>
        </p:nvSpPr>
        <p:spPr>
          <a:xfrm>
            <a:off x="694944" y="2496312"/>
            <a:ext cx="100584" cy="100584"/>
          </a:xfrm>
          <a:prstGeom prst="ellipse">
            <a:avLst/>
          </a:prstGeom>
          <a:solidFill>
            <a:srgbClr val="F25F5C"/>
          </a:solidFill>
          <a:ln/>
        </p:spPr>
      </p:sp>
      <p:sp>
        <p:nvSpPr>
          <p:cNvPr id="9" name="Shape 7"/>
          <p:cNvSpPr/>
          <p:nvPr/>
        </p:nvSpPr>
        <p:spPr>
          <a:xfrm>
            <a:off x="896112" y="2496312"/>
            <a:ext cx="100584" cy="100584"/>
          </a:xfrm>
          <a:prstGeom prst="ellipse">
            <a:avLst/>
          </a:prstGeom>
          <a:solidFill>
            <a:srgbClr val="F2C14E"/>
          </a:solidFill>
          <a:ln/>
        </p:spPr>
      </p:sp>
      <p:sp>
        <p:nvSpPr>
          <p:cNvPr id="10" name="Shape 8"/>
          <p:cNvSpPr/>
          <p:nvPr/>
        </p:nvSpPr>
        <p:spPr>
          <a:xfrm>
            <a:off x="1097280" y="2496312"/>
            <a:ext cx="100584" cy="100584"/>
          </a:xfrm>
          <a:prstGeom prst="ellipse">
            <a:avLst/>
          </a:prstGeom>
          <a:solidFill>
            <a:srgbClr val="5FD68A"/>
          </a:solidFill>
          <a:ln/>
        </p:spPr>
      </p:sp>
      <p:sp>
        <p:nvSpPr>
          <p:cNvPr id="11" name="Text 9"/>
          <p:cNvSpPr/>
          <p:nvPr/>
        </p:nvSpPr>
        <p:spPr>
          <a:xfrm>
            <a:off x="1371600" y="2377440"/>
            <a:ext cx="4297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494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804672" y="2834640"/>
            <a:ext cx="4791456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5FD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R1&gt; enable</a:t>
            </a:r>
            <a:endParaRPr lang="en-US" sz="12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5FD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R1# configure terminal</a:t>
            </a:r>
            <a:endParaRPr lang="en-US" sz="1200" dirty="0"/>
          </a:p>
          <a:p>
            <a:pPr marL="0" indent="0">
              <a:lnSpc>
                <a:spcPct val="135000"/>
              </a:lnSpc>
              <a:buNone/>
            </a:pPr>
            <a:endParaRPr lang="en-US" sz="12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6B7A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! Create the static route</a:t>
            </a:r>
            <a:endParaRPr lang="en-US" sz="12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5FD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R1(config)# ip route 172.16.0.0 255.255.0.0 192.168.1.2</a:t>
            </a:r>
            <a:endParaRPr lang="en-US" sz="1200" dirty="0"/>
          </a:p>
          <a:p>
            <a:pPr marL="0" indent="0">
              <a:lnSpc>
                <a:spcPct val="135000"/>
              </a:lnSpc>
              <a:buNone/>
            </a:pPr>
            <a:endParaRPr lang="en-US" sz="12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6B7A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! Save the configuration</a:t>
            </a:r>
            <a:endParaRPr lang="en-US" sz="12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5FD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R1(config)# end</a:t>
            </a:r>
            <a:endParaRPr lang="en-US" sz="12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5FD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R1# write memory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172200" y="2057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50" dirty="0">
                <a:solidFill>
                  <a:srgbClr val="F2A1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ROUTE (OSPF)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172200" y="2377440"/>
            <a:ext cx="5468112" cy="3200400"/>
          </a:xfrm>
          <a:prstGeom prst="roundRect">
            <a:avLst>
              <a:gd name="adj" fmla="val 2857"/>
            </a:avLst>
          </a:prstGeom>
          <a:solidFill>
            <a:srgbClr val="0D1420"/>
          </a:solidFill>
          <a:ln w="12700">
            <a:solidFill>
              <a:srgbClr val="2A3B5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172200" y="2377440"/>
            <a:ext cx="5468112" cy="329184"/>
          </a:xfrm>
          <a:prstGeom prst="roundRect">
            <a:avLst>
              <a:gd name="adj" fmla="val 27778"/>
            </a:avLst>
          </a:prstGeom>
          <a:solidFill>
            <a:srgbClr val="17233A"/>
          </a:solidFill>
          <a:ln/>
        </p:spPr>
      </p:sp>
      <p:sp>
        <p:nvSpPr>
          <p:cNvPr id="16" name="Shape 14"/>
          <p:cNvSpPr/>
          <p:nvPr/>
        </p:nvSpPr>
        <p:spPr>
          <a:xfrm>
            <a:off x="6318504" y="2496312"/>
            <a:ext cx="100584" cy="100584"/>
          </a:xfrm>
          <a:prstGeom prst="ellipse">
            <a:avLst/>
          </a:prstGeom>
          <a:solidFill>
            <a:srgbClr val="F25F5C"/>
          </a:solidFill>
          <a:ln/>
        </p:spPr>
      </p:sp>
      <p:sp>
        <p:nvSpPr>
          <p:cNvPr id="17" name="Shape 15"/>
          <p:cNvSpPr/>
          <p:nvPr/>
        </p:nvSpPr>
        <p:spPr>
          <a:xfrm>
            <a:off x="6519672" y="2496312"/>
            <a:ext cx="100584" cy="100584"/>
          </a:xfrm>
          <a:prstGeom prst="ellipse">
            <a:avLst/>
          </a:prstGeom>
          <a:solidFill>
            <a:srgbClr val="F2C14E"/>
          </a:solidFill>
          <a:ln/>
        </p:spPr>
      </p:sp>
      <p:sp>
        <p:nvSpPr>
          <p:cNvPr id="18" name="Shape 16"/>
          <p:cNvSpPr/>
          <p:nvPr/>
        </p:nvSpPr>
        <p:spPr>
          <a:xfrm>
            <a:off x="6720840" y="2496312"/>
            <a:ext cx="100584" cy="100584"/>
          </a:xfrm>
          <a:prstGeom prst="ellipse">
            <a:avLst/>
          </a:prstGeom>
          <a:solidFill>
            <a:srgbClr val="5FD68A"/>
          </a:solidFill>
          <a:ln/>
        </p:spPr>
      </p:sp>
      <p:sp>
        <p:nvSpPr>
          <p:cNvPr id="19" name="Text 17"/>
          <p:cNvSpPr/>
          <p:nvPr/>
        </p:nvSpPr>
        <p:spPr>
          <a:xfrm>
            <a:off x="6995160" y="2377440"/>
            <a:ext cx="44622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494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R1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6428232" y="2834640"/>
            <a:ext cx="4956048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5FD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R1&gt; enable</a:t>
            </a:r>
            <a:endParaRPr lang="en-US" sz="11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5FD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R1# configure terminal</a:t>
            </a:r>
            <a:endParaRPr lang="en-US" sz="11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5FD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R1(config)# router ospf 1</a:t>
            </a:r>
            <a:endParaRPr lang="en-US" sz="1100" dirty="0"/>
          </a:p>
          <a:p>
            <a:pPr marL="0" indent="0">
              <a:lnSpc>
                <a:spcPct val="135000"/>
              </a:lnSpc>
              <a:buNone/>
            </a:pPr>
            <a:endParaRPr lang="en-US" sz="11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6B7A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! Advertise both connected networks</a:t>
            </a:r>
            <a:endParaRPr lang="en-US" sz="11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5FD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R1(config-router)# network 192.168.1.0 0.0.0.255 area 0</a:t>
            </a:r>
            <a:endParaRPr lang="en-US" sz="11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5FD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R1(config-router)# network 10.0.0.0 0.255.255.255 area 0</a:t>
            </a:r>
            <a:endParaRPr lang="en-US" sz="1100" dirty="0"/>
          </a:p>
          <a:p>
            <a:pPr marL="0" indent="0">
              <a:lnSpc>
                <a:spcPct val="135000"/>
              </a:lnSpc>
              <a:buNone/>
            </a:pPr>
            <a:endParaRPr lang="en-US" sz="11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6B7A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! Verify neighbors</a:t>
            </a:r>
            <a:endParaRPr lang="en-US" sz="11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5FD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R1(config-router)# end</a:t>
            </a:r>
            <a:endParaRPr lang="en-US" sz="11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5FD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R1# show ip ospf neighbor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C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7200" y="635508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200" dirty="0">
                <a:solidFill>
                  <a:srgbClr val="9AA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 FUNDAMENTALS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A1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— SUMMARY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25335C"/>
          </a:solidFill>
          <a:ln w="12700">
            <a:solidFill>
              <a:srgbClr val="3C4C8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737360"/>
            <a:ext cx="438912" cy="438912"/>
          </a:xfrm>
          <a:prstGeom prst="ellipse">
            <a:avLst/>
          </a:prstGeom>
          <a:solidFill>
            <a:srgbClr val="F2A104"/>
          </a:solidFill>
          <a:ln/>
        </p:spPr>
      </p:sp>
      <p:pic>
        <p:nvPicPr>
          <p:cNvPr id="6" name="Image 0" descr="icons/target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1847088"/>
            <a:ext cx="237744" cy="23774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2267712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Best-path decisions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731520" y="2606040"/>
            <a:ext cx="3154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9FB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Routers determine the best path for forwarding packets using the routing table.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251960" y="155448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25335C"/>
          </a:solidFill>
          <a:ln w="12700">
            <a:solidFill>
              <a:srgbClr val="3C4C8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434840" y="1737360"/>
            <a:ext cx="438912" cy="438912"/>
          </a:xfrm>
          <a:prstGeom prst="ellipse">
            <a:avLst/>
          </a:prstGeom>
          <a:solidFill>
            <a:srgbClr val="F2A104"/>
          </a:solidFill>
          <a:ln/>
        </p:spPr>
      </p:sp>
      <p:pic>
        <p:nvPicPr>
          <p:cNvPr id="11" name="Image 1" descr="icons/db_nav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44568" y="1847088"/>
            <a:ext cx="237744" cy="23774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434840" y="2267712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route sources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4434840" y="2606040"/>
            <a:ext cx="3154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9FB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Connected, static and dynamic routes together populate the routing table.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7955280" y="155448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25335C"/>
          </a:solidFill>
          <a:ln w="12700">
            <a:solidFill>
              <a:srgbClr val="3C4C80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138160" y="1737360"/>
            <a:ext cx="438912" cy="438912"/>
          </a:xfrm>
          <a:prstGeom prst="ellipse">
            <a:avLst/>
          </a:prstGeom>
          <a:solidFill>
            <a:srgbClr val="F2A104"/>
          </a:solidFill>
          <a:ln/>
        </p:spPr>
      </p:sp>
      <p:pic>
        <p:nvPicPr>
          <p:cNvPr id="16" name="Image 2" descr="icons/settings_nav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47888" y="1847088"/>
            <a:ext cx="237744" cy="23774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138160" y="2267712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vs. Dynamic</a:t>
            </a:r>
            <a:endParaRPr lang="en-US" sz="1250" dirty="0"/>
          </a:p>
        </p:txBody>
      </p:sp>
      <p:sp>
        <p:nvSpPr>
          <p:cNvPr id="18" name="Text 13"/>
          <p:cNvSpPr/>
          <p:nvPr/>
        </p:nvSpPr>
        <p:spPr>
          <a:xfrm>
            <a:off x="8138160" y="2606040"/>
            <a:ext cx="3154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9FB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offers control; dynamic protocols adapt automatically to change.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548640" y="370332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25335C"/>
          </a:solidFill>
          <a:ln w="12700">
            <a:solidFill>
              <a:srgbClr val="3C4C80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731520" y="3886200"/>
            <a:ext cx="438912" cy="438912"/>
          </a:xfrm>
          <a:prstGeom prst="ellipse">
            <a:avLst/>
          </a:prstGeom>
          <a:solidFill>
            <a:srgbClr val="F2A104"/>
          </a:solidFill>
          <a:ln/>
        </p:spPr>
      </p:sp>
      <p:pic>
        <p:nvPicPr>
          <p:cNvPr id="21" name="Image 3" descr="icons/gitmerge_navy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1248" y="3995928"/>
            <a:ext cx="237744" cy="23774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31520" y="4416552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protocol families</a:t>
            </a:r>
            <a:endParaRPr lang="en-US" sz="1250" dirty="0"/>
          </a:p>
        </p:txBody>
      </p:sp>
      <p:sp>
        <p:nvSpPr>
          <p:cNvPr id="23" name="Text 17"/>
          <p:cNvSpPr/>
          <p:nvPr/>
        </p:nvSpPr>
        <p:spPr>
          <a:xfrm>
            <a:off x="731520" y="4754880"/>
            <a:ext cx="3154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9FB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 vector (RIP, EIGRP) and link state (OSPF) suit different network sizes.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4251960" y="370332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25335C"/>
          </a:solidFill>
          <a:ln w="12700">
            <a:solidFill>
              <a:srgbClr val="3C4C80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4434840" y="3886200"/>
            <a:ext cx="438912" cy="438912"/>
          </a:xfrm>
          <a:prstGeom prst="ellipse">
            <a:avLst/>
          </a:prstGeom>
          <a:solidFill>
            <a:srgbClr val="F2A104"/>
          </a:solidFill>
          <a:ln/>
        </p:spPr>
      </p:sp>
      <p:pic>
        <p:nvPicPr>
          <p:cNvPr id="26" name="Image 4" descr="icons/hash_navy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44568" y="3995928"/>
            <a:ext cx="237744" cy="237744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434840" y="4416552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Administrative Distance</a:t>
            </a:r>
            <a:endParaRPr lang="en-US" sz="1250" dirty="0"/>
          </a:p>
        </p:txBody>
      </p:sp>
      <p:sp>
        <p:nvSpPr>
          <p:cNvPr id="28" name="Text 21"/>
          <p:cNvSpPr/>
          <p:nvPr/>
        </p:nvSpPr>
        <p:spPr>
          <a:xfrm>
            <a:off x="4434840" y="4754880"/>
            <a:ext cx="3154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9FB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to pick the best route when multiple sources offer a path.</a:t>
            </a:r>
            <a:endParaRPr lang="en-US" sz="1000" dirty="0"/>
          </a:p>
        </p:txBody>
      </p:sp>
      <p:sp>
        <p:nvSpPr>
          <p:cNvPr id="29" name="Shape 22"/>
          <p:cNvSpPr/>
          <p:nvPr/>
        </p:nvSpPr>
        <p:spPr>
          <a:xfrm>
            <a:off x="7955280" y="370332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25335C"/>
          </a:solidFill>
          <a:ln w="12700">
            <a:solidFill>
              <a:srgbClr val="3C4C80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8138160" y="3886200"/>
            <a:ext cx="438912" cy="438912"/>
          </a:xfrm>
          <a:prstGeom prst="ellipse">
            <a:avLst/>
          </a:prstGeom>
          <a:solidFill>
            <a:srgbClr val="F2A104"/>
          </a:solidFill>
          <a:ln/>
        </p:spPr>
      </p:sp>
      <p:pic>
        <p:nvPicPr>
          <p:cNvPr id="31" name="Image 5" descr="icons/navigation_navy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47888" y="3995928"/>
            <a:ext cx="237744" cy="237744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138160" y="4416552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Traceroute visualizes it</a:t>
            </a:r>
            <a:endParaRPr lang="en-US" sz="1250" dirty="0"/>
          </a:p>
        </p:txBody>
      </p:sp>
      <p:sp>
        <p:nvSpPr>
          <p:cNvPr id="33" name="Text 25"/>
          <p:cNvSpPr/>
          <p:nvPr/>
        </p:nvSpPr>
        <p:spPr>
          <a:xfrm>
            <a:off x="8138160" y="4754880"/>
            <a:ext cx="3154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9FB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simple way to see every hop a packet actually takes.</a:t>
            </a:r>
            <a:endParaRPr lang="en-US" sz="1000" dirty="0"/>
          </a:p>
        </p:txBody>
      </p:sp>
      <p:sp>
        <p:nvSpPr>
          <p:cNvPr id="34" name="Text 26"/>
          <p:cNvSpPr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D9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00" dirty="0"/>
          </a:p>
        </p:txBody>
      </p:sp>
      <p:sp>
        <p:nvSpPr>
          <p:cNvPr id="35" name="Text 27"/>
          <p:cNvSpPr/>
          <p:nvPr/>
        </p:nvSpPr>
        <p:spPr>
          <a:xfrm>
            <a:off x="457200" y="635508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200" dirty="0">
                <a:solidFill>
                  <a:srgbClr val="7E8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 FUNDAMENTALS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1645920"/>
            <a:ext cx="4572000" cy="4572000"/>
          </a:xfrm>
          <a:prstGeom prst="ellipse">
            <a:avLst/>
          </a:prstGeom>
          <a:solidFill>
            <a:srgbClr val="11192E"/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4572000"/>
            <a:ext cx="3840480" cy="3840480"/>
          </a:xfrm>
          <a:prstGeom prst="ellipse">
            <a:avLst/>
          </a:prstGeom>
          <a:solidFill>
            <a:srgbClr val="223460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8229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F2A1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22960" y="1234440"/>
            <a:ext cx="7772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Packet Follows</a:t>
            </a:r>
            <a:endParaRPr lang="en-US" sz="3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Deliberate Path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822960" y="2651760"/>
            <a:ext cx="7498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D9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 single ip route command to a fully converged OSPF area, routing is the discipline of making — and trusting — the right forwarding decision at every hop.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22960" y="3776472"/>
            <a:ext cx="128016" cy="128016"/>
          </a:xfrm>
          <a:prstGeom prst="ellipse">
            <a:avLst/>
          </a:prstGeom>
          <a:solidFill>
            <a:srgbClr val="F2A104"/>
          </a:solidFill>
          <a:ln/>
        </p:spPr>
      </p:sp>
      <p:sp>
        <p:nvSpPr>
          <p:cNvPr id="8" name="Text 6"/>
          <p:cNvSpPr/>
          <p:nvPr/>
        </p:nvSpPr>
        <p:spPr>
          <a:xfrm>
            <a:off x="1097280" y="36576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2A10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ip route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566160" y="365760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FB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single command behind every static path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22960" y="4343400"/>
            <a:ext cx="128016" cy="128016"/>
          </a:xfrm>
          <a:prstGeom prst="ellipse">
            <a:avLst/>
          </a:prstGeom>
          <a:solidFill>
            <a:srgbClr val="F2A104"/>
          </a:solidFill>
          <a:ln/>
        </p:spPr>
      </p:sp>
      <p:sp>
        <p:nvSpPr>
          <p:cNvPr id="11" name="Text 9"/>
          <p:cNvSpPr/>
          <p:nvPr/>
        </p:nvSpPr>
        <p:spPr>
          <a:xfrm>
            <a:off x="1097280" y="4224528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2A10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router rip / ospf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566160" y="4224528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FB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Enables dynamic route learning between neighbors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22960" y="4910328"/>
            <a:ext cx="128016" cy="128016"/>
          </a:xfrm>
          <a:prstGeom prst="ellipse">
            <a:avLst/>
          </a:prstGeom>
          <a:solidFill>
            <a:srgbClr val="F2A104"/>
          </a:solidFill>
          <a:ln/>
        </p:spPr>
      </p:sp>
      <p:sp>
        <p:nvSpPr>
          <p:cNvPr id="14" name="Text 12"/>
          <p:cNvSpPr/>
          <p:nvPr/>
        </p:nvSpPr>
        <p:spPr>
          <a:xfrm>
            <a:off x="1097280" y="4791456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2A10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show ip route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566160" y="4791456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FB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command that reveals what a router actually knows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22960" y="5477256"/>
            <a:ext cx="128016" cy="128016"/>
          </a:xfrm>
          <a:prstGeom prst="ellipse">
            <a:avLst/>
          </a:prstGeom>
          <a:solidFill>
            <a:srgbClr val="F2A104"/>
          </a:solidFill>
          <a:ln/>
        </p:spPr>
      </p:sp>
      <p:sp>
        <p:nvSpPr>
          <p:cNvPr id="17" name="Text 15"/>
          <p:cNvSpPr/>
          <p:nvPr/>
        </p:nvSpPr>
        <p:spPr>
          <a:xfrm>
            <a:off x="1097280" y="5358384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2A10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tracert / traceroute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566160" y="5358384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FB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Visualizes the real hop-by-hop journey of a packet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778240" y="3017520"/>
            <a:ext cx="2834640" cy="2743200"/>
          </a:xfrm>
          <a:prstGeom prst="roundRect">
            <a:avLst>
              <a:gd name="adj" fmla="val 4000"/>
            </a:avLst>
          </a:prstGeom>
          <a:solidFill>
            <a:srgbClr val="25335C"/>
          </a:solidFill>
          <a:ln w="19050">
            <a:solidFill>
              <a:srgbClr val="F2A10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692640" y="3246120"/>
            <a:ext cx="1005840" cy="1005840"/>
          </a:xfrm>
          <a:prstGeom prst="ellipse">
            <a:avLst/>
          </a:prstGeom>
          <a:solidFill>
            <a:srgbClr val="11192E"/>
          </a:solidFill>
          <a:ln w="19050">
            <a:solidFill>
              <a:srgbClr val="F2A104"/>
            </a:solidFill>
            <a:prstDash val="solid"/>
          </a:ln>
        </p:spPr>
      </p:sp>
      <p:pic>
        <p:nvPicPr>
          <p:cNvPr id="21" name="Image 0" descr="icons/router_amb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48088" y="3410712"/>
            <a:ext cx="694944" cy="694944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8915400" y="44348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2A10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Chapter 7 of 20</a:t>
            </a:r>
            <a:endParaRPr lang="en-US" sz="1500" dirty="0"/>
          </a:p>
        </p:txBody>
      </p:sp>
      <p:sp>
        <p:nvSpPr>
          <p:cNvPr id="23" name="Text 20"/>
          <p:cNvSpPr/>
          <p:nvPr/>
        </p:nvSpPr>
        <p:spPr>
          <a:xfrm>
            <a:off x="8915400" y="4846320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000" dirty="0">
                <a:solidFill>
                  <a:srgbClr val="D9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up: OSPF Protocol — link-state routing in depth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822960" y="6126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D9E4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D9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457200" y="635508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200" dirty="0">
                <a:solidFill>
                  <a:srgbClr val="7E8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 FUNDAMENTALS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1255</Words>
  <Application>Microsoft Office PowerPoint</Application>
  <PresentationFormat>Widescreen</PresentationFormat>
  <Paragraphs>238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Cambria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Anirudha Gaikwad</cp:lastModifiedBy>
  <cp:revision>3</cp:revision>
  <dcterms:created xsi:type="dcterms:W3CDTF">2026-09-21T05:09:46Z</dcterms:created>
  <dcterms:modified xsi:type="dcterms:W3CDTF">2026-09-21T05:15:34Z</dcterms:modified>
</cp:coreProperties>
</file>