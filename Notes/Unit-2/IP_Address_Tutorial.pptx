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65A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A3-4B14-8FDC-FB9B252AF29D}"/>
              </c:ext>
            </c:extLst>
          </c:dPt>
          <c:dPt>
            <c:idx val="1"/>
            <c:bubble3D val="0"/>
            <c:spPr>
              <a:solidFill>
                <a:srgbClr val="E3E9ED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A3-4B14-8FDC-FB9B252AF29D}"/>
              </c:ext>
            </c:extLst>
          </c:dPt>
          <c:cat>
            <c:strRef>
              <c:f>Sheet1!$A$2:$A$3</c:f>
              <c:strCache>
                <c:ptCount val="2"/>
                <c:pt idx="0">
                  <c:v>IPv6-enabled</c:v>
                </c:pt>
                <c:pt idx="1">
                  <c:v>Not yet on IPv6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A3-4B14-8FDC-FB9B252AF2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73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icons/netwo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Beginners: Understanding IPv4 &amp; IPv6 Addressing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931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concept every DevOps engineer, SRE, and developer needs to master — </a:t>
            </a:r>
            <a:r>
              <a:rPr lang="en-US" sz="1500" b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cloud networking, Kubernetes, and infrastructure design.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IP Address?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address that identifies every device on a computer network — either a 32-bit IPv4 address or a 128-bit IPv6 address.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EAF3F8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7797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45920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address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47472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474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octets (0-255), separated by dots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0.0.0.0 to 255.255.255.255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~4.3 billion possible addresses (4,294,967,296)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233172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65176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4" name="Image 1" descr="icons/globe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77977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452360" y="2990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address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75120" y="3474720"/>
            <a:ext cx="4617720" cy="594360"/>
          </a:xfrm>
          <a:prstGeom prst="roundRect">
            <a:avLst>
              <a:gd name="adj" fmla="val 12308"/>
            </a:avLst>
          </a:prstGeom>
          <a:solidFill>
            <a:srgbClr val="1A2350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3474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1050:0000:0000:0000:0005:0600:300c:326a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7512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groups of 16 bits (hextets), separated by colons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1998 to solve IPv4 exhaustion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trillion trillion trillion possible addresses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 Addressing: The Basics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rgbClr val="065A82"/>
          </a:solidFill>
          <a:ln/>
        </p:spPr>
      </p:sp>
      <p:pic>
        <p:nvPicPr>
          <p:cNvPr id="4" name="Image 0" descr="icons/glob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IPv4 ADDRESS SPACE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 ADDRESSES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63040" y="4251960"/>
            <a:ext cx="2377440" cy="0"/>
          </a:xfrm>
          <a:prstGeom prst="line">
            <a:avLst/>
          </a:prstGeom>
          <a:noFill/>
          <a:ln w="12700">
            <a:solidFill>
              <a:srgbClr val="3E7E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434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4,294,967,296 unique addresses — the theoretical maximum of a 32-bit address space.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5486400"/>
            <a:ext cx="3657600" cy="457200"/>
          </a:xfrm>
          <a:prstGeom prst="rect">
            <a:avLst/>
          </a:prstGeom>
          <a:solidFill>
            <a:srgbClr val="0A4A69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Range: 0.0.0.0 – 255.255.255.255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66360" y="1417320"/>
            <a:ext cx="502920" cy="50292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icons/layers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72" y="15041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5 classes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1737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 through E, each covering a distinct range for different network sizes.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66360" y="2587752"/>
            <a:ext cx="502920" cy="50292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icons/route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372" y="26746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0" y="25420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0.0.0.0/8 reserved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852160" y="29077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historically for device auto-configuration before DHCP existed.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166360" y="3758184"/>
            <a:ext cx="502920" cy="50292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3" descr="icons/shield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372" y="38450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0" y="37124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ranges carved out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852160" y="40782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IETF/IANA reserved blocks for internal, non-internet-facing networks.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166360" y="4928616"/>
            <a:ext cx="502920" cy="50292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4" name="Image 4" descr="icons/home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2372" y="5015484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52160" y="48828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127.0.0.0/8 = loopback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852160" y="52486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local network testing — 127.0.0.1 is the classic example.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IPv4's 4.3 billion addresses are divided into five classes, each spanning a defined range.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01952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 – 127.255.255.255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62432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624328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128.0.0.0 – 191.255.255.255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EAF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84448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3E7E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844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46557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465576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192.0.0.0 – 223.255.255.255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25696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256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430682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4306824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224.0.0.0 – 239.255.255.255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EA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266944"/>
            <a:ext cx="594360" cy="457200"/>
          </a:xfrm>
          <a:prstGeom prst="roundRect">
            <a:avLst>
              <a:gd name="adj" fmla="val 16000"/>
            </a:avLst>
          </a:prstGeom>
          <a:solidFill>
            <a:srgbClr val="0A4A6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669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51480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31920" y="514807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240.0.0.0 – 255.255.255.255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06247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4E5"/>
          </a:solidFill>
          <a:ln/>
        </p:spPr>
      </p:sp>
      <p:pic>
        <p:nvPicPr>
          <p:cNvPr id="30" name="Image 0" descr="icons/question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245352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25880" y="606247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0.0.0.0/8 is reserved for auto-configuration — today only 0.0.0.0 itself is used, meaning “this host on this network.”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IP Ranges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IANA and IETF reserved these ranges so organizations can build internal networks — connecting to the internet via NAT-enabled devices.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icons/building_2129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2539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15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 – 10.255.255.255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private block — common for big corporate &amp; cloud networks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icons/wifi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2539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 (APIPA)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2715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169.254.0.0 – 169.254.255.255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3200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Private IP Addressing — self-assigned when DHCP fails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2" descr="icons/layers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5399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79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2960" y="5001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 – 172.31.255.255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2960" y="5486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container &amp; orchestration networks (e.g. Docker)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</p:sp>
      <p:sp>
        <p:nvSpPr>
          <p:cNvPr id="23" name="Shape 18"/>
          <p:cNvSpPr/>
          <p:nvPr/>
        </p:nvSpPr>
        <p:spPr>
          <a:xfrm>
            <a:off x="6537960" y="443484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4" name="Image 3" descr="icons/home_2129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5399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4379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37960" y="50017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 – 192.168.255.255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37960" y="5486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on home routers and small office networks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Special-Purpose IPv4 Ranges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public and private ranges, a few blocks serve specific technical purposes.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 Shared Address Space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691640" y="253288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691640" y="2532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100.64.0.0/10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ISPs implementing carrier-grade NAT — every ISP can reuse this address space. Also usable inside your own infrastructure, e.g. as a Pod CIDR range in Kubernetes (verify cloud-provider support first, as misconfiguration can cause routing issues).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47548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icons/route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92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Loopback Addresses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691640" y="5001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local network testing — the classic 127.0.0.1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0" y="4818888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A4A69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48188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 – 127.255.255.255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 Addressing: The Basics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rgbClr val="1A2350"/>
          </a:solidFill>
          <a:ln/>
        </p:spPr>
      </p:sp>
      <p:pic>
        <p:nvPicPr>
          <p:cNvPr id="4" name="Image 0" descr="icons/globe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IPv6 ADDRESS SPACE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 TRILLION TRILLION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206240"/>
            <a:ext cx="2377440" cy="0"/>
          </a:xfrm>
          <a:prstGeom prst="line">
            <a:avLst/>
          </a:prstGeom>
          <a:noFill/>
          <a:ln w="12700">
            <a:solidFill>
              <a:srgbClr val="3E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389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— enough to assign a unique IP to every atom on the surface of the earth many times over.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5440680"/>
            <a:ext cx="3657600" cy="457200"/>
          </a:xfrm>
          <a:prstGeom prst="rect">
            <a:avLst/>
          </a:prstGeom>
          <a:solidFill>
            <a:srgbClr val="F2A65A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128-bit address · 8 hextets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66360" y="141732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1A2350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Address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40680" y="1828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1050:0000:0000:0000:0005:0600:300c:326a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66360" y="2788920"/>
            <a:ext cx="502920" cy="502920"/>
          </a:xfrm>
          <a:prstGeom prst="ellipse">
            <a:avLst/>
          </a:prstGeom>
          <a:solidFill>
            <a:srgbClr val="1A2350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5" name="Image 1" descr="icons/shield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72" y="28757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52160" y="2743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fc00::/7 — Unique Local Address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52160" y="3108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IPv6 block reserved for private networks, equivalent to IPv4's private ranges.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66360" y="4206240"/>
            <a:ext cx="502920" cy="502920"/>
          </a:xfrm>
          <a:prstGeom prst="ellipse">
            <a:avLst/>
          </a:prstGeom>
          <a:solidFill>
            <a:srgbClr val="1A2350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9" name="Image 2" descr="icons/chart_F2A6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372" y="42931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5216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scale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852160" y="4526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groups of 16 bits each replace IPv4's 4 octets, massively expanding the address space.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166360" y="562356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3" name="Text 18"/>
          <p:cNvSpPr/>
          <p:nvPr/>
        </p:nvSpPr>
        <p:spPr>
          <a:xfrm>
            <a:off x="5166360" y="5623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1998 by the IETF to solve IPv4 exhaustion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IPv6?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of internet-connected devices made IPv4's 4.3 billion addresses insufficient.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05156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3648456"/>
            <a:ext cx="292608" cy="292608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47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Warning Signs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realizes 4.3 billion IPv4 addresses won't be enough as more devices connect to the internet.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0" cy="310896"/>
          </a:xfrm>
          <a:prstGeom prst="line">
            <a:avLst/>
          </a:prstGeom>
          <a:noFill/>
          <a:ln w="12700">
            <a:solidFill>
              <a:srgbClr val="B9C7C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81856" y="3648456"/>
            <a:ext cx="292608" cy="292608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0860" y="4251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8020" y="4361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8020" y="46725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 Is Created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08020" y="5001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IETF finalizes IPv6, expanding the address space to 340 trillion trillion trillion addresses.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8160" y="3941064"/>
            <a:ext cx="0" cy="310896"/>
          </a:xfrm>
          <a:prstGeom prst="line">
            <a:avLst/>
          </a:prstGeom>
          <a:noFill/>
          <a:ln w="12700">
            <a:solidFill>
              <a:srgbClr val="B9C7C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687056" y="3648456"/>
            <a:ext cx="292608" cy="292608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76060" y="17373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3220" y="1847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6, 2012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13220" y="21579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Rollout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13220" y="2487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officially begins deployment across the global internet — World IPv6 Launch Day.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33360" y="3337560"/>
            <a:ext cx="0" cy="310896"/>
          </a:xfrm>
          <a:prstGeom prst="line">
            <a:avLst/>
          </a:prstGeom>
          <a:noFill/>
          <a:ln w="12700">
            <a:solidFill>
              <a:srgbClr val="B9C7C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192256" y="3648456"/>
            <a:ext cx="292608" cy="292608"/>
          </a:xfrm>
          <a:prstGeom prst="ellipse">
            <a:avLst/>
          </a:prstGeom>
          <a:solidFill>
            <a:srgbClr val="F2A65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425196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0" y="4361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67258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Global Adoption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0" y="50017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continues to climb as ISPs and cloud providers roll out IPv6-enabled infrastructure.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338560" y="3941064"/>
            <a:ext cx="0" cy="310896"/>
          </a:xfrm>
          <a:prstGeom prst="line">
            <a:avLst/>
          </a:prstGeom>
          <a:noFill/>
          <a:ln w="12700">
            <a:solidFill>
              <a:srgbClr val="B9C7CF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IPv6 Adoption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deployed since 2012, global rollout is still underway.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73736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246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ADOPTION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icons/chart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9568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steady climb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95160" y="22128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has grown gradually since the official 2012 launch, driven by mobile carriers and major cloud platforms.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icons/chart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3284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exhaustion pressure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95160" y="35844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exhaustion continues to push ISPs and enterprises toward dual-stack and IPv6-only deployments.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icons/chart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70001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9516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DevOps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995160" y="4956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working in cloud-native environments increasingly need to design for both protocols.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IPv6 Adoption Statistics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68249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087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purchase a static public IP?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54480" y="19019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public IP ranges from a Regional Internet Registry (RIR) and own them for a set period, or acquire one through your Internet Service Provider.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8269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089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public IP addresses?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554480" y="35021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IANA and the five Regional Internet Registries (RIRs) maintain them and assign IPs to local registries, ISPs, and end users — once purchased, you're the owner.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88289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091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DevOps engineers need to know IP addressing?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554480" y="51023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Working with CIDR ranges and public/private IPs in cloud environments makes IP address concepts essential knowledge.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IPv4 and IPv6 is essential for any DevOps engineer working in cloud networking.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A2350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317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0" descr="icons/layers_2129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24368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2768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protocols, one job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9728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(32-bit, ~4.3B addresses) and IPv6 (128-bit, 340 trillion trillion trillion) both uniquely identify devices on a network.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20574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A2350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23317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icons/shield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43687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2768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vs. private ranges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81228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ranges (10.x, 172.16-31.x, 192.168.x) power internal networks; NAT connects them to the public internet.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A2350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4480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2" descr="icons/route_2129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436" y="458571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4256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Special-purpose blocks matter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09728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(127.0.0.0/8), shared address space (100.64.0.0/10), and IPv6's fc00::/7 each serve a specific technical role.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3796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A2350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2280" y="44805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3" descr="icons/chart_21295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857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0" y="44256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adoption is still growing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81228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~37% global adoption, dual-stack thinking is increasingly a core DevOps and cloud networking skill.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982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Anirudha Gaikwad</cp:lastModifiedBy>
  <cp:revision>3</cp:revision>
  <dcterms:created xsi:type="dcterms:W3CDTF">2026-08-20T03:49:16Z</dcterms:created>
  <dcterms:modified xsi:type="dcterms:W3CDTF">2026-08-20T04:04:31Z</dcterms:modified>
</cp:coreProperties>
</file>