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7600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91695" cy="822960"/>
          </a:xfrm>
          <a:prstGeom prst="rect">
            <a:avLst/>
          </a:prstGeom>
          <a:solidFill>
            <a:srgbClr val="19698A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45920"/>
            <a:ext cx="12191695" cy="822960"/>
          </a:xfrm>
          <a:prstGeom prst="rect">
            <a:avLst/>
          </a:prstGeom>
          <a:solidFill>
            <a:srgbClr val="166081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468880"/>
            <a:ext cx="12191695" cy="822960"/>
          </a:xfrm>
          <a:prstGeom prst="rect">
            <a:avLst/>
          </a:prstGeom>
          <a:solidFill>
            <a:srgbClr val="145878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291840"/>
            <a:ext cx="12191695" cy="822960"/>
          </a:xfrm>
          <a:prstGeom prst="rect">
            <a:avLst/>
          </a:prstGeom>
          <a:solidFill>
            <a:srgbClr val="114F6E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114800"/>
            <a:ext cx="12191695" cy="822960"/>
          </a:xfrm>
          <a:prstGeom prst="rect">
            <a:avLst/>
          </a:prstGeom>
          <a:solidFill>
            <a:srgbClr val="0E4665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937760"/>
            <a:ext cx="12191695" cy="822960"/>
          </a:xfrm>
          <a:prstGeom prst="rect">
            <a:avLst/>
          </a:prstGeom>
          <a:solidFill>
            <a:srgbClr val="0B3D5C">
              <a:alpha val="1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737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FUNDAMENTALS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OSI Model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822960" y="32918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layers that standardized how every device on Earth talks to every other device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27152" y="5074920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0B3D5C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7152" y="514807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2872" y="544068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136496" y="5074920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0E4665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136496" y="514807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82216" y="544068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Link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745840" y="5074920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114F6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745840" y="514807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91560" y="544068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55184" y="5074920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145878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355184" y="514807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00904" y="544068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964528" y="5074920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166081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64528" y="514807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10248" y="544068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573872" y="5074920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19698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573872" y="514807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19592" y="544068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0183216" y="5074920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183216" y="514807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228936" y="544068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22960" y="6172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/ OSI Reference Model  ·  Published 1984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21792" y="7772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common language for networks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6126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Systems Interconnection (OSI) model is a conceptual framework that divides network communication into seven abstract layers — giving engineers a shared, standardized way to design interoperable hardware and software, regardless of vendor.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447288"/>
            <a:ext cx="310896" cy="310896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7" name="Image 0" descr="/home/claude/osi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3529584"/>
            <a:ext cx="146304" cy="1463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3401568"/>
            <a:ext cx="5532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Layered, not protocol-specific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97280" y="3703320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tasks for each layer to accomplish, not the exact protocol — leaving room for innovation.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4361688"/>
            <a:ext cx="310896" cy="310896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1" name="Image 1" descr="/home/claude/osi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4443984"/>
            <a:ext cx="146304" cy="1463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4315968"/>
            <a:ext cx="5532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moves both ways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097280" y="4617720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talks only to the layers directly above and below it, in either direction.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5276088"/>
            <a:ext cx="310896" cy="310896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5" name="Image 2" descr="/home/claude/osi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5358384"/>
            <a:ext cx="146304" cy="14630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5230368"/>
            <a:ext cx="5532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layers vs. hardware layers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097280" y="5532120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5–7 govern applications; layers 1–3 govern physical transmission; layer 4 bridges both.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949440" y="1371600"/>
            <a:ext cx="4800600" cy="5138928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178040" y="1600200"/>
            <a:ext cx="4343400" cy="603504"/>
          </a:xfrm>
          <a:prstGeom prst="roundRect">
            <a:avLst>
              <a:gd name="adj" fmla="val 9091"/>
            </a:avLst>
          </a:prstGeom>
          <a:solidFill>
            <a:srgbClr val="0B3D5C"/>
          </a:solidFill>
          <a:ln/>
        </p:spPr>
      </p:sp>
      <p:sp>
        <p:nvSpPr>
          <p:cNvPr id="20" name="Text 15"/>
          <p:cNvSpPr/>
          <p:nvPr/>
        </p:nvSpPr>
        <p:spPr>
          <a:xfrm>
            <a:off x="7315200" y="1600200"/>
            <a:ext cx="548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7863840" y="1600200"/>
            <a:ext cx="3520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7178040" y="2295144"/>
            <a:ext cx="4343400" cy="603504"/>
          </a:xfrm>
          <a:prstGeom prst="roundRect">
            <a:avLst>
              <a:gd name="adj" fmla="val 9091"/>
            </a:avLst>
          </a:prstGeom>
          <a:solidFill>
            <a:srgbClr val="0E4665"/>
          </a:solidFill>
          <a:ln/>
        </p:spPr>
      </p:sp>
      <p:sp>
        <p:nvSpPr>
          <p:cNvPr id="23" name="Text 18"/>
          <p:cNvSpPr/>
          <p:nvPr/>
        </p:nvSpPr>
        <p:spPr>
          <a:xfrm>
            <a:off x="7315200" y="2295144"/>
            <a:ext cx="548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7863840" y="2295144"/>
            <a:ext cx="3520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7178040" y="2990088"/>
            <a:ext cx="4343400" cy="603504"/>
          </a:xfrm>
          <a:prstGeom prst="roundRect">
            <a:avLst>
              <a:gd name="adj" fmla="val 9091"/>
            </a:avLst>
          </a:prstGeom>
          <a:solidFill>
            <a:srgbClr val="114F6E"/>
          </a:solidFill>
          <a:ln/>
        </p:spPr>
      </p:sp>
      <p:sp>
        <p:nvSpPr>
          <p:cNvPr id="26" name="Text 21"/>
          <p:cNvSpPr/>
          <p:nvPr/>
        </p:nvSpPr>
        <p:spPr>
          <a:xfrm>
            <a:off x="7315200" y="2990088"/>
            <a:ext cx="548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7863840" y="2990088"/>
            <a:ext cx="3520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7178040" y="3685032"/>
            <a:ext cx="4343400" cy="603504"/>
          </a:xfrm>
          <a:prstGeom prst="roundRect">
            <a:avLst>
              <a:gd name="adj" fmla="val 9091"/>
            </a:avLst>
          </a:prstGeom>
          <a:solidFill>
            <a:srgbClr val="145878"/>
          </a:solidFill>
          <a:ln/>
        </p:spPr>
      </p:sp>
      <p:sp>
        <p:nvSpPr>
          <p:cNvPr id="29" name="Text 24"/>
          <p:cNvSpPr/>
          <p:nvPr/>
        </p:nvSpPr>
        <p:spPr>
          <a:xfrm>
            <a:off x="7315200" y="3685032"/>
            <a:ext cx="548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7863840" y="3685032"/>
            <a:ext cx="3520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7178040" y="4379976"/>
            <a:ext cx="4343400" cy="603504"/>
          </a:xfrm>
          <a:prstGeom prst="roundRect">
            <a:avLst>
              <a:gd name="adj" fmla="val 9091"/>
            </a:avLst>
          </a:prstGeom>
          <a:solidFill>
            <a:srgbClr val="166081"/>
          </a:solidFill>
          <a:ln/>
        </p:spPr>
      </p:sp>
      <p:sp>
        <p:nvSpPr>
          <p:cNvPr id="32" name="Text 27"/>
          <p:cNvSpPr/>
          <p:nvPr/>
        </p:nvSpPr>
        <p:spPr>
          <a:xfrm>
            <a:off x="7315200" y="4379976"/>
            <a:ext cx="548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7863840" y="4379976"/>
            <a:ext cx="3520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400" dirty="0"/>
          </a:p>
        </p:txBody>
      </p:sp>
      <p:sp>
        <p:nvSpPr>
          <p:cNvPr id="34" name="Shape 29"/>
          <p:cNvSpPr/>
          <p:nvPr/>
        </p:nvSpPr>
        <p:spPr>
          <a:xfrm>
            <a:off x="7178040" y="5074920"/>
            <a:ext cx="4343400" cy="603504"/>
          </a:xfrm>
          <a:prstGeom prst="roundRect">
            <a:avLst>
              <a:gd name="adj" fmla="val 9091"/>
            </a:avLst>
          </a:prstGeom>
          <a:solidFill>
            <a:srgbClr val="19698A"/>
          </a:solidFill>
          <a:ln/>
        </p:spPr>
      </p:sp>
      <p:sp>
        <p:nvSpPr>
          <p:cNvPr id="35" name="Text 30"/>
          <p:cNvSpPr/>
          <p:nvPr/>
        </p:nvSpPr>
        <p:spPr>
          <a:xfrm>
            <a:off x="7315200" y="5074920"/>
            <a:ext cx="548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300" dirty="0"/>
          </a:p>
        </p:txBody>
      </p:sp>
      <p:sp>
        <p:nvSpPr>
          <p:cNvPr id="36" name="Text 31"/>
          <p:cNvSpPr/>
          <p:nvPr/>
        </p:nvSpPr>
        <p:spPr>
          <a:xfrm>
            <a:off x="7863840" y="5074920"/>
            <a:ext cx="3520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Link</a:t>
            </a:r>
            <a:endParaRPr lang="en-US" sz="1400" dirty="0"/>
          </a:p>
        </p:txBody>
      </p:sp>
      <p:sp>
        <p:nvSpPr>
          <p:cNvPr id="37" name="Shape 32"/>
          <p:cNvSpPr/>
          <p:nvPr/>
        </p:nvSpPr>
        <p:spPr>
          <a:xfrm>
            <a:off x="7178040" y="5769864"/>
            <a:ext cx="4343400" cy="603504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38" name="Text 33"/>
          <p:cNvSpPr/>
          <p:nvPr/>
        </p:nvSpPr>
        <p:spPr>
          <a:xfrm>
            <a:off x="7315200" y="5769864"/>
            <a:ext cx="548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300" dirty="0"/>
          </a:p>
        </p:txBody>
      </p:sp>
      <p:sp>
        <p:nvSpPr>
          <p:cNvPr id="39" name="Text 34"/>
          <p:cNvSpPr/>
          <p:nvPr/>
        </p:nvSpPr>
        <p:spPr>
          <a:xfrm>
            <a:off x="7863840" y="5769864"/>
            <a:ext cx="3520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400" dirty="0"/>
          </a:p>
        </p:txBody>
      </p:sp>
      <p:sp>
        <p:nvSpPr>
          <p:cNvPr id="40" name="Text 3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716249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“What is the OSI model?”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21792" y="777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OSI model came from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patchwork of proprietary networks in the late 1970s pushed the industry toward one shared standard.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74520" y="3383280"/>
            <a:ext cx="850392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73936" y="3282696"/>
            <a:ext cx="201168" cy="201168"/>
          </a:xfrm>
          <a:prstGeom prst="ellipse">
            <a:avLst/>
          </a:prstGeom>
          <a:solidFill>
            <a:srgbClr val="0B3D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24688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blurRad="101600" dist="25400" dir="5400000" algn="bl" rotWithShape="0">
              <a:srgbClr val="0B3D5C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80136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1970S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057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chaos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235915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Manufacturers build their own networking solutions — systems can't interoperate.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74520" y="3017520"/>
            <a:ext cx="0" cy="365760"/>
          </a:xfrm>
          <a:prstGeom prst="line">
            <a:avLst/>
          </a:prstGeom>
          <a:noFill/>
          <a:ln w="12700">
            <a:solidFill>
              <a:srgbClr val="E2E9EE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608576" y="3282696"/>
            <a:ext cx="201168" cy="201168"/>
          </a:xfrm>
          <a:prstGeom prst="ellipse">
            <a:avLst/>
          </a:prstGeom>
          <a:solidFill>
            <a:srgbClr val="0B3D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3703320"/>
            <a:ext cx="24688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blurRad="101600" dist="25400" dir="5400000" algn="bl" rotWithShape="0">
              <a:srgbClr val="0B3D5C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11880" y="381304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1980S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11880" y="4069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ARPANET &amp; TCP/IP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611880" y="437083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prove networking is possible at scale, but expose the need for a universal model.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3383280"/>
            <a:ext cx="0" cy="320040"/>
          </a:xfrm>
          <a:prstGeom prst="line">
            <a:avLst/>
          </a:prstGeom>
          <a:noFill/>
          <a:ln w="12700">
            <a:solidFill>
              <a:srgbClr val="E2E9EE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443216" y="3282696"/>
            <a:ext cx="201168" cy="201168"/>
          </a:xfrm>
          <a:prstGeom prst="ellipse">
            <a:avLst/>
          </a:prstGeom>
          <a:solidFill>
            <a:srgbClr val="0B3D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691640"/>
            <a:ext cx="24688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blurRad="101600" dist="25400" dir="5400000" algn="bl" rotWithShape="0">
              <a:srgbClr val="0B3D5C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46520" y="180136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46520" y="2057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+ CCITT convene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46520" y="235915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standards bodies begin work on a vendor-neutral, layered framework.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543800" y="3017520"/>
            <a:ext cx="0" cy="365760"/>
          </a:xfrm>
          <a:prstGeom prst="line">
            <a:avLst/>
          </a:prstGeom>
          <a:noFill/>
          <a:ln w="12700">
            <a:solidFill>
              <a:srgbClr val="E2E9EE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0277856" y="3282696"/>
            <a:ext cx="201168" cy="201168"/>
          </a:xfrm>
          <a:prstGeom prst="ellipse">
            <a:avLst/>
          </a:prstGeom>
          <a:solidFill>
            <a:srgbClr val="FF6B3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0" y="3703320"/>
            <a:ext cx="24688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blurRad="101600" dist="25400" dir="5400000" algn="bl" rotWithShape="0">
              <a:srgbClr val="0B3D5C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281160" y="381304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1984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281160" y="4069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model published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281160" y="437083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formally releases the seven-layer reference model still taught today.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0378440" y="3383280"/>
            <a:ext cx="0" cy="320040"/>
          </a:xfrm>
          <a:prstGeom prst="line">
            <a:avLst/>
          </a:prstGeom>
          <a:noFill/>
          <a:ln w="12700">
            <a:solidFill>
              <a:srgbClr val="E2E9EE"/>
            </a:solidFill>
            <a:prstDash val="dash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21792" y="731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seven layers, top to bottom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0B3D5C"/>
          </a:solidFill>
          <a:ln/>
        </p:spPr>
      </p:sp>
      <p:sp>
        <p:nvSpPr>
          <p:cNvPr id="6" name="Shape 4"/>
          <p:cNvSpPr/>
          <p:nvPr/>
        </p:nvSpPr>
        <p:spPr>
          <a:xfrm>
            <a:off x="768096" y="1691640"/>
            <a:ext cx="347472" cy="347472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691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pic>
        <p:nvPicPr>
          <p:cNvPr id="8" name="Image 0" descr="/home/claude/osi/icon_a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1719072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1554480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3840480" y="1554480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User-facing services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554480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· FTP · DNS · SMTP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" y="2231136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0E4665"/>
          </a:solidFill>
          <a:ln/>
        </p:spPr>
      </p:sp>
      <p:sp>
        <p:nvSpPr>
          <p:cNvPr id="13" name="Shape 10"/>
          <p:cNvSpPr/>
          <p:nvPr/>
        </p:nvSpPr>
        <p:spPr>
          <a:xfrm>
            <a:off x="768096" y="2368296"/>
            <a:ext cx="347472" cy="347472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768096" y="23682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pic>
        <p:nvPicPr>
          <p:cNvPr id="15" name="Image 1" descr="/home/claude/osi/icon_present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872" y="2395728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91640" y="2231136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3840480" y="2231136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Translate, encrypt, compress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595360" y="2231136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SSL/TLS · JPEG · MPEG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40080" y="2907792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114F6E"/>
          </a:solidFill>
          <a:ln/>
        </p:spPr>
      </p:sp>
      <p:sp>
        <p:nvSpPr>
          <p:cNvPr id="20" name="Shape 16"/>
          <p:cNvSpPr/>
          <p:nvPr/>
        </p:nvSpPr>
        <p:spPr>
          <a:xfrm>
            <a:off x="768096" y="3044952"/>
            <a:ext cx="347472" cy="347472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768096" y="30449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pic>
        <p:nvPicPr>
          <p:cNvPr id="22" name="Image 2" descr="/home/claude/osi/icon_sess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1872" y="3072384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691640" y="2907792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550" dirty="0"/>
          </a:p>
        </p:txBody>
      </p:sp>
      <p:sp>
        <p:nvSpPr>
          <p:cNvPr id="24" name="Text 19"/>
          <p:cNvSpPr/>
          <p:nvPr/>
        </p:nvSpPr>
        <p:spPr>
          <a:xfrm>
            <a:off x="3840480" y="2907792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manage, close sessions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8595360" y="2907792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 · NetBIOS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40080" y="3584448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F6B35"/>
          </a:solidFill>
          <a:ln/>
        </p:spPr>
      </p:sp>
      <p:sp>
        <p:nvSpPr>
          <p:cNvPr id="27" name="Shape 22"/>
          <p:cNvSpPr/>
          <p:nvPr/>
        </p:nvSpPr>
        <p:spPr>
          <a:xfrm>
            <a:off x="768096" y="3721608"/>
            <a:ext cx="347472" cy="347472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8" name="Text 23"/>
          <p:cNvSpPr/>
          <p:nvPr/>
        </p:nvSpPr>
        <p:spPr>
          <a:xfrm>
            <a:off x="768096" y="37216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pic>
        <p:nvPicPr>
          <p:cNvPr id="29" name="Image 3" descr="/home/claude/osi/icon_transpo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1872" y="3749040"/>
            <a:ext cx="292608" cy="29260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691640" y="3584448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550" dirty="0"/>
          </a:p>
        </p:txBody>
      </p:sp>
      <p:sp>
        <p:nvSpPr>
          <p:cNvPr id="31" name="Text 25"/>
          <p:cNvSpPr/>
          <p:nvPr/>
        </p:nvSpPr>
        <p:spPr>
          <a:xfrm>
            <a:off x="3840480" y="3584448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delivery — “the heart of OSI”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8595360" y="3584448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· UDP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640080" y="4261104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166081"/>
          </a:solidFill>
          <a:ln/>
        </p:spPr>
      </p:sp>
      <p:sp>
        <p:nvSpPr>
          <p:cNvPr id="34" name="Shape 28"/>
          <p:cNvSpPr/>
          <p:nvPr/>
        </p:nvSpPr>
        <p:spPr>
          <a:xfrm>
            <a:off x="768096" y="4398264"/>
            <a:ext cx="347472" cy="347472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35" name="Text 29"/>
          <p:cNvSpPr/>
          <p:nvPr/>
        </p:nvSpPr>
        <p:spPr>
          <a:xfrm>
            <a:off x="768096" y="43982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pic>
        <p:nvPicPr>
          <p:cNvPr id="36" name="Image 4" descr="/home/claude/osi/icon_netwo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1872" y="4425696"/>
            <a:ext cx="292608" cy="29260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691640" y="4261104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550" dirty="0"/>
          </a:p>
        </p:txBody>
      </p:sp>
      <p:sp>
        <p:nvSpPr>
          <p:cNvPr id="38" name="Text 31"/>
          <p:cNvSpPr/>
          <p:nvPr/>
        </p:nvSpPr>
        <p:spPr>
          <a:xfrm>
            <a:off x="3840480" y="4261104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Addressing, routing, forwarding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8595360" y="4261104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 · IPv6 · ICMP</a:t>
            </a:r>
            <a:endParaRPr lang="en-US" sz="1150" dirty="0"/>
          </a:p>
        </p:txBody>
      </p:sp>
      <p:sp>
        <p:nvSpPr>
          <p:cNvPr id="40" name="Shape 33"/>
          <p:cNvSpPr/>
          <p:nvPr/>
        </p:nvSpPr>
        <p:spPr>
          <a:xfrm>
            <a:off x="640080" y="4937760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19698A"/>
          </a:solidFill>
          <a:ln/>
        </p:spPr>
      </p:sp>
      <p:sp>
        <p:nvSpPr>
          <p:cNvPr id="41" name="Shape 34"/>
          <p:cNvSpPr/>
          <p:nvPr/>
        </p:nvSpPr>
        <p:spPr>
          <a:xfrm>
            <a:off x="768096" y="5074920"/>
            <a:ext cx="347472" cy="347472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42" name="Text 35"/>
          <p:cNvSpPr/>
          <p:nvPr/>
        </p:nvSpPr>
        <p:spPr>
          <a:xfrm>
            <a:off x="768096" y="50749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pic>
        <p:nvPicPr>
          <p:cNvPr id="43" name="Image 5" descr="/home/claude/osi/icon_datalin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1872" y="5102352"/>
            <a:ext cx="292608" cy="292608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1691640" y="4937760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Link</a:t>
            </a:r>
            <a:endParaRPr lang="en-US" sz="1550" dirty="0"/>
          </a:p>
        </p:txBody>
      </p:sp>
      <p:sp>
        <p:nvSpPr>
          <p:cNvPr id="45" name="Text 37"/>
          <p:cNvSpPr/>
          <p:nvPr/>
        </p:nvSpPr>
        <p:spPr>
          <a:xfrm>
            <a:off x="3840480" y="4937760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Node-to-node delivery, MAC addressing</a:t>
            </a:r>
            <a:endParaRPr lang="en-US" sz="1200" dirty="0"/>
          </a:p>
        </p:txBody>
      </p:sp>
      <p:sp>
        <p:nvSpPr>
          <p:cNvPr id="46" name="Text 38"/>
          <p:cNvSpPr/>
          <p:nvPr/>
        </p:nvSpPr>
        <p:spPr>
          <a:xfrm>
            <a:off x="8595360" y="4937760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· ARP</a:t>
            </a:r>
            <a:endParaRPr lang="en-US" sz="1150" dirty="0"/>
          </a:p>
        </p:txBody>
      </p:sp>
      <p:sp>
        <p:nvSpPr>
          <p:cNvPr id="47" name="Shape 39"/>
          <p:cNvSpPr/>
          <p:nvPr/>
        </p:nvSpPr>
        <p:spPr>
          <a:xfrm>
            <a:off x="640080" y="5614416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</p:sp>
      <p:sp>
        <p:nvSpPr>
          <p:cNvPr id="48" name="Shape 40"/>
          <p:cNvSpPr/>
          <p:nvPr/>
        </p:nvSpPr>
        <p:spPr>
          <a:xfrm>
            <a:off x="768096" y="5751576"/>
            <a:ext cx="347472" cy="347472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49" name="Text 41"/>
          <p:cNvSpPr/>
          <p:nvPr/>
        </p:nvSpPr>
        <p:spPr>
          <a:xfrm>
            <a:off x="768096" y="57515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pic>
        <p:nvPicPr>
          <p:cNvPr id="50" name="Image 6" descr="/home/claude/osi/icon_physic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1872" y="5779008"/>
            <a:ext cx="292608" cy="292608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1691640" y="5614416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550" dirty="0"/>
          </a:p>
        </p:txBody>
      </p:sp>
      <p:sp>
        <p:nvSpPr>
          <p:cNvPr id="52" name="Text 43"/>
          <p:cNvSpPr/>
          <p:nvPr/>
        </p:nvSpPr>
        <p:spPr>
          <a:xfrm>
            <a:off x="3840480" y="5614416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bit transmission over media</a:t>
            </a:r>
            <a:endParaRPr lang="en-US" sz="1200" dirty="0"/>
          </a:p>
        </p:txBody>
      </p:sp>
      <p:sp>
        <p:nvSpPr>
          <p:cNvPr id="53" name="Text 44"/>
          <p:cNvSpPr/>
          <p:nvPr/>
        </p:nvSpPr>
        <p:spPr>
          <a:xfrm>
            <a:off x="8595360" y="5614416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Cables · Wi-Fi · Hubs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5–7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21792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software layers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5–7 govern everything sent and received by applications — browsers, email clients, and operating systems.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blurRad="127000" dist="38100" dir="5400000" algn="bl" rotWithShape="0">
              <a:srgbClr val="0B3D5C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96596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423160"/>
            <a:ext cx="352044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841248" y="2167128"/>
            <a:ext cx="475488" cy="475488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10" name="Image 0" descr="/home/claude/osi/icon_a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276856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21488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7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463040" y="236829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96112" y="3017520"/>
            <a:ext cx="30083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to the end user. Provides the protocols software uses to send and receive data.</a:t>
            </a:r>
            <a:endParaRPr lang="en-US" sz="1150" dirty="0"/>
          </a:p>
        </p:txBody>
      </p:sp>
      <p:pic>
        <p:nvPicPr>
          <p:cNvPr id="14" name="Image 1" descr="/home/claude/osi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133088"/>
            <a:ext cx="164592" cy="1645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43000" y="4069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transfer to the presentation layer</a:t>
            </a:r>
            <a:endParaRPr lang="en-US" sz="1050" dirty="0"/>
          </a:p>
        </p:txBody>
      </p:sp>
      <p:pic>
        <p:nvPicPr>
          <p:cNvPr id="16" name="Image 2" descr="/home/claude/osi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700016"/>
            <a:ext cx="164592" cy="1645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43000" y="46360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Authenticates devices for transfer</a:t>
            </a:r>
            <a:endParaRPr lang="en-US" sz="1050" dirty="0"/>
          </a:p>
        </p:txBody>
      </p:sp>
      <p:pic>
        <p:nvPicPr>
          <p:cNvPr id="18" name="Image 3" descr="/home/claude/osi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5266944"/>
            <a:ext cx="164592" cy="1645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52029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remote access &amp; directory services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416552" y="196596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blurRad="127000" dist="38100" dir="5400000" algn="bl" rotWithShape="0">
              <a:srgbClr val="0B3D5C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416552" y="196596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19698A"/>
          </a:solidFill>
          <a:ln/>
        </p:spPr>
      </p:sp>
      <p:sp>
        <p:nvSpPr>
          <p:cNvPr id="22" name="Shape 16"/>
          <p:cNvSpPr/>
          <p:nvPr/>
        </p:nvSpPr>
        <p:spPr>
          <a:xfrm>
            <a:off x="4416552" y="2423160"/>
            <a:ext cx="3520440" cy="411480"/>
          </a:xfrm>
          <a:prstGeom prst="rect">
            <a:avLst/>
          </a:prstGeom>
          <a:solidFill>
            <a:srgbClr val="19698A"/>
          </a:solidFill>
          <a:ln/>
        </p:spPr>
      </p:sp>
      <p:sp>
        <p:nvSpPr>
          <p:cNvPr id="23" name="Shape 17"/>
          <p:cNvSpPr/>
          <p:nvPr/>
        </p:nvSpPr>
        <p:spPr>
          <a:xfrm>
            <a:off x="4617720" y="2167128"/>
            <a:ext cx="475488" cy="475488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24" name="Image 4" descr="/home/claude/osi/icon_present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2276856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239512" y="21488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6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5239512" y="236829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700" dirty="0"/>
          </a:p>
        </p:txBody>
      </p:sp>
      <p:sp>
        <p:nvSpPr>
          <p:cNvPr id="27" name="Text 20"/>
          <p:cNvSpPr/>
          <p:nvPr/>
        </p:nvSpPr>
        <p:spPr>
          <a:xfrm>
            <a:off x="4672584" y="3017520"/>
            <a:ext cx="30083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the syntax layer — converts data into a format the application layer can use.</a:t>
            </a:r>
            <a:endParaRPr lang="en-US" sz="1150" dirty="0"/>
          </a:p>
        </p:txBody>
      </p:sp>
      <p:pic>
        <p:nvPicPr>
          <p:cNvPr id="28" name="Image 5" descr="/home/claude/osi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584" y="4133088"/>
            <a:ext cx="164592" cy="16459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919472" y="4069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translation (e.g. EBCDIC → ASCII)</a:t>
            </a:r>
            <a:endParaRPr lang="en-US" sz="1050" dirty="0"/>
          </a:p>
        </p:txBody>
      </p:sp>
      <p:pic>
        <p:nvPicPr>
          <p:cNvPr id="30" name="Image 6" descr="/home/claude/osi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584" y="4700016"/>
            <a:ext cx="164592" cy="16459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4919472" y="46360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&amp; decryption</a:t>
            </a:r>
            <a:endParaRPr lang="en-US" sz="1050" dirty="0"/>
          </a:p>
        </p:txBody>
      </p:sp>
      <p:pic>
        <p:nvPicPr>
          <p:cNvPr id="32" name="Image 7" descr="/home/claude/osi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584" y="5266944"/>
            <a:ext cx="164592" cy="164592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919472" y="52029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/ decompression</a:t>
            </a:r>
            <a:endParaRPr lang="en-US" sz="1050" dirty="0"/>
          </a:p>
        </p:txBody>
      </p:sp>
      <p:sp>
        <p:nvSpPr>
          <p:cNvPr id="34" name="Shape 24"/>
          <p:cNvSpPr/>
          <p:nvPr/>
        </p:nvSpPr>
        <p:spPr>
          <a:xfrm>
            <a:off x="8193024" y="196596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blurRad="127000" dist="38100" dir="5400000" algn="bl" rotWithShape="0">
              <a:srgbClr val="0B3D5C">
                <a:alpha val="10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8193024" y="196596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166081"/>
          </a:solidFill>
          <a:ln/>
        </p:spPr>
      </p:sp>
      <p:sp>
        <p:nvSpPr>
          <p:cNvPr id="36" name="Shape 26"/>
          <p:cNvSpPr/>
          <p:nvPr/>
        </p:nvSpPr>
        <p:spPr>
          <a:xfrm>
            <a:off x="8193024" y="2423160"/>
            <a:ext cx="3520440" cy="411480"/>
          </a:xfrm>
          <a:prstGeom prst="rect">
            <a:avLst/>
          </a:prstGeom>
          <a:solidFill>
            <a:srgbClr val="166081"/>
          </a:solidFill>
          <a:ln/>
        </p:spPr>
      </p:sp>
      <p:sp>
        <p:nvSpPr>
          <p:cNvPr id="37" name="Shape 27"/>
          <p:cNvSpPr/>
          <p:nvPr/>
        </p:nvSpPr>
        <p:spPr>
          <a:xfrm>
            <a:off x="8394192" y="2167128"/>
            <a:ext cx="475488" cy="475488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38" name="Image 8" descr="/home/claude/osi/icon_sess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2276856"/>
            <a:ext cx="256032" cy="256032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9015984" y="21488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</a:t>
            </a:r>
            <a:endParaRPr lang="en-US" sz="1000" dirty="0"/>
          </a:p>
        </p:txBody>
      </p:sp>
      <p:sp>
        <p:nvSpPr>
          <p:cNvPr id="40" name="Text 29"/>
          <p:cNvSpPr/>
          <p:nvPr/>
        </p:nvSpPr>
        <p:spPr>
          <a:xfrm>
            <a:off x="9015984" y="236829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700" dirty="0"/>
          </a:p>
        </p:txBody>
      </p:sp>
      <p:sp>
        <p:nvSpPr>
          <p:cNvPr id="41" name="Text 30"/>
          <p:cNvSpPr/>
          <p:nvPr/>
        </p:nvSpPr>
        <p:spPr>
          <a:xfrm>
            <a:off x="8449056" y="3017520"/>
            <a:ext cx="30083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Opens, manages and cleanly terminates connections — called sessions — between devices.</a:t>
            </a:r>
            <a:endParaRPr lang="en-US" sz="1150" dirty="0"/>
          </a:p>
        </p:txBody>
      </p:sp>
      <p:pic>
        <p:nvPicPr>
          <p:cNvPr id="42" name="Image 9" descr="/home/claude/osi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056" y="4133088"/>
            <a:ext cx="164592" cy="164592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8695944" y="4069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logon / logoff</a:t>
            </a:r>
            <a:endParaRPr lang="en-US" sz="1050" dirty="0"/>
          </a:p>
        </p:txBody>
      </p:sp>
      <p:pic>
        <p:nvPicPr>
          <p:cNvPr id="44" name="Image 10" descr="/home/claude/osi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056" y="4700016"/>
            <a:ext cx="164592" cy="164592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8695944" y="46360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&amp; checkpoints</a:t>
            </a:r>
            <a:endParaRPr lang="en-US" sz="1050" dirty="0"/>
          </a:p>
        </p:txBody>
      </p:sp>
      <p:pic>
        <p:nvPicPr>
          <p:cNvPr id="46" name="Image 11" descr="/home/claude/osi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056" y="5266944"/>
            <a:ext cx="164592" cy="164592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8695944" y="52029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failure recovery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21792" y="80467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Transport: the heart of OSI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7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transport layer manages end-to-end delivery of complete messages. It breaks messages from the session layer into segments, then reassembles them in order at the destination.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3127248"/>
            <a:ext cx="274320" cy="2743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7" name="Image 0" descr="/home/claude/osi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200400"/>
            <a:ext cx="128016" cy="1280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308152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point addressing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051560" y="335584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Attaches a port address so messages reach the correct process.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3913632"/>
            <a:ext cx="274320" cy="2743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1" name="Image 1" descr="/home/claude/osi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986784"/>
            <a:ext cx="128016" cy="1280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386791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control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051560" y="414223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transmission speed between sender and receiver to prevent overflow.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4700016"/>
            <a:ext cx="274320" cy="2743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5" name="Image 2" descr="/home/claude/osi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773168"/>
            <a:ext cx="128016" cy="12801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51560" y="465429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Multiplexing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051560" y="4928616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E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multiple applications share the same connection at once.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7178040" y="1691640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TYPES OF SERVICE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178040" y="2057400"/>
            <a:ext cx="4343400" cy="1691640"/>
          </a:xfrm>
          <a:prstGeom prst="roundRect">
            <a:avLst>
              <a:gd name="adj" fmla="val 6486"/>
            </a:avLst>
          </a:prstGeom>
          <a:solidFill>
            <a:srgbClr val="1C7293"/>
          </a:solidFill>
          <a:ln w="12700">
            <a:solidFill>
              <a:srgbClr val="3D6E8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434072" y="2240280"/>
            <a:ext cx="3831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Connection-oriented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7434072" y="2606040"/>
            <a:ext cx="383133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→ transfer → terminate. The receiver sends an acknowledgment back for every packet delivered — reliable, but slower.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7178040" y="3931920"/>
            <a:ext cx="4343400" cy="1691640"/>
          </a:xfrm>
          <a:prstGeom prst="roundRect">
            <a:avLst>
              <a:gd name="adj" fmla="val 6486"/>
            </a:avLst>
          </a:prstGeom>
          <a:solidFill>
            <a:srgbClr val="FF6B35"/>
          </a:solidFill>
          <a:ln/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7434072" y="4114800"/>
            <a:ext cx="3831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Connectionless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7434072" y="4480560"/>
            <a:ext cx="383133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transfer only — no delivery confirmation. Faster, but less reliable than connection-oriented service.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1–3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21792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hardware layers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1–3 move data through the network's physical components as it's processed and forwarded.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blurRad="127000" dist="38100" dir="5400000" algn="bl" rotWithShape="0">
              <a:srgbClr val="0B3D5C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96596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114F6E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423160"/>
            <a:ext cx="3520440" cy="411480"/>
          </a:xfrm>
          <a:prstGeom prst="rect">
            <a:avLst/>
          </a:prstGeom>
          <a:solidFill>
            <a:srgbClr val="114F6E"/>
          </a:solidFill>
          <a:ln/>
        </p:spPr>
      </p:sp>
      <p:sp>
        <p:nvSpPr>
          <p:cNvPr id="9" name="Shape 7"/>
          <p:cNvSpPr/>
          <p:nvPr/>
        </p:nvSpPr>
        <p:spPr>
          <a:xfrm>
            <a:off x="841248" y="2167128"/>
            <a:ext cx="475488" cy="475488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10" name="Image 0" descr="/home/claude/osi/icon_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276856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21488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463040" y="236829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96112" y="3017520"/>
            <a:ext cx="30083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data addressing and routing across different networks using IPv4 / IPv6.</a:t>
            </a:r>
            <a:endParaRPr lang="en-US" sz="1150" dirty="0"/>
          </a:p>
        </p:txBody>
      </p:sp>
      <p:pic>
        <p:nvPicPr>
          <p:cNvPr id="14" name="Image 1" descr="/home/claude/osi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133088"/>
            <a:ext cx="164592" cy="1645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43000" y="4069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Fragments large packets, reassembles them</a:t>
            </a:r>
            <a:endParaRPr lang="en-US" sz="1050" dirty="0"/>
          </a:p>
        </p:txBody>
      </p:sp>
      <p:pic>
        <p:nvPicPr>
          <p:cNvPr id="16" name="Image 2" descr="/home/claude/osi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700016"/>
            <a:ext cx="164592" cy="1645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43000" y="46360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control to prevent congestion</a:t>
            </a:r>
            <a:endParaRPr lang="en-US" sz="1050" dirty="0"/>
          </a:p>
        </p:txBody>
      </p:sp>
      <p:pic>
        <p:nvPicPr>
          <p:cNvPr id="18" name="Image 3" descr="/home/claude/osi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5266944"/>
            <a:ext cx="164592" cy="1645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52029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isn't guaranteed at this layer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416552" y="196596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blurRad="127000" dist="38100" dir="5400000" algn="bl" rotWithShape="0">
              <a:srgbClr val="0B3D5C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416552" y="196596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E4665"/>
          </a:solidFill>
          <a:ln/>
        </p:spPr>
      </p:sp>
      <p:sp>
        <p:nvSpPr>
          <p:cNvPr id="22" name="Shape 16"/>
          <p:cNvSpPr/>
          <p:nvPr/>
        </p:nvSpPr>
        <p:spPr>
          <a:xfrm>
            <a:off x="4416552" y="2423160"/>
            <a:ext cx="3520440" cy="411480"/>
          </a:xfrm>
          <a:prstGeom prst="rect">
            <a:avLst/>
          </a:prstGeom>
          <a:solidFill>
            <a:srgbClr val="0E4665"/>
          </a:solidFill>
          <a:ln/>
        </p:spPr>
      </p:sp>
      <p:sp>
        <p:nvSpPr>
          <p:cNvPr id="23" name="Shape 17"/>
          <p:cNvSpPr/>
          <p:nvPr/>
        </p:nvSpPr>
        <p:spPr>
          <a:xfrm>
            <a:off x="4617720" y="2167128"/>
            <a:ext cx="475488" cy="475488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24" name="Image 4" descr="/home/claude/osi/icon_datal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2276856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239512" y="21488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5239512" y="236829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Link</a:t>
            </a:r>
            <a:endParaRPr lang="en-US" sz="1700" dirty="0"/>
          </a:p>
        </p:txBody>
      </p:sp>
      <p:sp>
        <p:nvSpPr>
          <p:cNvPr id="27" name="Text 20"/>
          <p:cNvSpPr/>
          <p:nvPr/>
        </p:nvSpPr>
        <p:spPr>
          <a:xfrm>
            <a:off x="4672584" y="3017520"/>
            <a:ext cx="30083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error-free transfer between devices on the same network via MAC addressing.</a:t>
            </a:r>
            <a:endParaRPr lang="en-US" sz="1150" dirty="0"/>
          </a:p>
        </p:txBody>
      </p:sp>
      <p:pic>
        <p:nvPicPr>
          <p:cNvPr id="28" name="Image 5" descr="/home/claude/osi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584" y="4133088"/>
            <a:ext cx="164592" cy="16459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919472" y="4069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LLC and MAC sublayers</a:t>
            </a:r>
            <a:endParaRPr lang="en-US" sz="1050" dirty="0"/>
          </a:p>
        </p:txBody>
      </p:sp>
      <p:pic>
        <p:nvPicPr>
          <p:cNvPr id="30" name="Image 6" descr="/home/claude/osi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584" y="4700016"/>
            <a:ext cx="164592" cy="16459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4919472" y="46360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 converts IP → MAC addresses</a:t>
            </a:r>
            <a:endParaRPr lang="en-US" sz="1050" dirty="0"/>
          </a:p>
        </p:txBody>
      </p:sp>
      <p:pic>
        <p:nvPicPr>
          <p:cNvPr id="32" name="Image 7" descr="/home/claude/osi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584" y="5266944"/>
            <a:ext cx="164592" cy="164592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919472" y="52029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&amp; retransmits damaged frames</a:t>
            </a:r>
            <a:endParaRPr lang="en-US" sz="1050" dirty="0"/>
          </a:p>
        </p:txBody>
      </p:sp>
      <p:sp>
        <p:nvSpPr>
          <p:cNvPr id="34" name="Shape 24"/>
          <p:cNvSpPr/>
          <p:nvPr/>
        </p:nvSpPr>
        <p:spPr>
          <a:xfrm>
            <a:off x="8193024" y="196596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blurRad="127000" dist="38100" dir="5400000" algn="bl" rotWithShape="0">
              <a:srgbClr val="0B3D5C">
                <a:alpha val="10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8193024" y="196596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B3D5C"/>
          </a:solidFill>
          <a:ln/>
        </p:spPr>
      </p:sp>
      <p:sp>
        <p:nvSpPr>
          <p:cNvPr id="36" name="Shape 26"/>
          <p:cNvSpPr/>
          <p:nvPr/>
        </p:nvSpPr>
        <p:spPr>
          <a:xfrm>
            <a:off x="8193024" y="2423160"/>
            <a:ext cx="3520440" cy="411480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37" name="Shape 27"/>
          <p:cNvSpPr/>
          <p:nvPr/>
        </p:nvSpPr>
        <p:spPr>
          <a:xfrm>
            <a:off x="8394192" y="2167128"/>
            <a:ext cx="475488" cy="475488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38" name="Image 8" descr="/home/claude/osi/icon_physic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2276856"/>
            <a:ext cx="256032" cy="256032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9015984" y="21488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000" dirty="0"/>
          </a:p>
        </p:txBody>
      </p:sp>
      <p:sp>
        <p:nvSpPr>
          <p:cNvPr id="40" name="Text 29"/>
          <p:cNvSpPr/>
          <p:nvPr/>
        </p:nvSpPr>
        <p:spPr>
          <a:xfrm>
            <a:off x="9015984" y="236829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700" dirty="0"/>
          </a:p>
        </p:txBody>
      </p:sp>
      <p:sp>
        <p:nvSpPr>
          <p:cNvPr id="41" name="Text 30"/>
          <p:cNvSpPr/>
          <p:nvPr/>
        </p:nvSpPr>
        <p:spPr>
          <a:xfrm>
            <a:off x="8449056" y="3017520"/>
            <a:ext cx="30083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assets — cables, routers, radios — that move raw bits between devices.</a:t>
            </a:r>
            <a:endParaRPr lang="en-US" sz="1150" dirty="0"/>
          </a:p>
        </p:txBody>
      </p:sp>
      <p:pic>
        <p:nvPicPr>
          <p:cNvPr id="42" name="Image 9" descr="/home/claude/osi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056" y="4133088"/>
            <a:ext cx="164592" cy="164592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8695944" y="4069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bit rate &amp; synchronization</a:t>
            </a:r>
            <a:endParaRPr lang="en-US" sz="1050" dirty="0"/>
          </a:p>
        </p:txBody>
      </p:sp>
      <p:pic>
        <p:nvPicPr>
          <p:cNvPr id="44" name="Image 10" descr="/home/claude/osi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056" y="4700016"/>
            <a:ext cx="164592" cy="164592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8695944" y="46360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Simplex, half- or full-duplex mode</a:t>
            </a:r>
            <a:endParaRPr lang="en-US" sz="1050" dirty="0"/>
          </a:p>
        </p:txBody>
      </p:sp>
      <p:pic>
        <p:nvPicPr>
          <p:cNvPr id="46" name="Image 11" descr="/home/claude/osi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056" y="5266944"/>
            <a:ext cx="164592" cy="164592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8695944" y="52029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Bus, star or mesh topology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21792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Sending one email, seven layers deep</a:t>
            </a:r>
            <a:endParaRPr lang="en-US" sz="2800" dirty="0"/>
          </a:p>
        </p:txBody>
      </p:sp>
      <p:pic>
        <p:nvPicPr>
          <p:cNvPr id="5" name="Image 0" descr="/home/claude/osi/icon_mail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4572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3716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Pressing “send” pushes the message down through every layer on the sender's device, then back up through all seven on the recipient's.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1413401" cy="2286000"/>
          </a:xfrm>
          <a:prstGeom prst="roundRect">
            <a:avLst>
              <a:gd name="adj" fmla="val 6470"/>
            </a:avLst>
          </a:prstGeom>
          <a:solidFill>
            <a:srgbClr val="1C7293"/>
          </a:solidFill>
          <a:ln/>
        </p:spPr>
      </p:sp>
      <p:sp>
        <p:nvSpPr>
          <p:cNvPr id="8" name="Shape 5"/>
          <p:cNvSpPr/>
          <p:nvPr/>
        </p:nvSpPr>
        <p:spPr>
          <a:xfrm>
            <a:off x="1145613" y="2496312"/>
            <a:ext cx="402336" cy="402336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145613" y="24963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2990088"/>
            <a:ext cx="123052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49808" y="3383280"/>
            <a:ext cx="119394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SMTP, hands the message off</a:t>
            </a:r>
            <a:endParaRPr lang="en-US" sz="950" dirty="0"/>
          </a:p>
        </p:txBody>
      </p:sp>
      <p:pic>
        <p:nvPicPr>
          <p:cNvPr id="12" name="Image 1" descr="/home/claude/osi/icon_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1769" y="3392424"/>
            <a:ext cx="164592" cy="16459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218073" y="2331720"/>
            <a:ext cx="1413401" cy="2286000"/>
          </a:xfrm>
          <a:prstGeom prst="roundRect">
            <a:avLst>
              <a:gd name="adj" fmla="val 6470"/>
            </a:avLst>
          </a:prstGeom>
          <a:solidFill>
            <a:srgbClr val="19698A"/>
          </a:solidFill>
          <a:ln/>
        </p:spPr>
      </p:sp>
      <p:sp>
        <p:nvSpPr>
          <p:cNvPr id="14" name="Shape 10"/>
          <p:cNvSpPr/>
          <p:nvPr/>
        </p:nvSpPr>
        <p:spPr>
          <a:xfrm>
            <a:off x="2723606" y="2496312"/>
            <a:ext cx="402336" cy="402336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2723606" y="24963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2309513" y="2990088"/>
            <a:ext cx="123052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327801" y="3383280"/>
            <a:ext cx="119394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Compresses the message data</a:t>
            </a:r>
            <a:endParaRPr lang="en-US" sz="950" dirty="0"/>
          </a:p>
        </p:txBody>
      </p:sp>
      <p:pic>
        <p:nvPicPr>
          <p:cNvPr id="18" name="Image 2" descr="/home/claude/osi/icon_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9762" y="3392424"/>
            <a:ext cx="164592" cy="16459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796066" y="2331720"/>
            <a:ext cx="1413401" cy="2286000"/>
          </a:xfrm>
          <a:prstGeom prst="roundRect">
            <a:avLst>
              <a:gd name="adj" fmla="val 6470"/>
            </a:avLst>
          </a:prstGeom>
          <a:solidFill>
            <a:srgbClr val="166081"/>
          </a:solidFill>
          <a:ln/>
        </p:spPr>
      </p:sp>
      <p:sp>
        <p:nvSpPr>
          <p:cNvPr id="20" name="Shape 15"/>
          <p:cNvSpPr/>
          <p:nvPr/>
        </p:nvSpPr>
        <p:spPr>
          <a:xfrm>
            <a:off x="4301599" y="2496312"/>
            <a:ext cx="402336" cy="402336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4301599" y="24963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3887506" y="2990088"/>
            <a:ext cx="123052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3905794" y="3383280"/>
            <a:ext cx="119394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 communication session</a:t>
            </a:r>
            <a:endParaRPr lang="en-US" sz="950" dirty="0"/>
          </a:p>
        </p:txBody>
      </p:sp>
      <p:pic>
        <p:nvPicPr>
          <p:cNvPr id="24" name="Image 3" descr="/home/claude/osi/icon_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7755" y="3392424"/>
            <a:ext cx="164592" cy="164592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5374059" y="2331720"/>
            <a:ext cx="1413401" cy="2286000"/>
          </a:xfrm>
          <a:prstGeom prst="roundRect">
            <a:avLst>
              <a:gd name="adj" fmla="val 6470"/>
            </a:avLst>
          </a:prstGeom>
          <a:solidFill>
            <a:srgbClr val="145878"/>
          </a:solidFill>
          <a:ln/>
        </p:spPr>
      </p:sp>
      <p:sp>
        <p:nvSpPr>
          <p:cNvPr id="26" name="Shape 20"/>
          <p:cNvSpPr/>
          <p:nvPr/>
        </p:nvSpPr>
        <p:spPr>
          <a:xfrm>
            <a:off x="5879592" y="2496312"/>
            <a:ext cx="402336" cy="402336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5879592" y="24963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5465499" y="2990088"/>
            <a:ext cx="123052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483787" y="3383280"/>
            <a:ext cx="119394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the message for transfer</a:t>
            </a:r>
            <a:endParaRPr lang="en-US" sz="950" dirty="0"/>
          </a:p>
        </p:txBody>
      </p:sp>
      <p:pic>
        <p:nvPicPr>
          <p:cNvPr id="30" name="Image 4" descr="/home/claude/osi/icon_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5749" y="3392424"/>
            <a:ext cx="164592" cy="164592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6952053" y="2331720"/>
            <a:ext cx="1413401" cy="2286000"/>
          </a:xfrm>
          <a:prstGeom prst="roundRect">
            <a:avLst>
              <a:gd name="adj" fmla="val 6470"/>
            </a:avLst>
          </a:prstGeom>
          <a:solidFill>
            <a:srgbClr val="114F6E"/>
          </a:solidFill>
          <a:ln/>
        </p:spPr>
      </p:sp>
      <p:sp>
        <p:nvSpPr>
          <p:cNvPr id="32" name="Shape 25"/>
          <p:cNvSpPr/>
          <p:nvPr/>
        </p:nvSpPr>
        <p:spPr>
          <a:xfrm>
            <a:off x="7457585" y="2496312"/>
            <a:ext cx="402336" cy="402336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3" name="Text 26"/>
          <p:cNvSpPr/>
          <p:nvPr/>
        </p:nvSpPr>
        <p:spPr>
          <a:xfrm>
            <a:off x="7457585" y="24963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4" name="Text 27"/>
          <p:cNvSpPr/>
          <p:nvPr/>
        </p:nvSpPr>
        <p:spPr>
          <a:xfrm>
            <a:off x="7043493" y="2990088"/>
            <a:ext cx="123052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7061781" y="3383280"/>
            <a:ext cx="119394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Divides segments into packets</a:t>
            </a:r>
            <a:endParaRPr lang="en-US" sz="950" dirty="0"/>
          </a:p>
        </p:txBody>
      </p:sp>
      <p:pic>
        <p:nvPicPr>
          <p:cNvPr id="36" name="Image 5" descr="/home/claude/osi/icon_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3742" y="3392424"/>
            <a:ext cx="164592" cy="164592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8530046" y="2331720"/>
            <a:ext cx="1413401" cy="2286000"/>
          </a:xfrm>
          <a:prstGeom prst="roundRect">
            <a:avLst>
              <a:gd name="adj" fmla="val 6470"/>
            </a:avLst>
          </a:prstGeom>
          <a:solidFill>
            <a:srgbClr val="0E4665"/>
          </a:solidFill>
          <a:ln/>
        </p:spPr>
      </p:sp>
      <p:sp>
        <p:nvSpPr>
          <p:cNvPr id="38" name="Shape 30"/>
          <p:cNvSpPr/>
          <p:nvPr/>
        </p:nvSpPr>
        <p:spPr>
          <a:xfrm>
            <a:off x="9035578" y="2496312"/>
            <a:ext cx="402336" cy="402336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9" name="Text 31"/>
          <p:cNvSpPr/>
          <p:nvPr/>
        </p:nvSpPr>
        <p:spPr>
          <a:xfrm>
            <a:off x="9035578" y="24963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0" name="Text 32"/>
          <p:cNvSpPr/>
          <p:nvPr/>
        </p:nvSpPr>
        <p:spPr>
          <a:xfrm>
            <a:off x="8621486" y="2990088"/>
            <a:ext cx="123052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Link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8639774" y="3383280"/>
            <a:ext cx="119394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packets into frames + MAC address</a:t>
            </a:r>
            <a:endParaRPr lang="en-US" sz="950" dirty="0"/>
          </a:p>
        </p:txBody>
      </p:sp>
      <p:pic>
        <p:nvPicPr>
          <p:cNvPr id="42" name="Image 6" descr="/home/claude/osi/icon_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1735" y="3392424"/>
            <a:ext cx="164592" cy="164592"/>
          </a:xfrm>
          <a:prstGeom prst="rect">
            <a:avLst/>
          </a:prstGeom>
        </p:spPr>
      </p:pic>
      <p:sp>
        <p:nvSpPr>
          <p:cNvPr id="43" name="Shape 34"/>
          <p:cNvSpPr/>
          <p:nvPr/>
        </p:nvSpPr>
        <p:spPr>
          <a:xfrm>
            <a:off x="10108039" y="2331720"/>
            <a:ext cx="1413401" cy="2286000"/>
          </a:xfrm>
          <a:prstGeom prst="roundRect">
            <a:avLst>
              <a:gd name="adj" fmla="val 6470"/>
            </a:avLst>
          </a:prstGeom>
          <a:solidFill>
            <a:srgbClr val="0B3D5C"/>
          </a:solidFill>
          <a:ln/>
        </p:spPr>
      </p:sp>
      <p:sp>
        <p:nvSpPr>
          <p:cNvPr id="44" name="Shape 35"/>
          <p:cNvSpPr/>
          <p:nvPr/>
        </p:nvSpPr>
        <p:spPr>
          <a:xfrm>
            <a:off x="10613571" y="2496312"/>
            <a:ext cx="402336" cy="402336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5" name="Text 36"/>
          <p:cNvSpPr/>
          <p:nvPr/>
        </p:nvSpPr>
        <p:spPr>
          <a:xfrm>
            <a:off x="10613571" y="24963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6" name="Text 37"/>
          <p:cNvSpPr/>
          <p:nvPr/>
        </p:nvSpPr>
        <p:spPr>
          <a:xfrm>
            <a:off x="10199479" y="2990088"/>
            <a:ext cx="123052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200" dirty="0"/>
          </a:p>
        </p:txBody>
      </p:sp>
      <p:sp>
        <p:nvSpPr>
          <p:cNvPr id="47" name="Text 38"/>
          <p:cNvSpPr/>
          <p:nvPr/>
        </p:nvSpPr>
        <p:spPr>
          <a:xfrm>
            <a:off x="10217767" y="3383280"/>
            <a:ext cx="119394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the bit stream over Wi-Fi</a:t>
            </a:r>
            <a:endParaRPr lang="en-US" sz="950" dirty="0"/>
          </a:p>
        </p:txBody>
      </p:sp>
      <p:sp>
        <p:nvSpPr>
          <p:cNvPr id="48" name="Text 39"/>
          <p:cNvSpPr/>
          <p:nvPr/>
        </p:nvSpPr>
        <p:spPr>
          <a:xfrm>
            <a:off x="640080" y="489204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recipient's device, the bit stream travels back up through Physical → Data Link → Network → Transport → Session → Presentation → Application, landing in the inbox.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21792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OSI vs. TCP/IP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 condenses OSI's seven conceptual layers into four practical ones — and it's what the real internet runs on.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828800" y="1691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MODEL — 7 LAYERS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0" y="1691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 MODEL — 4 LAYERS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0" y="2057400"/>
            <a:ext cx="3291840" cy="512064"/>
          </a:xfrm>
          <a:prstGeom prst="roundRect">
            <a:avLst>
              <a:gd name="adj" fmla="val 8929"/>
            </a:avLst>
          </a:prstGeom>
          <a:solidFill>
            <a:srgbClr val="0B3D5C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2057400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828800" y="2615184"/>
            <a:ext cx="3291840" cy="512064"/>
          </a:xfrm>
          <a:prstGeom prst="roundRect">
            <a:avLst>
              <a:gd name="adj" fmla="val 8929"/>
            </a:avLst>
          </a:prstGeom>
          <a:solidFill>
            <a:srgbClr val="0E4665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0" y="2615184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828800" y="3172968"/>
            <a:ext cx="3291840" cy="512064"/>
          </a:xfrm>
          <a:prstGeom prst="roundRect">
            <a:avLst>
              <a:gd name="adj" fmla="val 8929"/>
            </a:avLst>
          </a:prstGeom>
          <a:solidFill>
            <a:srgbClr val="114F6E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3172968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828800" y="3730752"/>
            <a:ext cx="3291840" cy="512064"/>
          </a:xfrm>
          <a:prstGeom prst="roundRect">
            <a:avLst>
              <a:gd name="adj" fmla="val 8929"/>
            </a:avLst>
          </a:prstGeom>
          <a:solidFill>
            <a:srgbClr val="145878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3730752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828800" y="4288536"/>
            <a:ext cx="3291840" cy="512064"/>
          </a:xfrm>
          <a:prstGeom prst="roundRect">
            <a:avLst>
              <a:gd name="adj" fmla="val 8929"/>
            </a:avLst>
          </a:prstGeom>
          <a:solidFill>
            <a:srgbClr val="166081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4288536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828800" y="4846320"/>
            <a:ext cx="3291840" cy="512064"/>
          </a:xfrm>
          <a:prstGeom prst="roundRect">
            <a:avLst>
              <a:gd name="adj" fmla="val 8929"/>
            </a:avLst>
          </a:prstGeom>
          <a:solidFill>
            <a:srgbClr val="19698A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0" y="4846320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Link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828800" y="5404104"/>
            <a:ext cx="3291840" cy="512064"/>
          </a:xfrm>
          <a:prstGeom prst="roundRect">
            <a:avLst>
              <a:gd name="adj" fmla="val 8929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1828800" y="5404104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315200" y="2057400"/>
            <a:ext cx="3291840" cy="1627632"/>
          </a:xfrm>
          <a:prstGeom prst="roundRect">
            <a:avLst>
              <a:gd name="adj" fmla="val 2809"/>
            </a:avLst>
          </a:prstGeom>
          <a:solidFill>
            <a:srgbClr val="1969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0" y="2057400"/>
            <a:ext cx="329184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315200" y="3730752"/>
            <a:ext cx="3291840" cy="512064"/>
          </a:xfrm>
          <a:prstGeom prst="roundRect">
            <a:avLst>
              <a:gd name="adj" fmla="val 8929"/>
            </a:avLst>
          </a:prstGeom>
          <a:solidFill>
            <a:srgbClr val="FF6B3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3730752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315200" y="4288536"/>
            <a:ext cx="3291840" cy="512064"/>
          </a:xfrm>
          <a:prstGeom prst="roundRect">
            <a:avLst>
              <a:gd name="adj" fmla="val 8929"/>
            </a:avLst>
          </a:prstGeom>
          <a:solidFill>
            <a:srgbClr val="114F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0" y="4288536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315200" y="4846320"/>
            <a:ext cx="3291840" cy="1069848"/>
          </a:xfrm>
          <a:prstGeom prst="roundRect">
            <a:avLst>
              <a:gd name="adj" fmla="val 4274"/>
            </a:avLst>
          </a:prstGeom>
          <a:solidFill>
            <a:srgbClr val="0B3D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0" y="4846320"/>
            <a:ext cx="3291840" cy="1069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Access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120640" y="2313432"/>
            <a:ext cx="2194560" cy="0"/>
          </a:xfrm>
          <a:prstGeom prst="line">
            <a:avLst/>
          </a:prstGeom>
          <a:noFill/>
          <a:ln w="12700">
            <a:solidFill>
              <a:srgbClr val="C7D4DC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5120640" y="2871216"/>
            <a:ext cx="2194560" cy="0"/>
          </a:xfrm>
          <a:prstGeom prst="line">
            <a:avLst/>
          </a:prstGeom>
          <a:noFill/>
          <a:ln w="12700">
            <a:solidFill>
              <a:srgbClr val="C7D4DC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5120640" y="3429000"/>
            <a:ext cx="2194560" cy="0"/>
          </a:xfrm>
          <a:prstGeom prst="line">
            <a:avLst/>
          </a:prstGeom>
          <a:noFill/>
          <a:ln w="12700">
            <a:solidFill>
              <a:srgbClr val="C7D4DC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5120640" y="3986784"/>
            <a:ext cx="2194560" cy="0"/>
          </a:xfrm>
          <a:prstGeom prst="line">
            <a:avLst/>
          </a:prstGeom>
          <a:noFill/>
          <a:ln w="12700">
            <a:solidFill>
              <a:srgbClr val="C7D4DC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5120640" y="4544568"/>
            <a:ext cx="2194560" cy="0"/>
          </a:xfrm>
          <a:prstGeom prst="line">
            <a:avLst/>
          </a:prstGeom>
          <a:noFill/>
          <a:ln w="12700">
            <a:solidFill>
              <a:srgbClr val="C7D4DC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5120640" y="5102352"/>
            <a:ext cx="2194560" cy="0"/>
          </a:xfrm>
          <a:prstGeom prst="line">
            <a:avLst/>
          </a:prstGeom>
          <a:noFill/>
          <a:ln w="12700">
            <a:solidFill>
              <a:srgbClr val="C7D4DC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5120640" y="5660136"/>
            <a:ext cx="2194560" cy="0"/>
          </a:xfrm>
          <a:prstGeom prst="line">
            <a:avLst/>
          </a:prstGeom>
          <a:noFill/>
          <a:ln w="12700">
            <a:solidFill>
              <a:srgbClr val="C7D4DC"/>
            </a:solidFill>
            <a:prstDash val="dash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STILL MATTERS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21792" y="804672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of the OSI model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520440" cy="3657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331720"/>
            <a:ext cx="822960" cy="822960"/>
          </a:xfrm>
          <a:prstGeom prst="ellipse">
            <a:avLst/>
          </a:prstGeom>
          <a:solidFill>
            <a:srgbClr val="F6F9FB"/>
          </a:solidFill>
          <a:ln/>
        </p:spPr>
      </p:sp>
      <p:pic>
        <p:nvPicPr>
          <p:cNvPr id="7" name="Image 0" descr="/home/claude/osi/icon_z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5603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3832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Accelerated R&amp;D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60120" y="402336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can be developed and updated independently, so new technology slots in without overhauling the whole stack.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16552" y="1965960"/>
            <a:ext cx="3520440" cy="3657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36592" y="2331720"/>
            <a:ext cx="822960" cy="822960"/>
          </a:xfrm>
          <a:prstGeom prst="ellipse">
            <a:avLst/>
          </a:prstGeom>
          <a:solidFill>
            <a:srgbClr val="F6F9FB"/>
          </a:solidFill>
          <a:ln/>
        </p:spPr>
      </p:sp>
      <p:pic>
        <p:nvPicPr>
          <p:cNvPr id="12" name="Image 1" descr="/home/claude/osi/icon_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25603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36592" y="33832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Streamlined knowledge sharing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736592" y="402336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common, decomposable structure makes it easy for teams to conceptualize and discuss a network.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93024" y="1965960"/>
            <a:ext cx="3520440" cy="3657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13064" y="2331720"/>
            <a:ext cx="822960" cy="822960"/>
          </a:xfrm>
          <a:prstGeom prst="ellipse">
            <a:avLst/>
          </a:prstGeom>
          <a:solidFill>
            <a:srgbClr val="F6F9FB"/>
          </a:solidFill>
          <a:ln/>
        </p:spPr>
      </p:sp>
      <p:pic>
        <p:nvPicPr>
          <p:cNvPr id="17" name="Image 2" descr="/home/claude/osi/icon_too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1664" y="25603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13064" y="33832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troubleshooting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8513064" y="402336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something breaks, teams can isolate the problem to a single layer without disrupting the rest.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212080"/>
            <a:ext cx="12191695" cy="822960"/>
          </a:xfrm>
          <a:prstGeom prst="rect">
            <a:avLst/>
          </a:prstGeom>
          <a:solidFill>
            <a:srgbClr val="19698A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389120"/>
            <a:ext cx="12191695" cy="822960"/>
          </a:xfrm>
          <a:prstGeom prst="rect">
            <a:avLst/>
          </a:prstGeom>
          <a:solidFill>
            <a:srgbClr val="166081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3566160"/>
            <a:ext cx="12191695" cy="822960"/>
          </a:xfrm>
          <a:prstGeom prst="rect">
            <a:avLst/>
          </a:prstGeom>
          <a:solidFill>
            <a:srgbClr val="145878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2743200"/>
            <a:ext cx="12191695" cy="822960"/>
          </a:xfrm>
          <a:prstGeom prst="rect">
            <a:avLst/>
          </a:prstGeom>
          <a:solidFill>
            <a:srgbClr val="114F6E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920240"/>
            <a:ext cx="12191695" cy="822960"/>
          </a:xfrm>
          <a:prstGeom prst="rect">
            <a:avLst/>
          </a:prstGeom>
          <a:solidFill>
            <a:srgbClr val="0E4665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097280"/>
            <a:ext cx="12191695" cy="822960"/>
          </a:xfrm>
          <a:prstGeom prst="rect">
            <a:avLst/>
          </a:prstGeom>
          <a:solidFill>
            <a:srgbClr val="0B3D5C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FF6B35"/>
          </a:solidFill>
          <a:ln/>
          <a:effectLst>
            <a:outerShdw blurRad="152400" dist="508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0" name="Image 0" descr="/home/claude/osi/icon_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240" y="1627632"/>
            <a:ext cx="585216" cy="58521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265176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layers. One shared language.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1965960" y="3520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OSI model may not run the modern internet directly — but it still shapes how every engineer thinks about, builds, and troubleshoots a network.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1035</Words>
  <Application>Microsoft Office PowerPoint</Application>
  <PresentationFormat>Widescreen</PresentationFormat>
  <Paragraphs>214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Anirudha Gaikwad</cp:lastModifiedBy>
  <cp:revision>3</cp:revision>
  <dcterms:created xsi:type="dcterms:W3CDTF">2026-08-07T07:47:18Z</dcterms:created>
  <dcterms:modified xsi:type="dcterms:W3CDTF">2026-08-07T07:52:44Z</dcterms:modified>
</cp:coreProperties>
</file>