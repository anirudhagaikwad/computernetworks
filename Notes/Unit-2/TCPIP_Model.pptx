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792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88920" y="18288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8288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01000" y="18288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18288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920240" y="128016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26280" y="128016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128016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738360" y="128016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37744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237744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263640" y="237744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869680" y="237744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75720" y="237744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82880" y="347472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788920" y="347472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394960" y="347472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0" y="347472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607040" y="347472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920240" y="457200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526280" y="457200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0" y="457200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738360" y="457200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51560" y="566928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0" y="566928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263640" y="566928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869680" y="566928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475720" y="566928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FUNDAMENTALS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2212848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TCP/IP</a:t>
            </a:r>
            <a:endParaRPr lang="en-US" sz="6000" dirty="0"/>
          </a:p>
        </p:txBody>
      </p:sp>
      <p:sp>
        <p:nvSpPr>
          <p:cNvPr id="32" name="Text 30"/>
          <p:cNvSpPr/>
          <p:nvPr/>
        </p:nvSpPr>
        <p:spPr>
          <a:xfrm>
            <a:off x="822960" y="33375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 suite that quietly runs the entire internet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615288" y="4572000"/>
            <a:ext cx="4297680" cy="1234440"/>
          </a:xfrm>
          <a:prstGeom prst="roundRect">
            <a:avLst>
              <a:gd name="adj" fmla="val 8889"/>
            </a:avLst>
          </a:prstGeom>
          <a:solidFill>
            <a:srgbClr val="0891B2"/>
          </a:solidFill>
          <a:ln/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843888" y="4828032"/>
            <a:ext cx="731520" cy="7315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35" name="Image 0" descr="/home/claude/tcpip/icon_s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624" y="5001768"/>
            <a:ext cx="384048" cy="384048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2758288" y="4754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</a:t>
            </a:r>
            <a:endParaRPr lang="en-US" sz="2600" dirty="0"/>
          </a:p>
        </p:txBody>
      </p:sp>
      <p:sp>
        <p:nvSpPr>
          <p:cNvPr id="37" name="Text 34"/>
          <p:cNvSpPr/>
          <p:nvPr/>
        </p:nvSpPr>
        <p:spPr>
          <a:xfrm>
            <a:off x="2758288" y="52303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Control Protocol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6278728" y="4572000"/>
            <a:ext cx="4297680" cy="1234440"/>
          </a:xfrm>
          <a:prstGeom prst="roundRect">
            <a:avLst>
              <a:gd name="adj" fmla="val 8889"/>
            </a:avLst>
          </a:prstGeom>
          <a:solidFill>
            <a:srgbClr val="E4002B"/>
          </a:solidFill>
          <a:ln/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507328" y="4828032"/>
            <a:ext cx="731520" cy="7315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40" name="Image 1" descr="/home/claude/tcpip/icon_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064" y="5001768"/>
            <a:ext cx="384048" cy="384048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7421728" y="4754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</a:t>
            </a:r>
            <a:endParaRPr lang="en-US" sz="2600" dirty="0"/>
          </a:p>
        </p:txBody>
      </p:sp>
      <p:sp>
        <p:nvSpPr>
          <p:cNvPr id="42" name="Text 38"/>
          <p:cNvSpPr/>
          <p:nvPr/>
        </p:nvSpPr>
        <p:spPr>
          <a:xfrm>
            <a:off x="7421728" y="52303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Protocol</a:t>
            </a:r>
            <a:endParaRPr lang="en-US" sz="1250" dirty="0"/>
          </a:p>
        </p:txBody>
      </p:sp>
      <p:sp>
        <p:nvSpPr>
          <p:cNvPr id="43" name="Text 39"/>
          <p:cNvSpPr/>
          <p:nvPr/>
        </p:nvSpPr>
        <p:spPr>
          <a:xfrm>
            <a:off x="82296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Engineering Task Force (IETF) Standard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PROTOCOLS, ONE JOB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TCP and IP each 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16636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27000" dist="38100" dir="5400000" algn="bl" rotWithShape="0">
              <a:srgbClr val="0B0F14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5166360" cy="1051560"/>
          </a:xfrm>
          <a:prstGeom prst="roundRect">
            <a:avLst>
              <a:gd name="adj" fmla="val 10435"/>
            </a:avLst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240280"/>
            <a:ext cx="516636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9202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home/claude/tcpip/icon_send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05740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185623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691640" y="231343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Control Protocol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297180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Organizes data so it can move between a server and client — establishing a connection, breaking data into packets, and guaranteeing it all arrives intact.</a:t>
            </a:r>
            <a:endParaRPr lang="en-US" sz="1250" dirty="0"/>
          </a:p>
        </p:txBody>
      </p:sp>
      <p:pic>
        <p:nvPicPr>
          <p:cNvPr id="13" name="Image 1" descr="/home/claude/tcpip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33088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4059936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a live connection before sending anything</a:t>
            </a:r>
            <a:endParaRPr lang="en-US" sz="1150" dirty="0"/>
          </a:p>
        </p:txBody>
      </p:sp>
      <p:pic>
        <p:nvPicPr>
          <p:cNvPr id="15" name="Image 2" descr="/home/claude/tcpip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754880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468172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large data into smaller, numbered packets</a:t>
            </a:r>
            <a:endParaRPr lang="en-US" sz="1150" dirty="0"/>
          </a:p>
        </p:txBody>
      </p:sp>
      <p:pic>
        <p:nvPicPr>
          <p:cNvPr id="17" name="Image 3" descr="/home/claude/tcpip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376672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53035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delivery and resends anything lost or corrupted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172200" y="1691640"/>
            <a:ext cx="516636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27000" dist="38100" dir="5400000" algn="bl" rotWithShape="0">
              <a:srgbClr val="0B0F14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172200" y="1691640"/>
            <a:ext cx="5166360" cy="1051560"/>
          </a:xfrm>
          <a:prstGeom prst="roundRect">
            <a:avLst>
              <a:gd name="adj" fmla="val 10435"/>
            </a:avLst>
          </a:prstGeom>
          <a:solidFill>
            <a:srgbClr val="1B2430"/>
          </a:solidFill>
          <a:ln/>
        </p:spPr>
      </p:sp>
      <p:sp>
        <p:nvSpPr>
          <p:cNvPr id="21" name="Shape 15"/>
          <p:cNvSpPr/>
          <p:nvPr/>
        </p:nvSpPr>
        <p:spPr>
          <a:xfrm>
            <a:off x="6172200" y="2240280"/>
            <a:ext cx="5166360" cy="50292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22" name="Shape 16"/>
          <p:cNvSpPr/>
          <p:nvPr/>
        </p:nvSpPr>
        <p:spPr>
          <a:xfrm>
            <a:off x="6446520" y="19202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/home/claude/tcpip/icon_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057400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23760" y="185623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</a:t>
            </a:r>
            <a:endParaRPr lang="en-US" sz="2400" dirty="0"/>
          </a:p>
        </p:txBody>
      </p:sp>
      <p:sp>
        <p:nvSpPr>
          <p:cNvPr id="25" name="Text 18"/>
          <p:cNvSpPr/>
          <p:nvPr/>
        </p:nvSpPr>
        <p:spPr>
          <a:xfrm>
            <a:off x="7223760" y="231343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Protocol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446520" y="297180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address — the IP address — every device needs to send and receive data, and the rules for exchanging packets across networks.</a:t>
            </a:r>
            <a:endParaRPr lang="en-US" sz="1250" dirty="0"/>
          </a:p>
        </p:txBody>
      </p:sp>
      <p:pic>
        <p:nvPicPr>
          <p:cNvPr id="27" name="Image 5" descr="/home/claude/tcpip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133088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720840" y="4059936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unique address to every connected device</a:t>
            </a:r>
            <a:endParaRPr lang="en-US" sz="1150" dirty="0"/>
          </a:p>
        </p:txBody>
      </p:sp>
      <p:pic>
        <p:nvPicPr>
          <p:cNvPr id="29" name="Image 6" descr="/home/claude/tcpip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754880"/>
            <a:ext cx="182880" cy="1828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720840" y="468172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each packet with source &amp; destination info</a:t>
            </a:r>
            <a:endParaRPr lang="en-US" sz="1150" dirty="0"/>
          </a:p>
        </p:txBody>
      </p:sp>
      <p:pic>
        <p:nvPicPr>
          <p:cNvPr id="31" name="Image 7" descr="/home/claude/tcpip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5376672"/>
            <a:ext cx="182880" cy="18288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720840" y="53035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packets across one network or many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TOGETHER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 vs. IP: what's the difference?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separate protocols that rely on each other — one finds the address, the other makes sure the message gets there.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6608" y="2148840"/>
            <a:ext cx="5120640" cy="2834640"/>
          </a:xfrm>
          <a:prstGeom prst="roundRect">
            <a:avLst>
              <a:gd name="adj" fmla="val 4516"/>
            </a:avLst>
          </a:prstGeom>
          <a:solidFill>
            <a:srgbClr val="26333F"/>
          </a:solidFill>
          <a:ln w="12700">
            <a:solidFill>
              <a:srgbClr val="3A4A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6648" y="2468880"/>
            <a:ext cx="777240" cy="777240"/>
          </a:xfrm>
          <a:prstGeom prst="ellipse">
            <a:avLst/>
          </a:prstGeom>
          <a:solidFill>
            <a:srgbClr val="E4002B"/>
          </a:solidFill>
          <a:ln/>
        </p:spPr>
      </p:sp>
      <p:pic>
        <p:nvPicPr>
          <p:cNvPr id="8" name="Image 0" descr="/home/claude/tcpip/icon_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960" y="267919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6648" y="34290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= the phone number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66648" y="39319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obtains and defines the address — the IP address — of the device data must reach. It's the identifier, not the delivery mechanism.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24448" y="2148840"/>
            <a:ext cx="5120640" cy="2834640"/>
          </a:xfrm>
          <a:prstGeom prst="roundRect">
            <a:avLst>
              <a:gd name="adj" fmla="val 4516"/>
            </a:avLst>
          </a:prstGeom>
          <a:solidFill>
            <a:srgbClr val="26333F"/>
          </a:solidFill>
          <a:ln w="12700">
            <a:solidFill>
              <a:srgbClr val="3A4A5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44488" y="2468880"/>
            <a:ext cx="777240" cy="7772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3" name="Image 1" descr="/home/claude/tcpip/icon_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00" y="267919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44488" y="34290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= the phone call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644488" y="39319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is responsible for transporting and routing data through the network, making sure it actually reaches the destination IP has defined.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280160" y="5349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TCP + IP let devices communicate over long distances — transferring data to where it needs to go, as efficiently as possible.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TRANSPORT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 vs. UDP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is TCP's leaner alternative — faster, but with none of the delivery guarantees.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16636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27000" dist="38100" dir="5400000" algn="bl" rotWithShape="0">
              <a:srgbClr val="0B0F14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65960"/>
            <a:ext cx="5166360" cy="777240"/>
          </a:xfrm>
          <a:prstGeom prst="roundRect">
            <a:avLst>
              <a:gd name="adj" fmla="val 14118"/>
            </a:avLst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350008"/>
            <a:ext cx="5166360" cy="393192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/home/claude/tcpip/icon_shield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6712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9659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389120" y="2185416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389120" y="218541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2999232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14400" y="322783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before data flows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4400" y="3726180"/>
            <a:ext cx="4617720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799332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914400" y="402793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sequenced &amp; reassembled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14400" y="4526280"/>
            <a:ext cx="4617720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4599432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914400" y="482803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loss, resends automatically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14400" y="5326380"/>
            <a:ext cx="4617720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5399532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914400" y="562813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web (HTTP), file transfer, SSH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172200" y="1965960"/>
            <a:ext cx="516636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27000" dist="38100" dir="5400000" algn="bl" rotWithShape="0">
              <a:srgbClr val="0B0F14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172200" y="1965960"/>
            <a:ext cx="5166360" cy="777240"/>
          </a:xfrm>
          <a:prstGeom prst="roundRect">
            <a:avLst>
              <a:gd name="adj" fmla="val 14118"/>
            </a:avLst>
          </a:prstGeom>
          <a:solidFill>
            <a:srgbClr val="E4002B"/>
          </a:solidFill>
          <a:ln/>
        </p:spPr>
      </p:sp>
      <p:sp>
        <p:nvSpPr>
          <p:cNvPr id="26" name="Shape 23"/>
          <p:cNvSpPr/>
          <p:nvPr/>
        </p:nvSpPr>
        <p:spPr>
          <a:xfrm>
            <a:off x="6172200" y="2350008"/>
            <a:ext cx="5166360" cy="393192"/>
          </a:xfrm>
          <a:prstGeom prst="rect">
            <a:avLst/>
          </a:prstGeom>
          <a:solidFill>
            <a:srgbClr val="E4002B"/>
          </a:solidFill>
          <a:ln/>
        </p:spPr>
      </p:sp>
      <p:pic>
        <p:nvPicPr>
          <p:cNvPr id="27" name="Image 1" descr="/home/claude/tcpip/icon_z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167128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949440" y="19659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UDP</a:t>
            </a:r>
            <a:endParaRPr lang="en-US" sz="2200" dirty="0"/>
          </a:p>
        </p:txBody>
      </p:sp>
      <p:sp>
        <p:nvSpPr>
          <p:cNvPr id="29" name="Shape 25"/>
          <p:cNvSpPr/>
          <p:nvPr/>
        </p:nvSpPr>
        <p:spPr>
          <a:xfrm>
            <a:off x="9921240" y="2185416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0" name="Text 26"/>
          <p:cNvSpPr/>
          <p:nvPr/>
        </p:nvSpPr>
        <p:spPr>
          <a:xfrm>
            <a:off x="9921240" y="218541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446520" y="2999232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6446520" y="322783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sends without signaling first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446520" y="3726180"/>
            <a:ext cx="4617720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46520" y="3799332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6446520" y="402793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sequencing guarantee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6446520" y="4526280"/>
            <a:ext cx="4617720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446520" y="4599432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6446520" y="482803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correction — drops are just dropped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6446520" y="5326380"/>
            <a:ext cx="4617720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446520" y="5399532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6446520" y="562813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lookups, VoIP, live streaming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SETUP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three-way handshake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single byte of real data moves, TCP/IP synchronizes both ends of the connection.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1B2430"/>
          </a:solidFill>
          <a:ln/>
        </p:spPr>
      </p:sp>
      <p:pic>
        <p:nvPicPr>
          <p:cNvPr id="7" name="Image 0" descr="/home/claude/tcpip/icon_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9202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5694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189720" y="1783080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0891B2"/>
          </a:solidFill>
          <a:ln/>
        </p:spPr>
      </p:sp>
      <p:pic>
        <p:nvPicPr>
          <p:cNvPr id="10" name="Image 1" descr="/home/claude/tcpip/icon_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08" y="19202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89720" y="25694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1188720" y="2880360"/>
            <a:ext cx="0" cy="2834640"/>
          </a:xfrm>
          <a:prstGeom prst="line">
            <a:avLst/>
          </a:prstGeom>
          <a:noFill/>
          <a:ln w="19050">
            <a:solidFill>
              <a:srgbClr val="C7D0D6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9692640" y="2880360"/>
            <a:ext cx="0" cy="2834640"/>
          </a:xfrm>
          <a:prstGeom prst="line">
            <a:avLst/>
          </a:prstGeom>
          <a:noFill/>
          <a:ln w="19050">
            <a:solidFill>
              <a:srgbClr val="C7D0D6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1188720" y="3200400"/>
            <a:ext cx="8503920" cy="0"/>
          </a:xfrm>
          <a:prstGeom prst="line">
            <a:avLst/>
          </a:prstGeom>
          <a:noFill/>
          <a:ln w="31750">
            <a:solidFill>
              <a:srgbClr val="E4002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436608" y="3118104"/>
            <a:ext cx="256032" cy="164592"/>
          </a:xfrm>
          <a:prstGeom prst="rightArrow">
            <a:avLst/>
          </a:prstGeom>
          <a:solidFill>
            <a:srgbClr val="E4002B"/>
          </a:solidFill>
          <a:ln/>
        </p:spPr>
      </p:sp>
      <p:sp>
        <p:nvSpPr>
          <p:cNvPr id="16" name="Text 12"/>
          <p:cNvSpPr/>
          <p:nvPr/>
        </p:nvSpPr>
        <p:spPr>
          <a:xfrm>
            <a:off x="1463040" y="28346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SYN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606040" y="3291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requests a connection, proposing an initial sequence number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1188720" y="4114800"/>
            <a:ext cx="850392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88720" y="4032504"/>
            <a:ext cx="256032" cy="164592"/>
          </a:xfrm>
          <a:prstGeom prst="leftArrow">
            <a:avLst/>
          </a:prstGeom>
          <a:solidFill>
            <a:srgbClr val="0891B2"/>
          </a:solidFill>
          <a:ln/>
        </p:spPr>
      </p:sp>
      <p:sp>
        <p:nvSpPr>
          <p:cNvPr id="20" name="Text 16"/>
          <p:cNvSpPr/>
          <p:nvPr/>
        </p:nvSpPr>
        <p:spPr>
          <a:xfrm>
            <a:off x="6583680" y="3749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SYN-ACK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2606040" y="42062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acknowledges and sends its own sequence number back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1188720" y="5029200"/>
            <a:ext cx="8503920" cy="0"/>
          </a:xfrm>
          <a:prstGeom prst="line">
            <a:avLst/>
          </a:prstGeom>
          <a:noFill/>
          <a:ln w="31750">
            <a:solidFill>
              <a:srgbClr val="E4002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436608" y="4946904"/>
            <a:ext cx="256032" cy="164592"/>
          </a:xfrm>
          <a:prstGeom prst="rightArrow">
            <a:avLst/>
          </a:prstGeom>
          <a:solidFill>
            <a:srgbClr val="E4002B"/>
          </a:solidFill>
          <a:ln/>
        </p:spPr>
      </p:sp>
      <p:sp>
        <p:nvSpPr>
          <p:cNvPr id="24" name="Text 20"/>
          <p:cNvSpPr/>
          <p:nvPr/>
        </p:nvSpPr>
        <p:spPr>
          <a:xfrm>
            <a:off x="1463040" y="46634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ACK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2606040" y="51206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confirms — the connection is now open on both ends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all three steps complete can multiple TCP socket connections transfer data in both directions at once.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layers of TCP/IP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007108"/>
            <a:ext cx="512064" cy="51206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0071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pic>
        <p:nvPicPr>
          <p:cNvPr id="8" name="Image 0" descr="/home/claude/tcpip/icon_s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08940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17830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0" y="178308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users interact — email, browsers, messaging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235440" y="178308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· SMTP · IMAP · FTP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2852928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4002B"/>
          </a:solidFill>
          <a:ln/>
        </p:spPr>
      </p:sp>
      <p:sp>
        <p:nvSpPr>
          <p:cNvPr id="13" name="Shape 10"/>
          <p:cNvSpPr/>
          <p:nvPr/>
        </p:nvSpPr>
        <p:spPr>
          <a:xfrm>
            <a:off x="841248" y="3076956"/>
            <a:ext cx="512064" cy="51206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" y="30769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15" name="Image 1" descr="/home/claude/tcpip/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3159252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57400" y="285292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572000" y="2852928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delivery — segments data, numbers packets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9235440" y="2852928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· UDP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40080" y="3922776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2A4A57"/>
          </a:solidFill>
          <a:ln/>
        </p:spPr>
      </p:sp>
      <p:sp>
        <p:nvSpPr>
          <p:cNvPr id="20" name="Shape 16"/>
          <p:cNvSpPr/>
          <p:nvPr/>
        </p:nvSpPr>
        <p:spPr>
          <a:xfrm>
            <a:off x="841248" y="4146804"/>
            <a:ext cx="512064" cy="51206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841248" y="41468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22" name="Image 2" descr="/home/claude/tcpip/icon_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4229100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057400" y="3922776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4572000" y="3922776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&amp; routes packets across networks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9235440" y="3922776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· ICMP · ARP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40080" y="4992624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1B2430"/>
          </a:solidFill>
          <a:ln w="12700">
            <a:solidFill>
              <a:srgbClr val="3A4A57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41248" y="5216652"/>
            <a:ext cx="512064" cy="51206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841248" y="52166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29" name="Image 3" descr="/home/claude/tcpip/icon_wif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480" y="5298948"/>
            <a:ext cx="347472" cy="34747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2057400" y="4992624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4572000" y="4992624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transmission of bits over hardware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9235440" y="4992624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· Wi-Fi · NIC drivers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640080" y="619963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passes down through all four layers to send, then back up through all four to receive.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BY LAYER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layer actually does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624328" cy="44805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25400" dir="5400000" algn="bl" rotWithShape="0">
              <a:srgbClr val="0B0F14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2624328" cy="914400"/>
          </a:xfrm>
          <a:prstGeom prst="roundRect">
            <a:avLst>
              <a:gd name="adj" fmla="val 12000"/>
            </a:avLst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2624328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828800"/>
            <a:ext cx="420624" cy="420624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9" name="Image 0" descr="/home/claude/tcpip/icon_send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929384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2267712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04672" y="182880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" y="2743200"/>
            <a:ext cx="22585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that need TCP/IP to communicate — combines OSI's session, presentation &amp; application layers.</a:t>
            </a:r>
            <a:endParaRPr lang="en-US" sz="1000" dirty="0"/>
          </a:p>
        </p:txBody>
      </p:sp>
      <p:pic>
        <p:nvPicPr>
          <p:cNvPr id="13" name="Image 1" descr="/home/claude/tcpip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133088"/>
            <a:ext cx="146304" cy="1463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24128" y="40690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level users directly interact with</a:t>
            </a:r>
            <a:endParaRPr lang="en-US" sz="950" dirty="0"/>
          </a:p>
        </p:txBody>
      </p:sp>
      <p:pic>
        <p:nvPicPr>
          <p:cNvPr id="15" name="Image 2" descr="/home/claude/tcpip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791456"/>
            <a:ext cx="146304" cy="1463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4128" y="472744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email, messaging, web browsing</a:t>
            </a:r>
            <a:endParaRPr lang="en-US" sz="950" dirty="0"/>
          </a:p>
        </p:txBody>
      </p:sp>
      <p:pic>
        <p:nvPicPr>
          <p:cNvPr id="17" name="Image 3" descr="/home/claude/tcpip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449824"/>
            <a:ext cx="146304" cy="1463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4128" y="5385816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SMTP, IMAP, FTP protocols live here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3447288" y="1691640"/>
            <a:ext cx="2624328" cy="44805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25400" dir="5400000" algn="bl" rotWithShape="0">
              <a:srgbClr val="0B0F14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3447288" y="1691640"/>
            <a:ext cx="2624328" cy="914400"/>
          </a:xfrm>
          <a:prstGeom prst="roundRect">
            <a:avLst>
              <a:gd name="adj" fmla="val 12000"/>
            </a:avLst>
          </a:prstGeom>
          <a:solidFill>
            <a:srgbClr val="E4002B"/>
          </a:solidFill>
          <a:ln/>
        </p:spPr>
      </p:sp>
      <p:sp>
        <p:nvSpPr>
          <p:cNvPr id="21" name="Shape 15"/>
          <p:cNvSpPr/>
          <p:nvPr/>
        </p:nvSpPr>
        <p:spPr>
          <a:xfrm>
            <a:off x="3447288" y="2148840"/>
            <a:ext cx="2624328" cy="45720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22" name="Shape 16"/>
          <p:cNvSpPr/>
          <p:nvPr/>
        </p:nvSpPr>
        <p:spPr>
          <a:xfrm>
            <a:off x="3611880" y="1828800"/>
            <a:ext cx="420624" cy="420624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23" name="Image 4" descr="/home/claude/tcpip/icon_shield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464" y="1929384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611880" y="2267712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3611880" y="182880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3630168" y="2743200"/>
            <a:ext cx="22585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solid, reliable connection — this is where data is divided into numbered packets.</a:t>
            </a:r>
            <a:endParaRPr lang="en-US" sz="1000" dirty="0"/>
          </a:p>
        </p:txBody>
      </p:sp>
      <p:pic>
        <p:nvPicPr>
          <p:cNvPr id="27" name="Image 5" descr="/home/claude/tcpip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4133088"/>
            <a:ext cx="146304" cy="14630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831336" y="40690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how much data to send, and when</a:t>
            </a:r>
            <a:endParaRPr lang="en-US" sz="950" dirty="0"/>
          </a:p>
        </p:txBody>
      </p:sp>
      <p:pic>
        <p:nvPicPr>
          <p:cNvPr id="29" name="Image 6" descr="/home/claude/tcpip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4791456"/>
            <a:ext cx="146304" cy="14630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3831336" y="472744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packets error-free and in sequence</a:t>
            </a:r>
            <a:endParaRPr lang="en-US" sz="950" dirty="0"/>
          </a:p>
        </p:txBody>
      </p:sp>
      <p:pic>
        <p:nvPicPr>
          <p:cNvPr id="31" name="Image 7" descr="/home/claude/tcpip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5449824"/>
            <a:ext cx="146304" cy="14630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3831336" y="5385816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destination received everything</a:t>
            </a:r>
            <a:endParaRPr lang="en-US" sz="950" dirty="0"/>
          </a:p>
        </p:txBody>
      </p:sp>
      <p:sp>
        <p:nvSpPr>
          <p:cNvPr id="33" name="Shape 23"/>
          <p:cNvSpPr/>
          <p:nvPr/>
        </p:nvSpPr>
        <p:spPr>
          <a:xfrm>
            <a:off x="6254496" y="1691640"/>
            <a:ext cx="2624328" cy="44805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25400" dir="5400000" algn="bl" rotWithShape="0">
              <a:srgbClr val="0B0F14">
                <a:alpha val="8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6254496" y="1691640"/>
            <a:ext cx="2624328" cy="914400"/>
          </a:xfrm>
          <a:prstGeom prst="roundRect">
            <a:avLst>
              <a:gd name="adj" fmla="val 12000"/>
            </a:avLst>
          </a:prstGeom>
          <a:solidFill>
            <a:srgbClr val="2A4A57"/>
          </a:solidFill>
          <a:ln/>
        </p:spPr>
      </p:sp>
      <p:sp>
        <p:nvSpPr>
          <p:cNvPr id="35" name="Shape 25"/>
          <p:cNvSpPr/>
          <p:nvPr/>
        </p:nvSpPr>
        <p:spPr>
          <a:xfrm>
            <a:off x="6254496" y="2148840"/>
            <a:ext cx="2624328" cy="457200"/>
          </a:xfrm>
          <a:prstGeom prst="rect">
            <a:avLst/>
          </a:prstGeom>
          <a:solidFill>
            <a:srgbClr val="2A4A57"/>
          </a:solidFill>
          <a:ln/>
        </p:spPr>
      </p:sp>
      <p:sp>
        <p:nvSpPr>
          <p:cNvPr id="36" name="Shape 26"/>
          <p:cNvSpPr/>
          <p:nvPr/>
        </p:nvSpPr>
        <p:spPr>
          <a:xfrm>
            <a:off x="6419088" y="1828800"/>
            <a:ext cx="420624" cy="420624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37" name="Image 8" descr="/home/claude/tcpip/icon_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1929384"/>
            <a:ext cx="219456" cy="219456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419088" y="2267712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450" dirty="0"/>
          </a:p>
        </p:txBody>
      </p:sp>
      <p:sp>
        <p:nvSpPr>
          <p:cNvPr id="39" name="Text 28"/>
          <p:cNvSpPr/>
          <p:nvPr/>
        </p:nvSpPr>
        <p:spPr>
          <a:xfrm>
            <a:off x="6419088" y="182880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00" dirty="0"/>
          </a:p>
        </p:txBody>
      </p:sp>
      <p:sp>
        <p:nvSpPr>
          <p:cNvPr id="40" name="Text 29"/>
          <p:cNvSpPr/>
          <p:nvPr/>
        </p:nvSpPr>
        <p:spPr>
          <a:xfrm>
            <a:off x="6437376" y="2743200"/>
            <a:ext cx="22585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packets from a network and controls their movement to make sure they reach their destination.</a:t>
            </a:r>
            <a:endParaRPr lang="en-US" sz="1000" dirty="0"/>
          </a:p>
        </p:txBody>
      </p:sp>
      <p:pic>
        <p:nvPicPr>
          <p:cNvPr id="41" name="Image 9" descr="/home/claude/tcpip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4133088"/>
            <a:ext cx="146304" cy="14630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638544" y="40690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is the main protocol at this layer</a:t>
            </a:r>
            <a:endParaRPr lang="en-US" sz="950" dirty="0"/>
          </a:p>
        </p:txBody>
      </p:sp>
      <p:pic>
        <p:nvPicPr>
          <p:cNvPr id="43" name="Image 10" descr="/home/claude/tcpip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4791456"/>
            <a:ext cx="146304" cy="146304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638544" y="472744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each packet with address information</a:t>
            </a:r>
            <a:endParaRPr lang="en-US" sz="950" dirty="0"/>
          </a:p>
        </p:txBody>
      </p:sp>
      <p:pic>
        <p:nvPicPr>
          <p:cNvPr id="45" name="Image 11" descr="/home/claude/tcpip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5449824"/>
            <a:ext cx="146304" cy="146304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6638544" y="5385816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the path across networks</a:t>
            </a:r>
            <a:endParaRPr lang="en-US" sz="950" dirty="0"/>
          </a:p>
        </p:txBody>
      </p:sp>
      <p:sp>
        <p:nvSpPr>
          <p:cNvPr id="47" name="Shape 33"/>
          <p:cNvSpPr/>
          <p:nvPr/>
        </p:nvSpPr>
        <p:spPr>
          <a:xfrm>
            <a:off x="9061704" y="1691640"/>
            <a:ext cx="2624328" cy="44805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25400" dir="5400000" algn="bl" rotWithShape="0">
              <a:srgbClr val="0B0F14">
                <a:alpha val="8000"/>
              </a:srgbClr>
            </a:outerShdw>
          </a:effectLst>
        </p:spPr>
      </p:sp>
      <p:sp>
        <p:nvSpPr>
          <p:cNvPr id="48" name="Shape 34"/>
          <p:cNvSpPr/>
          <p:nvPr/>
        </p:nvSpPr>
        <p:spPr>
          <a:xfrm>
            <a:off x="9061704" y="1691640"/>
            <a:ext cx="2624328" cy="914400"/>
          </a:xfrm>
          <a:prstGeom prst="roundRect">
            <a:avLst>
              <a:gd name="adj" fmla="val 12000"/>
            </a:avLst>
          </a:prstGeom>
          <a:solidFill>
            <a:srgbClr val="1B2430"/>
          </a:solidFill>
          <a:ln/>
        </p:spPr>
      </p:sp>
      <p:sp>
        <p:nvSpPr>
          <p:cNvPr id="49" name="Shape 35"/>
          <p:cNvSpPr/>
          <p:nvPr/>
        </p:nvSpPr>
        <p:spPr>
          <a:xfrm>
            <a:off x="9061704" y="2148840"/>
            <a:ext cx="2624328" cy="45720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50" name="Shape 36"/>
          <p:cNvSpPr/>
          <p:nvPr/>
        </p:nvSpPr>
        <p:spPr>
          <a:xfrm>
            <a:off x="9226296" y="1828800"/>
            <a:ext cx="420624" cy="420624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51" name="Image 12" descr="/home/claude/tcpip/icon_wif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0" y="1929384"/>
            <a:ext cx="219456" cy="219456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9226296" y="2267712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450" dirty="0"/>
          </a:p>
        </p:txBody>
      </p:sp>
      <p:sp>
        <p:nvSpPr>
          <p:cNvPr id="53" name="Text 38"/>
          <p:cNvSpPr/>
          <p:nvPr/>
        </p:nvSpPr>
        <p:spPr>
          <a:xfrm>
            <a:off x="9226296" y="182880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00" dirty="0"/>
          </a:p>
        </p:txBody>
      </p:sp>
      <p:sp>
        <p:nvSpPr>
          <p:cNvPr id="54" name="Text 39"/>
          <p:cNvSpPr/>
          <p:nvPr/>
        </p:nvSpPr>
        <p:spPr>
          <a:xfrm>
            <a:off x="9244584" y="2743200"/>
            <a:ext cx="22585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physical act of sending and receiving data — also called the link or network access layer.</a:t>
            </a:r>
            <a:endParaRPr lang="en-US" sz="1000" dirty="0"/>
          </a:p>
        </p:txBody>
      </p:sp>
      <p:pic>
        <p:nvPicPr>
          <p:cNvPr id="55" name="Image 13" descr="/home/claude/tcpip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4584" y="4133088"/>
            <a:ext cx="146304" cy="146304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9445752" y="40690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OSI's physical + data link layers</a:t>
            </a:r>
            <a:endParaRPr lang="en-US" sz="950" dirty="0"/>
          </a:p>
        </p:txBody>
      </p:sp>
      <p:pic>
        <p:nvPicPr>
          <p:cNvPr id="57" name="Image 14" descr="/home/claude/tcpip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4584" y="4791456"/>
            <a:ext cx="146304" cy="146304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9445752" y="472744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NICs, Ethernet cables, Wi-Fi radios</a:t>
            </a:r>
            <a:endParaRPr lang="en-US" sz="950" dirty="0"/>
          </a:p>
        </p:txBody>
      </p:sp>
      <p:pic>
        <p:nvPicPr>
          <p:cNvPr id="59" name="Image 15" descr="/home/claude/tcpip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4584" y="5449824"/>
            <a:ext cx="146304" cy="146304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9445752" y="5385816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how hardware signals raw data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email's journey through TCP/IP</a:t>
            </a:r>
            <a:endParaRPr lang="en-US" sz="3200" dirty="0"/>
          </a:p>
        </p:txBody>
      </p:sp>
      <p:pic>
        <p:nvPicPr>
          <p:cNvPr id="5" name="Image 0" descr="/home/claude/tcpip/icon_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4572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4173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one SMTP email touches every layer twice — once down, once back up at the destination.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0891B2"/>
          </a:solidFill>
          <a:ln/>
        </p:spPr>
      </p:sp>
      <p:sp>
        <p:nvSpPr>
          <p:cNvPr id="8" name="Shape 5"/>
          <p:cNvSpPr/>
          <p:nvPr/>
        </p:nvSpPr>
        <p:spPr>
          <a:xfrm>
            <a:off x="1572768" y="2468880"/>
            <a:ext cx="512064" cy="51206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9" name="Image 1" descr="/home/claude/tcpip/icon_send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2496" y="25786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307238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68096" y="3419856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server prepares the outgoing message</a:t>
            </a:r>
            <a:endParaRPr lang="en-US" sz="950" dirty="0"/>
          </a:p>
        </p:txBody>
      </p:sp>
      <p:pic>
        <p:nvPicPr>
          <p:cNvPr id="12" name="Image 2" descr="/home/claude/tcpip/icon_arrow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672" y="3108960"/>
            <a:ext cx="292608" cy="1828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474720" y="228600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E4002B"/>
          </a:solidFill>
          <a:ln/>
        </p:spPr>
      </p:sp>
      <p:sp>
        <p:nvSpPr>
          <p:cNvPr id="14" name="Shape 9"/>
          <p:cNvSpPr/>
          <p:nvPr/>
        </p:nvSpPr>
        <p:spPr>
          <a:xfrm>
            <a:off x="4407408" y="2468880"/>
            <a:ext cx="512064" cy="51206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5" name="Image 3" descr="/home/claude/tcpip/icon_shield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136" y="2578608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66160" y="307238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3602736" y="3419856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divides the message into numbered packets</a:t>
            </a:r>
            <a:endParaRPr lang="en-US" sz="950" dirty="0"/>
          </a:p>
        </p:txBody>
      </p:sp>
      <p:pic>
        <p:nvPicPr>
          <p:cNvPr id="18" name="Image 4" descr="/home/claude/tcpip/icon_arrow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2" y="3108960"/>
            <a:ext cx="292608" cy="18288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309360" y="228600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2A4A57"/>
          </a:solidFill>
          <a:ln/>
        </p:spPr>
      </p:sp>
      <p:sp>
        <p:nvSpPr>
          <p:cNvPr id="20" name="Shape 13"/>
          <p:cNvSpPr/>
          <p:nvPr/>
        </p:nvSpPr>
        <p:spPr>
          <a:xfrm>
            <a:off x="7242048" y="2468880"/>
            <a:ext cx="512064" cy="51206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1" name="Image 5" descr="/home/claude/tcpip/icon_glo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1776" y="2578608"/>
            <a:ext cx="292608" cy="29260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400800" y="307238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50" dirty="0"/>
          </a:p>
        </p:txBody>
      </p:sp>
      <p:sp>
        <p:nvSpPr>
          <p:cNvPr id="23" name="Text 15"/>
          <p:cNvSpPr/>
          <p:nvPr/>
        </p:nvSpPr>
        <p:spPr>
          <a:xfrm>
            <a:off x="6437376" y="3419856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layer transports each packet toward the destination</a:t>
            </a:r>
            <a:endParaRPr lang="en-US" sz="950" dirty="0"/>
          </a:p>
        </p:txBody>
      </p:sp>
      <p:pic>
        <p:nvPicPr>
          <p:cNvPr id="24" name="Image 6" descr="/home/claude/tcpip/icon_arrow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952" y="3108960"/>
            <a:ext cx="292608" cy="18288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9144000" y="228600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1B2430"/>
          </a:solidFill>
          <a:ln/>
        </p:spPr>
      </p:sp>
      <p:sp>
        <p:nvSpPr>
          <p:cNvPr id="26" name="Shape 17"/>
          <p:cNvSpPr/>
          <p:nvPr/>
        </p:nvSpPr>
        <p:spPr>
          <a:xfrm>
            <a:off x="10076688" y="2468880"/>
            <a:ext cx="512064" cy="51206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7" name="Image 7" descr="/home/claude/tcpip/icon_wif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6416" y="2578608"/>
            <a:ext cx="292608" cy="29260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9235440" y="307238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250" dirty="0"/>
          </a:p>
        </p:txBody>
      </p:sp>
      <p:sp>
        <p:nvSpPr>
          <p:cNvPr id="29" name="Text 19"/>
          <p:cNvSpPr/>
          <p:nvPr/>
        </p:nvSpPr>
        <p:spPr>
          <a:xfrm>
            <a:off x="9272016" y="3419856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go out over the physical network hardware</a:t>
            </a:r>
            <a:endParaRPr lang="en-US" sz="950" dirty="0"/>
          </a:p>
        </p:txBody>
      </p:sp>
      <p:sp>
        <p:nvSpPr>
          <p:cNvPr id="30" name="Text 20"/>
          <p:cNvSpPr/>
          <p:nvPr/>
        </p:nvSpPr>
        <p:spPr>
          <a:xfrm>
            <a:off x="640080" y="4526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destination, packets are handed back to TCP, reassembled in order, and delivered up through Internet → Transport → Application to the recipient's inbox.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4F4"/>
          </a:solidFill>
          <a:ln w="12700">
            <a:solidFill>
              <a:srgbClr val="F3C9CE"/>
            </a:solidFill>
            <a:prstDash val="solid"/>
          </a:ln>
        </p:spPr>
      </p:sp>
      <p:pic>
        <p:nvPicPr>
          <p:cNvPr id="32" name="Image 8" descr="/home/claude/tcpip/icon_ale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5468112"/>
            <a:ext cx="365760" cy="36576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1371600" y="53949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packet can take a different route to the destination — TCP/IP reroutes automatically if a path is congested or unavailable.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TCP/IP vs. the OSI model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is the practical, four-layer model the internet actually runs on — OSI's seven layers map onto it.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828800" y="1737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MODEL — 4 LAYERS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0" y="1737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— 7 LAYERS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0" y="210312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1B243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2103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260604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293D4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310896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36566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3108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0" y="361188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E4002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3611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0" y="411480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2A4A5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0" y="461772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1E6E85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4617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512064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5120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28800" y="2103120"/>
            <a:ext cx="3291840" cy="1463040"/>
          </a:xfrm>
          <a:prstGeom prst="roundRect">
            <a:avLst>
              <a:gd name="adj" fmla="val 3125"/>
            </a:avLst>
          </a:prstGeom>
          <a:solidFill>
            <a:srgbClr val="1B24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0" y="21031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828800" y="361188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E400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3611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828800" y="411480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2A4A5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828800" y="4617720"/>
            <a:ext cx="3291840" cy="960120"/>
          </a:xfrm>
          <a:prstGeom prst="roundRect">
            <a:avLst>
              <a:gd name="adj" fmla="val 4762"/>
            </a:avLst>
          </a:prstGeom>
          <a:solidFill>
            <a:srgbClr val="0891B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0" y="461772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120640" y="2331720"/>
            <a:ext cx="2194560" cy="0"/>
          </a:xfrm>
          <a:prstGeom prst="line">
            <a:avLst/>
          </a:prstGeom>
          <a:noFill/>
          <a:ln w="12700">
            <a:solidFill>
              <a:srgbClr val="C7D4DC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120640" y="2834640"/>
            <a:ext cx="2194560" cy="0"/>
          </a:xfrm>
          <a:prstGeom prst="line">
            <a:avLst/>
          </a:prstGeom>
          <a:noFill/>
          <a:ln w="12700">
            <a:solidFill>
              <a:srgbClr val="C7D4DC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5120640" y="3337560"/>
            <a:ext cx="2194560" cy="0"/>
          </a:xfrm>
          <a:prstGeom prst="line">
            <a:avLst/>
          </a:prstGeom>
          <a:noFill/>
          <a:ln w="12700">
            <a:solidFill>
              <a:srgbClr val="C7D4DC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5120640" y="3840480"/>
            <a:ext cx="2194560" cy="0"/>
          </a:xfrm>
          <a:prstGeom prst="line">
            <a:avLst/>
          </a:prstGeom>
          <a:noFill/>
          <a:ln w="12700">
            <a:solidFill>
              <a:srgbClr val="C7D4DC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5120640" y="4343400"/>
            <a:ext cx="2194560" cy="0"/>
          </a:xfrm>
          <a:prstGeom prst="line">
            <a:avLst/>
          </a:prstGeom>
          <a:noFill/>
          <a:ln w="12700">
            <a:solidFill>
              <a:srgbClr val="C7D4DC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5120640" y="4846320"/>
            <a:ext cx="2194560" cy="0"/>
          </a:xfrm>
          <a:prstGeom prst="line">
            <a:avLst/>
          </a:prstGeom>
          <a:noFill/>
          <a:ln w="12700">
            <a:solidFill>
              <a:srgbClr val="C7D4DC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5120640" y="5349240"/>
            <a:ext cx="2194560" cy="0"/>
          </a:xfrm>
          <a:prstGeom prst="line">
            <a:avLst/>
          </a:prstGeom>
          <a:noFill/>
          <a:ln w="12700">
            <a:solidFill>
              <a:srgbClr val="C7D4DC"/>
            </a:solidFill>
            <a:prstDash val="das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NOTE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packets aren't private by default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was built for delivery, not confidentiality. Anything sent in the clear can be seen or intercepted along the way.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352044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743200"/>
            <a:ext cx="777240" cy="777240"/>
          </a:xfrm>
          <a:prstGeom prst="ellipse">
            <a:avLst/>
          </a:prstGeom>
          <a:solidFill>
            <a:srgbClr val="F5F7F9"/>
          </a:solidFill>
          <a:ln/>
        </p:spPr>
      </p:sp>
      <p:pic>
        <p:nvPicPr>
          <p:cNvPr id="8" name="Image 0" descr="/home/claude/tcpip/icon_ey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95351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7947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in transit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" y="438912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packets sent over TCP/IP can be seen or intercepted as they cross the network.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16552" y="2423160"/>
            <a:ext cx="352044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36592" y="2743200"/>
            <a:ext cx="777240" cy="777240"/>
          </a:xfrm>
          <a:prstGeom prst="ellipse">
            <a:avLst/>
          </a:prstGeom>
          <a:solidFill>
            <a:srgbClr val="F5F7F9"/>
          </a:solidFill>
          <a:ln/>
        </p:spPr>
      </p:sp>
      <p:pic>
        <p:nvPicPr>
          <p:cNvPr id="13" name="Image 1" descr="/home/claude/tcpip/icon_wifi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295351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36592" y="37947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Wi-Fi is the biggest risk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736592" y="438912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sending private data over open, unsecured Wi-Fi networks.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93024" y="2423160"/>
            <a:ext cx="352044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13064" y="2743200"/>
            <a:ext cx="777240" cy="777240"/>
          </a:xfrm>
          <a:prstGeom prst="ellipse">
            <a:avLst/>
          </a:prstGeom>
          <a:solidFill>
            <a:srgbClr val="F5F7F9"/>
          </a:solidFill>
          <a:ln/>
        </p:spPr>
      </p:sp>
      <p:pic>
        <p:nvPicPr>
          <p:cNvPr id="18" name="Image 2" descr="/home/claude/tcpip/icon_lock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376" y="295351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13064" y="37947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what matters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513064" y="438912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VPN encrypts traffic end-to-end, keeping packet contents unreadable to anyone in between.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88920" y="18288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8288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01000" y="18288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18288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920240" y="128016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26280" y="128016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128016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738360" y="128016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37744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237744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263640" y="237744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869680" y="237744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75720" y="237744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82880" y="347472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788920" y="347472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394960" y="347472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0" y="347472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607040" y="347472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920240" y="457200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526280" y="457200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0" y="457200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738360" y="457200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51560" y="566928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0" y="566928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263640" y="566928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869680" y="566928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475720" y="5669280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592928" y="1463040"/>
            <a:ext cx="1005840" cy="1005840"/>
          </a:xfrm>
          <a:prstGeom prst="ellipse">
            <a:avLst/>
          </a:prstGeom>
          <a:solidFill>
            <a:srgbClr val="E4002B"/>
          </a:solidFill>
          <a:ln/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1" name="Image 0" descr="/home/claude/tcpip/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40" y="1673352"/>
            <a:ext cx="585216" cy="585216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914400" y="26060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layers. One connected world.</a:t>
            </a:r>
            <a:endParaRPr lang="en-US" sz="3400" dirty="0"/>
          </a:p>
        </p:txBody>
      </p:sp>
      <p:sp>
        <p:nvSpPr>
          <p:cNvPr id="33" name="Text 30"/>
          <p:cNvSpPr/>
          <p:nvPr/>
        </p:nvSpPr>
        <p:spPr>
          <a:xfrm>
            <a:off x="1828800" y="347472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handles the reliability. IP handles the address. Together, they move nearly every packet on the internet — quietly, and by default, without encryption.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1016</Words>
  <Application>Microsoft Office PowerPoint</Application>
  <PresentationFormat>Widescreen</PresentationFormat>
  <Paragraphs>170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Anirudha Gaikwad</cp:lastModifiedBy>
  <cp:revision>2</cp:revision>
  <dcterms:created xsi:type="dcterms:W3CDTF">2026-08-07T07:53:55Z</dcterms:created>
  <dcterms:modified xsi:type="dcterms:W3CDTF">2026-08-07T07:57:07Z</dcterms:modified>
</cp:coreProperties>
</file>