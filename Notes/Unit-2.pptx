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51966" y="1381174"/>
            <a:ext cx="2974975" cy="446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2669685"/>
            <a:ext cx="4037011" cy="41883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" y="2892348"/>
            <a:ext cx="1522411" cy="23654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9011" y="1676400"/>
            <a:ext cx="2819399" cy="2819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99413" y="2"/>
            <a:ext cx="1603386" cy="11414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" y="2669685"/>
            <a:ext cx="4037011" cy="41883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" y="2892348"/>
            <a:ext cx="1522411" cy="23654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11" y="1676400"/>
            <a:ext cx="2819399" cy="2819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13" y="2"/>
            <a:ext cx="1603386" cy="114140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5878" y="6096000"/>
            <a:ext cx="993734" cy="7619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9711" y="0"/>
            <a:ext cx="762000" cy="120650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811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799" y="1142999"/>
                </a:moveTo>
                <a:lnTo>
                  <a:pt x="0" y="1142999"/>
                </a:lnTo>
                <a:lnTo>
                  <a:pt x="0" y="0"/>
                </a:lnTo>
                <a:lnTo>
                  <a:pt x="685799" y="0"/>
                </a:lnTo>
                <a:lnTo>
                  <a:pt x="685799" y="1142999"/>
                </a:lnTo>
                <a:close/>
              </a:path>
            </a:pathLst>
          </a:custGeom>
          <a:solidFill>
            <a:srgbClr val="B014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137" y="292299"/>
            <a:ext cx="1075372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EBEBE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6796" y="1376902"/>
            <a:ext cx="9801225" cy="457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67984" y="1429129"/>
            <a:ext cx="10059670" cy="293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6600" b="1" dirty="0">
                <a:latin typeface="Times New Roman"/>
                <a:cs typeface="Times New Roman"/>
              </a:rPr>
              <a:t>COMPUTER</a:t>
            </a:r>
            <a:r>
              <a:rPr sz="6600" b="1" spc="-40" dirty="0">
                <a:latin typeface="Times New Roman"/>
                <a:cs typeface="Times New Roman"/>
              </a:rPr>
              <a:t> </a:t>
            </a:r>
            <a:r>
              <a:rPr sz="6600" b="1" spc="-10" dirty="0">
                <a:latin typeface="Times New Roman"/>
                <a:cs typeface="Times New Roman"/>
              </a:rPr>
              <a:t>NETWORKS (21CSC302J)</a:t>
            </a:r>
            <a:endParaRPr sz="6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5850" b="1" dirty="0">
                <a:latin typeface="Times New Roman"/>
                <a:cs typeface="Times New Roman"/>
              </a:rPr>
              <a:t>UNIT</a:t>
            </a:r>
            <a:r>
              <a:rPr sz="5850" b="1" spc="-30" dirty="0">
                <a:latin typeface="Times New Roman"/>
                <a:cs typeface="Times New Roman"/>
              </a:rPr>
              <a:t> </a:t>
            </a:r>
            <a:r>
              <a:rPr sz="5850" b="1" dirty="0">
                <a:latin typeface="Times New Roman"/>
                <a:cs typeface="Times New Roman"/>
              </a:rPr>
              <a:t>-</a:t>
            </a:r>
            <a:r>
              <a:rPr sz="5850" b="1" spc="-15" dirty="0">
                <a:latin typeface="Times New Roman"/>
                <a:cs typeface="Times New Roman"/>
              </a:rPr>
              <a:t> </a:t>
            </a:r>
            <a:r>
              <a:rPr sz="5850" b="1" spc="-25" dirty="0">
                <a:latin typeface="Times New Roman"/>
                <a:cs typeface="Times New Roman"/>
              </a:rPr>
              <a:t>II</a:t>
            </a:r>
            <a:endParaRPr sz="5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05206" y="456781"/>
            <a:ext cx="36855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>
                <a:latin typeface="Times New Roman"/>
                <a:cs typeface="Times New Roman"/>
              </a:rPr>
              <a:t>Unit-</a:t>
            </a:r>
            <a:r>
              <a:rPr b="1" dirty="0">
                <a:latin typeface="Times New Roman"/>
                <a:cs typeface="Times New Roman"/>
              </a:rPr>
              <a:t>II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Syllabus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9730" indent="-367030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dirty="0"/>
              <a:t>IPV4</a:t>
            </a:r>
            <a:r>
              <a:rPr spc="-55" dirty="0"/>
              <a:t> </a:t>
            </a:r>
            <a:r>
              <a:rPr spc="-10" dirty="0"/>
              <a:t>Addressing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dirty="0"/>
              <a:t>Address</a:t>
            </a:r>
            <a:r>
              <a:rPr spc="-114" dirty="0"/>
              <a:t> </a:t>
            </a:r>
            <a:r>
              <a:rPr spc="-10" dirty="0"/>
              <a:t>space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dirty="0"/>
              <a:t>Classful</a:t>
            </a:r>
            <a:r>
              <a:rPr spc="-40" dirty="0"/>
              <a:t> </a:t>
            </a:r>
            <a:r>
              <a:rPr spc="-10" dirty="0"/>
              <a:t>addressing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dirty="0"/>
              <a:t>Subnet</a:t>
            </a:r>
            <a:r>
              <a:rPr spc="-30" dirty="0"/>
              <a:t> </a:t>
            </a:r>
            <a:r>
              <a:rPr spc="-20" dirty="0"/>
              <a:t>mask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pc="-20" dirty="0"/>
              <a:t>FLSM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dirty="0"/>
              <a:t>Classless</a:t>
            </a:r>
            <a:r>
              <a:rPr spc="-45" dirty="0"/>
              <a:t> </a:t>
            </a:r>
            <a:r>
              <a:rPr spc="-10" dirty="0"/>
              <a:t>Addressing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pc="-20" dirty="0"/>
              <a:t>VLSM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pc="-25" dirty="0"/>
              <a:t>NAT</a:t>
            </a: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dirty="0"/>
              <a:t>Super</a:t>
            </a:r>
            <a:r>
              <a:rPr spc="-60" dirty="0"/>
              <a:t> </a:t>
            </a:r>
            <a:r>
              <a:rPr spc="-10" dirty="0"/>
              <a:t>netting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03146" y="1942300"/>
            <a:ext cx="2517140" cy="2981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9730" indent="-367030">
              <a:lnSpc>
                <a:spcPct val="100000"/>
              </a:lnSpc>
              <a:spcBef>
                <a:spcPts val="11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endParaRPr sz="24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endParaRPr sz="24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Repeaters</a:t>
            </a:r>
            <a:endParaRPr sz="24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endParaRPr sz="24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Bridge</a:t>
            </a:r>
            <a:endParaRPr sz="24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9166"/>
              <a:buFont typeface="Lucida Sans Unicode"/>
              <a:buChar char="□"/>
              <a:tabLst>
                <a:tab pos="379730" algn="l"/>
              </a:tabLst>
            </a:pP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68845" y="332056"/>
            <a:ext cx="48520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5565" algn="l"/>
              </a:tabLst>
            </a:pPr>
            <a:r>
              <a:rPr b="1" spc="-20" dirty="0">
                <a:latin typeface="Times New Roman"/>
                <a:cs typeface="Times New Roman"/>
              </a:rPr>
              <a:t>IPv4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826" y="1267569"/>
            <a:ext cx="11045825" cy="474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connects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It’s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home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computer,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smartphone,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device,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allowing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communicate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 marL="375285" marR="698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Format: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written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four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separated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periods,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this: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192.168.1.1.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Each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255.</a:t>
            </a:r>
            <a:endParaRPr sz="2000">
              <a:latin typeface="Times New Roman"/>
              <a:cs typeface="Times New Roman"/>
            </a:endParaRP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parts: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ID.</a:t>
            </a:r>
            <a:endParaRPr sz="2000">
              <a:latin typeface="Times New Roman"/>
              <a:cs typeface="Times New Roman"/>
            </a:endParaRPr>
          </a:p>
          <a:p>
            <a:pPr marL="375285" marR="1206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Purpose: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reaches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correct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destination.</a:t>
            </a:r>
            <a:endParaRPr sz="2000">
              <a:latin typeface="Times New Roman"/>
              <a:cs typeface="Times New Roman"/>
            </a:endParaRPr>
          </a:p>
          <a:p>
            <a:pPr marL="375285" marR="889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Example: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website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browser,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find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server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website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hosted.</a:t>
            </a:r>
            <a:endParaRPr sz="2000">
              <a:latin typeface="Times New Roman"/>
              <a:cs typeface="Times New Roman"/>
            </a:endParaRP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2000">
              <a:latin typeface="Times New Roman"/>
              <a:cs typeface="Times New Roman"/>
            </a:endParaRPr>
          </a:p>
          <a:p>
            <a:pPr marL="375285" marR="762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Think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phone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device.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Just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dial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reach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particular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person,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9137" y="452561"/>
            <a:ext cx="92798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There</a:t>
            </a:r>
            <a:r>
              <a:rPr sz="2000" spc="-30" dirty="0"/>
              <a:t> </a:t>
            </a:r>
            <a:r>
              <a:rPr sz="2000" dirty="0"/>
              <a:t>are</a:t>
            </a:r>
            <a:r>
              <a:rPr sz="2000" spc="-15" dirty="0"/>
              <a:t> </a:t>
            </a:r>
            <a:r>
              <a:rPr sz="2000" dirty="0"/>
              <a:t>two</a:t>
            </a:r>
            <a:r>
              <a:rPr sz="2000" spc="-10" dirty="0"/>
              <a:t> </a:t>
            </a:r>
            <a:r>
              <a:rPr sz="2000" dirty="0"/>
              <a:t>notations</a:t>
            </a:r>
            <a:r>
              <a:rPr sz="2000" spc="-15" dirty="0"/>
              <a:t> </a:t>
            </a:r>
            <a:r>
              <a:rPr sz="2000" dirty="0"/>
              <a:t>in</a:t>
            </a:r>
            <a:r>
              <a:rPr sz="2000" spc="-10" dirty="0"/>
              <a:t> </a:t>
            </a:r>
            <a:r>
              <a:rPr sz="2000" dirty="0"/>
              <a:t>which</a:t>
            </a:r>
            <a:r>
              <a:rPr sz="2000" spc="-10" dirty="0"/>
              <a:t> </a:t>
            </a:r>
            <a:r>
              <a:rPr sz="2000" dirty="0"/>
              <a:t>the</a:t>
            </a:r>
            <a:r>
              <a:rPr sz="2000" spc="-15" dirty="0"/>
              <a:t> </a:t>
            </a:r>
            <a:r>
              <a:rPr sz="2000" dirty="0"/>
              <a:t>IP</a:t>
            </a:r>
            <a:r>
              <a:rPr sz="2000" spc="-20" dirty="0"/>
              <a:t> </a:t>
            </a:r>
            <a:r>
              <a:rPr sz="2000" dirty="0"/>
              <a:t>address</a:t>
            </a:r>
            <a:r>
              <a:rPr sz="2000" spc="-15" dirty="0"/>
              <a:t> </a:t>
            </a:r>
            <a:r>
              <a:rPr sz="2000" dirty="0"/>
              <a:t>is</a:t>
            </a:r>
            <a:r>
              <a:rPr sz="2000" spc="-15" dirty="0"/>
              <a:t> </a:t>
            </a:r>
            <a:r>
              <a:rPr sz="2000" dirty="0"/>
              <a:t>written,</a:t>
            </a:r>
            <a:r>
              <a:rPr sz="2000" spc="-10" dirty="0"/>
              <a:t> </a:t>
            </a:r>
            <a:r>
              <a:rPr sz="2000" dirty="0"/>
              <a:t>dotted</a:t>
            </a:r>
            <a:r>
              <a:rPr sz="2000" spc="-10" dirty="0"/>
              <a:t> </a:t>
            </a:r>
            <a:r>
              <a:rPr sz="2000" dirty="0"/>
              <a:t>decimal</a:t>
            </a:r>
            <a:r>
              <a:rPr sz="2000" spc="-15" dirty="0"/>
              <a:t> </a:t>
            </a:r>
            <a:r>
              <a:rPr sz="2000" dirty="0"/>
              <a:t>and</a:t>
            </a:r>
            <a:r>
              <a:rPr sz="2000" spc="-10" dirty="0"/>
              <a:t> hexadecimal notation.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19137" y="1125329"/>
            <a:ext cx="7609205" cy="161798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Dotted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Decimal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Notation</a:t>
            </a:r>
            <a:endParaRPr sz="2000">
              <a:latin typeface="Times New Roman"/>
              <a:cs typeface="Times New Roman"/>
            </a:endParaRPr>
          </a:p>
          <a:p>
            <a:pPr marL="755015" indent="-303530">
              <a:lnSpc>
                <a:spcPct val="100000"/>
              </a:lnSpc>
              <a:spcBef>
                <a:spcPts val="1005"/>
              </a:spcBef>
              <a:buClr>
                <a:srgbClr val="8ACED4"/>
              </a:buClr>
              <a:buSzPct val="77777"/>
              <a:buFont typeface="Lucida Sans Unicode"/>
              <a:buChar char="□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points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noted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dotted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decimal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notation:</a:t>
            </a:r>
            <a:endParaRPr sz="1800">
              <a:latin typeface="Times New Roman"/>
              <a:cs typeface="Times New Roman"/>
            </a:endParaRPr>
          </a:p>
          <a:p>
            <a:pPr marL="1155065" lvl="1" indent="-203835">
              <a:lnSpc>
                <a:spcPct val="100000"/>
              </a:lnSpc>
              <a:spcBef>
                <a:spcPts val="1010"/>
              </a:spcBef>
              <a:buClr>
                <a:srgbClr val="8ACED4"/>
              </a:buClr>
              <a:buSzPct val="78125"/>
              <a:buFont typeface="Arial MT"/>
              <a:buChar char="•"/>
              <a:tabLst>
                <a:tab pos="1155065" algn="l"/>
              </a:tabLst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(byte)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255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(both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included).</a:t>
            </a:r>
            <a:endParaRPr sz="1600">
              <a:latin typeface="Times New Roman"/>
              <a:cs typeface="Times New Roman"/>
            </a:endParaRPr>
          </a:p>
          <a:p>
            <a:pPr marL="1155065" lvl="1" indent="-203835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8125"/>
              <a:buFont typeface="Arial MT"/>
              <a:buChar char="•"/>
              <a:tabLst>
                <a:tab pos="1155065" algn="l"/>
              </a:tabLst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zeroes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preceding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(054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wrong,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54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correct).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37" y="4325729"/>
            <a:ext cx="23158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Hexadecimal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Notation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6575" y="2871994"/>
            <a:ext cx="6038849" cy="16006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6575" y="4881769"/>
            <a:ext cx="6038849" cy="1648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01278" y="442402"/>
            <a:ext cx="30276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Address</a:t>
            </a:r>
            <a:r>
              <a:rPr sz="4000" spc="-170" dirty="0"/>
              <a:t> </a:t>
            </a:r>
            <a:r>
              <a:rPr sz="4000" spc="-10" dirty="0"/>
              <a:t>Space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19137" y="1384808"/>
            <a:ext cx="10397490" cy="393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pool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assignment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machines</a:t>
            </a:r>
            <a:r>
              <a:rPr sz="24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4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internet.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4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4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space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version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address,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IPv6:</a:t>
            </a:r>
            <a:endParaRPr sz="24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32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long,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means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address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4,294,967,296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size.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However,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reserved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special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purposes,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multicast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addressing,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total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pool.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IPv6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IPv6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128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long,</a:t>
            </a:r>
            <a:r>
              <a:rPr sz="2400" spc="5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5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means</a:t>
            </a:r>
            <a:r>
              <a:rPr sz="2400" spc="5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5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IPv6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4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340,282,366,920,938,463,463,374,607,431,768,211,456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size.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7984" y="442402"/>
            <a:ext cx="4114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IPv4</a:t>
            </a:r>
            <a:r>
              <a:rPr sz="4000" spc="-120" dirty="0"/>
              <a:t> </a:t>
            </a:r>
            <a:r>
              <a:rPr sz="4000" dirty="0"/>
              <a:t>Address</a:t>
            </a:r>
            <a:r>
              <a:rPr sz="4000" spc="-125" dirty="0"/>
              <a:t> </a:t>
            </a:r>
            <a:r>
              <a:rPr sz="4000" spc="-10" dirty="0"/>
              <a:t>Space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19137" y="1384808"/>
            <a:ext cx="10397490" cy="442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(Internet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4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version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4)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4,294,967,296</a:t>
            </a:r>
            <a:r>
              <a:rPr sz="24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IP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2³².</a:t>
            </a:r>
            <a:r>
              <a:rPr sz="24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32-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integers,</a:t>
            </a:r>
            <a:r>
              <a:rPr sz="24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digit</a:t>
            </a:r>
            <a:r>
              <a:rPr sz="24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numeral</a:t>
            </a:r>
            <a:r>
              <a:rPr sz="24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system.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often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represented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dotted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quad</a:t>
            </a:r>
            <a:r>
              <a:rPr sz="24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dotted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decimal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notation,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x.x.x.x,</a:t>
            </a:r>
            <a:r>
              <a:rPr sz="24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4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value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255.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192.0.2.146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valid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address,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represent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bits,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octet.</a:t>
            </a:r>
            <a:endParaRPr sz="24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reserves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special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purposes,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4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multicast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addressing:</a:t>
            </a:r>
            <a:endParaRPr sz="24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networks: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Around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million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224,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220,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216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ranges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Multicast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addressing: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Around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268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million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228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53647" y="442402"/>
            <a:ext cx="57226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IPv6</a:t>
            </a:r>
            <a:r>
              <a:rPr sz="4000" spc="-90" dirty="0"/>
              <a:t> </a:t>
            </a:r>
            <a:r>
              <a:rPr sz="4000" dirty="0"/>
              <a:t>&amp;</a:t>
            </a:r>
            <a:r>
              <a:rPr sz="4000" spc="-90" dirty="0"/>
              <a:t> </a:t>
            </a:r>
            <a:r>
              <a:rPr sz="4000" dirty="0"/>
              <a:t>IPv6</a:t>
            </a:r>
            <a:r>
              <a:rPr sz="4000" spc="-85" dirty="0"/>
              <a:t> </a:t>
            </a:r>
            <a:r>
              <a:rPr sz="4000" dirty="0"/>
              <a:t>Address</a:t>
            </a:r>
            <a:r>
              <a:rPr sz="4000" spc="-90" dirty="0"/>
              <a:t> </a:t>
            </a:r>
            <a:r>
              <a:rPr sz="4000" spc="-10" dirty="0"/>
              <a:t>Space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19137" y="1386840"/>
            <a:ext cx="10400030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(Internet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version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4)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4,294,967,296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2³².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32-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integers,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digit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numeral</a:t>
            </a:r>
            <a:r>
              <a:rPr sz="200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system.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IPv4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often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represented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dotted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quad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dotted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decimal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notation,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x.x.x.x,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where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255.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192.0.2.146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valid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each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represent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octet.</a:t>
            </a:r>
            <a:endParaRPr sz="20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special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purposes,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multicast addressing:</a:t>
            </a:r>
            <a:endParaRPr sz="2000">
              <a:latin typeface="Times New Roman"/>
              <a:cs typeface="Times New Roman"/>
            </a:endParaRPr>
          </a:p>
          <a:p>
            <a:pPr marL="1155065" marR="6985" indent="-19939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▪"/>
              <a:tabLst>
                <a:tab pos="11550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networks: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Around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million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224,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220,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216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ranges</a:t>
            </a:r>
            <a:endParaRPr sz="2000">
              <a:latin typeface="Times New Roman"/>
              <a:cs typeface="Times New Roman"/>
            </a:endParaRPr>
          </a:p>
          <a:p>
            <a:pPr marL="1156335" indent="-200025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▪"/>
              <a:tabLst>
                <a:tab pos="115633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Multicast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addressing: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Around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268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million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228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6344" y="4826507"/>
            <a:ext cx="705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15" baseline="-250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3600" spc="-15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128</a:t>
            </a:r>
            <a:r>
              <a:rPr sz="3000" spc="-15" baseline="-25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000" baseline="-25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137" y="4991607"/>
            <a:ext cx="102965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0275" algn="l"/>
                <a:tab pos="1934210" algn="l"/>
                <a:tab pos="3218815" algn="l"/>
                <a:tab pos="4305935" algn="l"/>
                <a:tab pos="4998720" algn="l"/>
                <a:tab pos="7507605" algn="l"/>
                <a:tab pos="8228965" algn="l"/>
                <a:tab pos="9210675" algn="l"/>
              </a:tabLst>
            </a:pP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IPv6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128-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size,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containing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137" y="5308600"/>
            <a:ext cx="7384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340,282,366,920,938,463,463,374,607,431,768,211,456 IPv6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0805">
              <a:lnSpc>
                <a:spcPct val="100000"/>
              </a:lnSpc>
              <a:spcBef>
                <a:spcPts val="100"/>
              </a:spcBef>
            </a:pPr>
            <a:r>
              <a:rPr dirty="0"/>
              <a:t>Classful</a:t>
            </a:r>
            <a:r>
              <a:rPr spc="-40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364" y="1245776"/>
            <a:ext cx="10964545" cy="50165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2384" marR="5715" algn="just">
              <a:lnSpc>
                <a:spcPts val="2000"/>
              </a:lnSpc>
              <a:spcBef>
                <a:spcPts val="35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18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organizing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managing</a:t>
            </a:r>
            <a:r>
              <a:rPr sz="18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185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Think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street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houses;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needs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communicate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devices.</a:t>
            </a:r>
            <a:endParaRPr sz="1850">
              <a:latin typeface="Times New Roman"/>
              <a:cs typeface="Times New Roman"/>
            </a:endParaRPr>
          </a:p>
          <a:p>
            <a:pPr marL="375920" indent="-362585" algn="just">
              <a:lnSpc>
                <a:spcPct val="100000"/>
              </a:lnSpc>
              <a:spcBef>
                <a:spcPts val="745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5920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endParaRPr sz="1850">
              <a:latin typeface="Times New Roman"/>
              <a:cs typeface="Times New Roman"/>
            </a:endParaRPr>
          </a:p>
          <a:p>
            <a:pPr marL="32384" marR="5080" algn="just">
              <a:lnSpc>
                <a:spcPts val="2000"/>
              </a:lnSpc>
              <a:spcBef>
                <a:spcPts val="1025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Initially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1980’s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NID(Network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ID)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8bit,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HID(Host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ID)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=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24bit.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So,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28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256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created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224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16M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1850">
              <a:latin typeface="Times New Roman"/>
              <a:cs typeface="Times New Roman"/>
            </a:endParaRPr>
          </a:p>
          <a:p>
            <a:pPr marL="32384" marR="6985" algn="just">
              <a:lnSpc>
                <a:spcPts val="2000"/>
              </a:lnSpc>
              <a:spcBef>
                <a:spcPts val="994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256</a:t>
            </a:r>
            <a:r>
              <a:rPr sz="185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even</a:t>
            </a:r>
            <a:r>
              <a:rPr sz="185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organization</a:t>
            </a:r>
            <a:r>
              <a:rPr sz="185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buy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16M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computer(Host)</a:t>
            </a:r>
            <a:r>
              <a:rPr sz="185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purchase</a:t>
            </a:r>
            <a:r>
              <a:rPr sz="185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one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18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That’s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why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classfull</a:t>
            </a:r>
            <a:r>
              <a:rPr sz="18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addressing.</a:t>
            </a:r>
            <a:endParaRPr sz="1850">
              <a:latin typeface="Times New Roman"/>
              <a:cs typeface="Times New Roman"/>
            </a:endParaRPr>
          </a:p>
          <a:p>
            <a:pPr marL="373380" indent="-360680" algn="just">
              <a:lnSpc>
                <a:spcPct val="100000"/>
              </a:lnSpc>
              <a:spcBef>
                <a:spcPts val="725"/>
              </a:spcBef>
              <a:buClr>
                <a:srgbClr val="8ACED4"/>
              </a:buClr>
              <a:buSzPct val="79487"/>
              <a:buFont typeface="Lucida Sans Unicode"/>
              <a:buChar char="□"/>
              <a:tabLst>
                <a:tab pos="373380" algn="l"/>
              </a:tabLst>
            </a:pPr>
            <a:r>
              <a:rPr sz="195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195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endParaRPr sz="1950">
              <a:latin typeface="Times New Roman"/>
              <a:cs typeface="Times New Roman"/>
            </a:endParaRPr>
          </a:p>
          <a:p>
            <a:pPr marL="32384" algn="just">
              <a:lnSpc>
                <a:spcPct val="100000"/>
              </a:lnSpc>
              <a:spcBef>
                <a:spcPts val="78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32-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five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sub-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classes.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below:</a:t>
            </a:r>
            <a:endParaRPr sz="1850">
              <a:latin typeface="Times New Roman"/>
              <a:cs typeface="Times New Roman"/>
            </a:endParaRPr>
          </a:p>
          <a:p>
            <a:pPr marL="775335" lvl="1" indent="-260350">
              <a:lnSpc>
                <a:spcPct val="100000"/>
              </a:lnSpc>
              <a:spcBef>
                <a:spcPts val="819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533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1650">
              <a:latin typeface="Times New Roman"/>
              <a:cs typeface="Times New Roman"/>
            </a:endParaRPr>
          </a:p>
          <a:p>
            <a:pPr marL="775335" lvl="1" indent="-260350">
              <a:lnSpc>
                <a:spcPct val="100000"/>
              </a:lnSpc>
              <a:spcBef>
                <a:spcPts val="815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533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  <a:p>
            <a:pPr marL="775335" lvl="1" indent="-260350">
              <a:lnSpc>
                <a:spcPct val="100000"/>
              </a:lnSpc>
              <a:spcBef>
                <a:spcPts val="819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533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1650">
              <a:latin typeface="Times New Roman"/>
              <a:cs typeface="Times New Roman"/>
            </a:endParaRPr>
          </a:p>
          <a:p>
            <a:pPr marL="775335" lvl="1" indent="-260350">
              <a:lnSpc>
                <a:spcPct val="100000"/>
              </a:lnSpc>
              <a:spcBef>
                <a:spcPts val="820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533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endParaRPr sz="1650">
              <a:latin typeface="Times New Roman"/>
              <a:cs typeface="Times New Roman"/>
            </a:endParaRPr>
          </a:p>
          <a:p>
            <a:pPr marL="775335" lvl="1" indent="-260350">
              <a:lnSpc>
                <a:spcPct val="100000"/>
              </a:lnSpc>
              <a:spcBef>
                <a:spcPts val="815"/>
              </a:spcBef>
              <a:buClr>
                <a:srgbClr val="8ACED4"/>
              </a:buClr>
              <a:buSzPct val="78787"/>
              <a:buFont typeface="Arial MT"/>
              <a:buChar char="•"/>
              <a:tabLst>
                <a:tab pos="775335" algn="l"/>
              </a:tabLst>
            </a:pP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138" y="1267569"/>
            <a:ext cx="10944860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classes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valid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addresses.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Classes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multicast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experimental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purposes,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respectively.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octet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classes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IP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possible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class.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ISP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administrator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network.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901" y="3429000"/>
            <a:ext cx="5744196" cy="30126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138" y="1267569"/>
            <a:ext cx="10942320" cy="16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globally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managed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Authority(IANA)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Regional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Internet Registries(RIR).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finding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counted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therefore,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decreased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whereas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IP.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1751" y="3165125"/>
            <a:ext cx="6962774" cy="3428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IP</a:t>
            </a:r>
            <a:r>
              <a:rPr spc="-35" dirty="0"/>
              <a:t> </a:t>
            </a:r>
            <a:r>
              <a:rPr spc="-10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138" y="1140569"/>
            <a:ext cx="10941050" cy="322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9625" algn="just">
              <a:lnSpc>
                <a:spcPct val="141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hosts.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higher-order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 octet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 A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always set to 0.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remaining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7 bits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 the first octet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ID.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255.x.x.x.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Therefore,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of: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2^24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 2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16,777,214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0.0.0.0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127.255.255.255.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939" y="4657724"/>
            <a:ext cx="6510130" cy="16238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9705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30" dirty="0"/>
              <a:t> </a:t>
            </a:r>
            <a:r>
              <a:rPr dirty="0"/>
              <a:t>B</a:t>
            </a:r>
            <a:r>
              <a:rPr spc="-25" dirty="0"/>
              <a:t> </a:t>
            </a:r>
            <a:r>
              <a:rPr dirty="0"/>
              <a:t>IP</a:t>
            </a:r>
            <a:r>
              <a:rPr spc="-25" dirty="0"/>
              <a:t> </a:t>
            </a:r>
            <a:r>
              <a:rPr spc="-10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138" y="1267569"/>
            <a:ext cx="10943590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medium-sized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large-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sized networks.</a:t>
            </a:r>
            <a:endParaRPr sz="2000">
              <a:latin typeface="Times New Roman"/>
              <a:cs typeface="Times New Roman"/>
            </a:endParaRPr>
          </a:p>
          <a:p>
            <a:pPr marL="12700" marR="7741920">
              <a:lnSpc>
                <a:spcPct val="1417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higher-order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octet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10.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remaining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14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ID.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255.255.x.x.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of:</a:t>
            </a:r>
            <a:endParaRPr sz="2000">
              <a:latin typeface="Times New Roman"/>
              <a:cs typeface="Times New Roman"/>
            </a:endParaRPr>
          </a:p>
          <a:p>
            <a:pPr marL="12700" marR="7796530">
              <a:lnSpc>
                <a:spcPct val="1417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2^14 =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16384 network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2^16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 2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65534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128.0.0.0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191.255.255.255.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2862" y="5205133"/>
            <a:ext cx="4486274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9705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30" dirty="0"/>
              <a:t> </a:t>
            </a:r>
            <a:r>
              <a:rPr dirty="0"/>
              <a:t>C</a:t>
            </a:r>
            <a:r>
              <a:rPr spc="-25" dirty="0"/>
              <a:t> </a:t>
            </a:r>
            <a:r>
              <a:rPr dirty="0"/>
              <a:t>IP</a:t>
            </a:r>
            <a:r>
              <a:rPr spc="-25" dirty="0"/>
              <a:t> </a:t>
            </a:r>
            <a:r>
              <a:rPr spc="-10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138" y="1140569"/>
            <a:ext cx="10939145" cy="365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74745" algn="just">
              <a:lnSpc>
                <a:spcPct val="141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small-sized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networks.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higher-order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octet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110.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remaining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21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bits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ID.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255.255.255.x.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of:</a:t>
            </a:r>
            <a:endParaRPr sz="2000">
              <a:latin typeface="Times New Roman"/>
              <a:cs typeface="Times New Roman"/>
            </a:endParaRPr>
          </a:p>
          <a:p>
            <a:pPr marL="12700" marR="7538084">
              <a:lnSpc>
                <a:spcPct val="1417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2^21 =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2097152 network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2^8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 2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254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192.0.0.0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223.255.255.255.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4737" y="5134804"/>
            <a:ext cx="4962524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1545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E</a:t>
            </a:r>
            <a:r>
              <a:rPr spc="-20" dirty="0"/>
              <a:t> </a:t>
            </a:r>
            <a:r>
              <a:rPr dirty="0"/>
              <a:t>IP</a:t>
            </a:r>
            <a:r>
              <a:rPr spc="-25" dirty="0"/>
              <a:t> </a:t>
            </a:r>
            <a:r>
              <a:rPr spc="-10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138" y="1267569"/>
            <a:ext cx="10944225" cy="16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multi-casting.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higher-order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octet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IP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1110.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remaining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interested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recognize.</a:t>
            </a: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possess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mask.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224.0.0.0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–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239.255.255.255.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38" y="4340969"/>
            <a:ext cx="109429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belonging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experimental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purposes.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240.0.0.0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255.255.255.255.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doesn’t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mask.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higher-order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octet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1111.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5075" y="2898499"/>
            <a:ext cx="4962524" cy="12001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4735" y="5367132"/>
            <a:ext cx="4962524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5878" y="6096000"/>
            <a:ext cx="993734" cy="761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99711" y="0"/>
            <a:ext cx="762000" cy="1206500"/>
            <a:chOff x="10399711" y="0"/>
            <a:chExt cx="762000" cy="1206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9711" y="0"/>
              <a:ext cx="762000" cy="1206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11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1142999"/>
                  </a:lnTo>
                  <a:close/>
                </a:path>
              </a:pathLst>
            </a:custGeom>
            <a:solidFill>
              <a:srgbClr val="B01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Cont.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859" y="1327910"/>
            <a:ext cx="10931800" cy="50938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0"/>
              </a:spcBef>
            </a:pPr>
            <a:r>
              <a:rPr dirty="0"/>
              <a:t>Rules</a:t>
            </a:r>
            <a:r>
              <a:rPr spc="-5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Assigning</a:t>
            </a:r>
            <a:r>
              <a:rPr spc="-40" dirty="0"/>
              <a:t> </a:t>
            </a:r>
            <a:r>
              <a:rPr dirty="0"/>
              <a:t>Host</a:t>
            </a:r>
            <a:r>
              <a:rPr spc="-45" dirty="0"/>
              <a:t> </a:t>
            </a:r>
            <a:r>
              <a:rPr spc="-25" dirty="0"/>
              <a:t>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6753" y="1476292"/>
            <a:ext cx="9830435" cy="297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IDs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following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rules: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indent="-312420">
              <a:lnSpc>
                <a:spcPct val="100000"/>
              </a:lnSpc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354965" marR="8890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represent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  <a:p>
            <a:pPr marL="354965" marR="5715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present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5560">
              <a:lnSpc>
                <a:spcPct val="100000"/>
              </a:lnSpc>
              <a:spcBef>
                <a:spcPts val="100"/>
              </a:spcBef>
            </a:pPr>
            <a:r>
              <a:rPr dirty="0"/>
              <a:t>Rules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Assigning</a:t>
            </a:r>
            <a:r>
              <a:rPr spc="-55" dirty="0"/>
              <a:t> </a:t>
            </a:r>
            <a:r>
              <a:rPr dirty="0"/>
              <a:t>Network</a:t>
            </a:r>
            <a:r>
              <a:rPr spc="-55" dirty="0"/>
              <a:t> </a:t>
            </a:r>
            <a:r>
              <a:rPr spc="-25" dirty="0"/>
              <a:t>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6753" y="1476292"/>
            <a:ext cx="9831705" cy="358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located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ID,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host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ID.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assigned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 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following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rules: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marR="8890" indent="-312420">
              <a:lnSpc>
                <a:spcPct val="100000"/>
              </a:lnSpc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127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127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loopback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functions.</a:t>
            </a:r>
            <a:endParaRPr sz="2000">
              <a:latin typeface="Times New Roman"/>
              <a:cs typeface="Times New Roman"/>
            </a:endParaRPr>
          </a:p>
          <a:p>
            <a:pPr marL="354965" marR="5080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therefore,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used.</a:t>
            </a:r>
            <a:endParaRPr sz="2000">
              <a:latin typeface="Times New Roman"/>
              <a:cs typeface="Times New Roman"/>
            </a:endParaRPr>
          </a:p>
          <a:p>
            <a:pPr marL="354965" marR="12065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 bits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 to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denote a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specific host on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 network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therefore,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aren’t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Classful</a:t>
            </a:r>
            <a:r>
              <a:rPr spc="-25" dirty="0"/>
              <a:t> </a:t>
            </a:r>
            <a:r>
              <a:rPr spc="-10" dirty="0"/>
              <a:t>Addressing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937" y="1341783"/>
            <a:ext cx="9979025" cy="41446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8044" y="5666848"/>
            <a:ext cx="57492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endParaRPr sz="2000">
              <a:latin typeface="Times New Roman"/>
              <a:cs typeface="Times New Roman"/>
            </a:endParaRPr>
          </a:p>
          <a:p>
            <a:pPr marL="4425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127.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(Network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0" dirty="0">
                <a:latin typeface="Times New Roman"/>
                <a:cs typeface="Times New Roman"/>
              </a:rPr>
              <a:t> considered)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6944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3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Classful</a:t>
            </a:r>
            <a:r>
              <a:rPr spc="-25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742" y="1303713"/>
            <a:ext cx="11146155" cy="487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method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millions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wasted,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wasted,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whereas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cater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organizations.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multicast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therefore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only.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reserved.</a:t>
            </a: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Since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problems,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networking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replaced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Inter-Domain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Routing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(CIDR)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1993.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discussing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post.</a:t>
            </a:r>
            <a:endParaRPr sz="2000">
              <a:latin typeface="Times New Roman"/>
              <a:cs typeface="Times New Roman"/>
            </a:endParaRPr>
          </a:p>
          <a:p>
            <a:pPr marL="354965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</a:t>
            </a:r>
            <a:endParaRPr sz="2000">
              <a:latin typeface="Times New Roman"/>
              <a:cs typeface="Times New Roman"/>
            </a:endParaRPr>
          </a:p>
          <a:p>
            <a:pPr marL="354965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long.</a:t>
            </a:r>
            <a:endParaRPr sz="2000">
              <a:latin typeface="Times New Roman"/>
              <a:cs typeface="Times New Roman"/>
            </a:endParaRPr>
          </a:p>
          <a:p>
            <a:pPr marL="354965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2^21 =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2097152 network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2000">
              <a:latin typeface="Times New Roman"/>
              <a:cs typeface="Times New Roman"/>
            </a:endParaRPr>
          </a:p>
          <a:p>
            <a:pPr marL="354965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2^8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– 2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254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2000">
              <a:latin typeface="Times New Roman"/>
              <a:cs typeface="Times New Roman"/>
            </a:endParaRPr>
          </a:p>
          <a:p>
            <a:pPr marL="354965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354965" marR="8890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represent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6944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3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Classful</a:t>
            </a:r>
            <a:r>
              <a:rPr spc="-25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6893" y="1563484"/>
            <a:ext cx="945261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marR="9525" indent="-312420">
              <a:lnSpc>
                <a:spcPct val="100000"/>
              </a:lnSpc>
              <a:spcBef>
                <a:spcPts val="1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244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reserved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present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324485" marR="6350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244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127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127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internal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loopback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functions.</a:t>
            </a:r>
            <a:endParaRPr sz="2000">
              <a:latin typeface="Times New Roman"/>
              <a:cs typeface="Times New Roman"/>
            </a:endParaRPr>
          </a:p>
          <a:p>
            <a:pPr marL="324485" marR="5080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244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reserved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therefore,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used.</a:t>
            </a:r>
            <a:endParaRPr sz="2000">
              <a:latin typeface="Times New Roman"/>
              <a:cs typeface="Times New Roman"/>
            </a:endParaRPr>
          </a:p>
          <a:p>
            <a:pPr marL="324485" marR="10160" indent="-31242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Arial MT"/>
              <a:buChar char="•"/>
              <a:tabLst>
                <a:tab pos="3244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denote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therefore,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aren’t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used.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3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Classless</a:t>
            </a:r>
            <a:r>
              <a:rPr spc="-55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137" y="1146387"/>
            <a:ext cx="10866755" cy="44945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just">
              <a:lnSpc>
                <a:spcPts val="2000"/>
              </a:lnSpc>
              <a:spcBef>
                <a:spcPts val="35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depletion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issue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fully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resolved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addressing's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supernetting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techniques.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expanded,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became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obvious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bigger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required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fix.</a:t>
            </a:r>
            <a:r>
              <a:rPr sz="18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However,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expanded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necessitates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longer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well,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necessitating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change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IP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syntax.</a:t>
            </a:r>
            <a:r>
              <a:rPr sz="185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short-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solution,</a:t>
            </a:r>
            <a:r>
              <a:rPr sz="185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5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185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modifies</a:t>
            </a:r>
            <a:r>
              <a:rPr sz="185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distribution</a:t>
            </a:r>
            <a:r>
              <a:rPr sz="185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deliver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fair</a:t>
            </a:r>
            <a:r>
              <a:rPr sz="185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business,</a:t>
            </a:r>
            <a:r>
              <a:rPr sz="185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developed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even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though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solution,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IPv6,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already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been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developed.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temporary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fix,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nevertheless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IPv4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addresses.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make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depletion,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privilege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was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taken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distribution.</a:t>
            </a:r>
            <a:endParaRPr sz="18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00"/>
              </a:lnSpc>
              <a:spcBef>
                <a:spcPts val="985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entire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partitioned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blocks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varying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lengths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addressing.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address's</a:t>
            </a:r>
            <a:r>
              <a:rPr sz="18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prefix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designates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(network);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suffix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designates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node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(device).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20,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21,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22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,...,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232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theoretically.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limitations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addresses.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organization.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figure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demonstrates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non-overlapping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block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segmentation</a:t>
            </a:r>
            <a:r>
              <a:rPr sz="185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entire</a:t>
            </a:r>
            <a:r>
              <a:rPr sz="185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space.</a:t>
            </a:r>
            <a:endParaRPr sz="18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00"/>
              </a:lnSpc>
              <a:spcBef>
                <a:spcPts val="99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identifies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5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internet.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85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this,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sz="185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possible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1850">
              <a:latin typeface="Times New Roman"/>
              <a:cs typeface="Times New Roman"/>
            </a:endParaRPr>
          </a:p>
          <a:p>
            <a:pPr marL="12700" marR="8890" algn="just">
              <a:lnSpc>
                <a:spcPts val="2000"/>
              </a:lnSpc>
              <a:spcBef>
                <a:spcPts val="994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32-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gives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operation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bitwise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applied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block.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34085" y="292299"/>
            <a:ext cx="45440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Classless</a:t>
            </a:r>
            <a:r>
              <a:rPr spc="-55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826" y="936487"/>
            <a:ext cx="4721225" cy="167767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22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775335" lvl="1" indent="-257810">
              <a:lnSpc>
                <a:spcPct val="100000"/>
              </a:lnSpc>
              <a:spcBef>
                <a:spcPts val="1005"/>
              </a:spcBef>
              <a:buClr>
                <a:srgbClr val="8ACED4"/>
              </a:buClr>
              <a:buSzPct val="77777"/>
              <a:buFont typeface="Arial MT"/>
              <a:buChar char="•"/>
              <a:tabLst>
                <a:tab pos="77533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255.0.0.0</a:t>
            </a:r>
            <a:endParaRPr sz="1800">
              <a:latin typeface="Times New Roman"/>
              <a:cs typeface="Times New Roman"/>
            </a:endParaRPr>
          </a:p>
          <a:p>
            <a:pPr marL="775335" lvl="1" indent="-25781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Arial MT"/>
              <a:buChar char="•"/>
              <a:tabLst>
                <a:tab pos="77533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255.255.0.0</a:t>
            </a:r>
            <a:endParaRPr sz="1800">
              <a:latin typeface="Times New Roman"/>
              <a:cs typeface="Times New Roman"/>
            </a:endParaRPr>
          </a:p>
          <a:p>
            <a:pPr marL="775335" lvl="1" indent="-257810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77777"/>
              <a:buFont typeface="Arial MT"/>
              <a:buChar char="•"/>
              <a:tabLst>
                <a:tab pos="77533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255.255.255.0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284" y="3918448"/>
            <a:ext cx="10816590" cy="228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contrast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addressing,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varying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lengths.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lengths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vary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32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possible.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inverse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relationship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size.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prefix;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prefix.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stress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just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easily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adaptable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concept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Consider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8.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viewed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on.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Putting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way,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instance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8366" y="2388047"/>
            <a:ext cx="9048749" cy="14954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2570">
              <a:lnSpc>
                <a:spcPct val="100000"/>
              </a:lnSpc>
              <a:spcBef>
                <a:spcPts val="100"/>
              </a:spcBef>
            </a:pPr>
            <a:r>
              <a:rPr dirty="0"/>
              <a:t>Prefix</a:t>
            </a:r>
            <a:r>
              <a:rPr spc="-5" dirty="0"/>
              <a:t> </a:t>
            </a:r>
            <a:r>
              <a:rPr dirty="0"/>
              <a:t>Length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Slash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8459" y="1267569"/>
            <a:ext cx="1058862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addressing,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issue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resolved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provided.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individually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property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inserted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scenario,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followed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slash,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length,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n.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Slash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notation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colloquial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name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notation,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interdomain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routing,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CIDR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(pronounced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cider)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method,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official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name.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thus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expressed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illustrated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figure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below.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8459" y="5382369"/>
            <a:ext cx="1058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address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automatically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belongs.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5" y="3228355"/>
            <a:ext cx="9048749" cy="197167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1490">
              <a:lnSpc>
                <a:spcPct val="100000"/>
              </a:lnSpc>
              <a:spcBef>
                <a:spcPts val="100"/>
              </a:spcBef>
            </a:pPr>
            <a:r>
              <a:rPr dirty="0"/>
              <a:t>Extracting</a:t>
            </a:r>
            <a:r>
              <a:rPr spc="-5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from</a:t>
            </a:r>
            <a:r>
              <a:rPr spc="-10" dirty="0"/>
              <a:t> </a:t>
            </a:r>
            <a:r>
              <a:rPr dirty="0"/>
              <a:t>an </a:t>
            </a:r>
            <a:r>
              <a:rPr spc="-10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8459" y="1268586"/>
            <a:ext cx="10581005" cy="205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respect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block,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typically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know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three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things: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block,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block,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last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three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pieces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information,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depicted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picture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below,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simple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locate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length,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known.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232n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according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calculation.</a:t>
            </a:r>
            <a:endParaRPr sz="1800">
              <a:latin typeface="Times New Roman"/>
              <a:cs typeface="Times New Roman"/>
            </a:endParaRPr>
          </a:p>
          <a:p>
            <a:pPr marL="12700" marR="641985" algn="just">
              <a:lnSpc>
                <a:spcPct val="1463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leftmost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kept,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(32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n)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rightmost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zeroes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leftmost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kept,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(32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n)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rightmost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last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8616" y="3514237"/>
            <a:ext cx="8112400" cy="2689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60278" y="295347"/>
            <a:ext cx="60744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3630" marR="5080" indent="-109156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Difference</a:t>
            </a:r>
            <a:r>
              <a:rPr sz="3600" spc="-125" dirty="0"/>
              <a:t> </a:t>
            </a:r>
            <a:r>
              <a:rPr sz="3600" dirty="0"/>
              <a:t>Between</a:t>
            </a:r>
            <a:r>
              <a:rPr sz="3600" spc="-125" dirty="0"/>
              <a:t> </a:t>
            </a:r>
            <a:r>
              <a:rPr sz="3600" dirty="0"/>
              <a:t>Classful</a:t>
            </a:r>
            <a:r>
              <a:rPr sz="3600" spc="-120" dirty="0"/>
              <a:t> </a:t>
            </a:r>
            <a:r>
              <a:rPr sz="3600" spc="-25" dirty="0"/>
              <a:t>and </a:t>
            </a:r>
            <a:r>
              <a:rPr sz="3600" dirty="0"/>
              <a:t>Classless</a:t>
            </a:r>
            <a:r>
              <a:rPr sz="3600" spc="-45" dirty="0"/>
              <a:t> </a:t>
            </a:r>
            <a:r>
              <a:rPr sz="3600" spc="-10" dirty="0"/>
              <a:t>Addressing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6355" y="1653164"/>
            <a:ext cx="10427970" cy="430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4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five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groups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4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approach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4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assigned.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prevent</a:t>
            </a:r>
            <a:r>
              <a:rPr sz="24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depletion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4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classless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 used.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It is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 method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 IP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 allocation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 will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eventually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replace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further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distinction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usefulness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2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addressing.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Comparatively</a:t>
            </a:r>
            <a:r>
              <a:rPr sz="2400" spc="5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speaking,</a:t>
            </a:r>
            <a:r>
              <a:rPr sz="2400" spc="5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400" spc="5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2400" spc="5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5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400" spc="5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beneficial</a:t>
            </a:r>
            <a:r>
              <a:rPr sz="2400" spc="5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5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useful</a:t>
            </a:r>
            <a:r>
              <a:rPr sz="2400" spc="5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than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addressing.</a:t>
            </a:r>
            <a:endParaRPr sz="24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classful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addressing,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adjusted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according</a:t>
            </a:r>
            <a:r>
              <a:rPr sz="2400" spc="4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classes.</a:t>
            </a:r>
            <a:r>
              <a:rPr sz="24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However,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distinction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4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4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exist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classless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addressing.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opens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possibility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making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yet</a:t>
            </a:r>
            <a:r>
              <a:rPr sz="240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another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contrast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addressing.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35598" y="456782"/>
            <a:ext cx="28232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Subnet</a:t>
            </a:r>
            <a:r>
              <a:rPr spc="-30" dirty="0"/>
              <a:t> </a:t>
            </a:r>
            <a:r>
              <a:rPr spc="-20" dirty="0"/>
              <a:t>Mask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972" y="1168001"/>
            <a:ext cx="10277475" cy="5058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715" algn="just">
              <a:lnSpc>
                <a:spcPct val="101800"/>
              </a:lnSpc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32-bit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that's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packet.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It's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(IP)</a:t>
            </a:r>
            <a:r>
              <a:rPr sz="20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separates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address,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allowing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quickly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packet.</a:t>
            </a:r>
            <a:endParaRPr sz="2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1699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tells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serves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portion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identifies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range.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indicate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trailing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zeros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designates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being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host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identifier.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typical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designated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255.255.255.0.</a:t>
            </a: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1699"/>
              </a:lnSpc>
              <a:spcBef>
                <a:spcPts val="10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play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role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ensuring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contained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defined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  helps  to  avoid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  congestion,  reduce  the  network  load,  and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boost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overall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speed.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1699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expressed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dot-decimal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notation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198.51.100.0/24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would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255.255.255.0.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exchanged</a:t>
            </a:r>
            <a:r>
              <a:rPr sz="20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between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prefixes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source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 differ.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532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Subnet</a:t>
            </a:r>
            <a:r>
              <a:rPr spc="-20" dirty="0"/>
              <a:t> Mask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972" y="1246675"/>
            <a:ext cx="10275570" cy="455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32-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distinguishes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2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mask.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indicates</a:t>
            </a:r>
            <a:r>
              <a:rPr sz="22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2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belongs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section</a:t>
            </a:r>
            <a:r>
              <a:rPr sz="2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belongs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section.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2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values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mask.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comprises</a:t>
            </a:r>
            <a:r>
              <a:rPr sz="22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initialized</a:t>
            </a:r>
            <a:r>
              <a:rPr sz="22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2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host.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Routers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switches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internally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send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node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along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associated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connection.</a:t>
            </a:r>
            <a:endParaRPr sz="22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000"/>
              </a:lnSpc>
              <a:spcBef>
                <a:spcPts val="10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Suppose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means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million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task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is: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Maintenance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huge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departments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company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departments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whole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this,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Subnetting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Subnetting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972" y="1222703"/>
            <a:ext cx="10617835" cy="48539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7620" algn="just">
              <a:lnSpc>
                <a:spcPts val="220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subnet,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subnetwork,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inside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efficient.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subnetting,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shorter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passing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unnecessary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reach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destination.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200"/>
              </a:lnSpc>
              <a:spcBef>
                <a:spcPts val="9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bigger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networks,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security,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Subnetting.</a:t>
            </a:r>
            <a:r>
              <a:rPr sz="2000" spc="3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So,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maintenance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easier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000" spc="3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networks.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000" spc="3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consider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address,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possible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224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obvious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difficult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huge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hosts,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would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quite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easier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parts.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75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endParaRPr sz="2000">
              <a:latin typeface="Times New Roman"/>
              <a:cs typeface="Times New Roman"/>
            </a:endParaRPr>
          </a:p>
          <a:p>
            <a:pPr marL="755015" marR="6350" indent="-304800" algn="just">
              <a:lnSpc>
                <a:spcPts val="2000"/>
              </a:lnSpc>
              <a:spcBef>
                <a:spcPts val="1040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755015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Subnetting helps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organizing the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 an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way which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 expanding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technology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firms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companies.</a:t>
            </a:r>
            <a:endParaRPr sz="1850">
              <a:latin typeface="Times New Roman"/>
              <a:cs typeface="Times New Roman"/>
            </a:endParaRPr>
          </a:p>
          <a:p>
            <a:pPr marL="756285" indent="-305435" algn="just">
              <a:lnSpc>
                <a:spcPct val="100000"/>
              </a:lnSpc>
              <a:spcBef>
                <a:spcPts val="745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756285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staffing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structures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maintain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efficiency.</a:t>
            </a:r>
            <a:endParaRPr sz="1850">
              <a:latin typeface="Times New Roman"/>
              <a:cs typeface="Times New Roman"/>
            </a:endParaRPr>
          </a:p>
          <a:p>
            <a:pPr marL="755015" marR="8255" indent="-304800" algn="just">
              <a:lnSpc>
                <a:spcPts val="2000"/>
              </a:lnSpc>
              <a:spcBef>
                <a:spcPts val="1030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755015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185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divides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domains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185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850" spc="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routed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efficiently,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sz="1850"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improving network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performance.</a:t>
            </a:r>
            <a:endParaRPr sz="1850">
              <a:latin typeface="Times New Roman"/>
              <a:cs typeface="Times New Roman"/>
            </a:endParaRPr>
          </a:p>
          <a:p>
            <a:pPr marL="756285" indent="-305435" algn="just">
              <a:lnSpc>
                <a:spcPct val="100000"/>
              </a:lnSpc>
              <a:spcBef>
                <a:spcPts val="745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756285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increasing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security.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Subnetting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972" y="1246675"/>
            <a:ext cx="106146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parts:</a:t>
            </a:r>
            <a:r>
              <a:rPr sz="22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divide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parts,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sz="22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22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choose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part.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7972" y="5153195"/>
            <a:ext cx="9803765" cy="949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diagram,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so,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bits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part.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391" y="2276474"/>
            <a:ext cx="7931424" cy="287199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9620">
              <a:lnSpc>
                <a:spcPct val="100000"/>
              </a:lnSpc>
              <a:spcBef>
                <a:spcPts val="100"/>
              </a:spcBef>
            </a:pPr>
            <a:r>
              <a:rPr dirty="0"/>
              <a:t>Fixed-Length</a:t>
            </a:r>
            <a:r>
              <a:rPr spc="-40" dirty="0"/>
              <a:t> </a:t>
            </a:r>
            <a:r>
              <a:rPr dirty="0"/>
              <a:t>Subnet</a:t>
            </a:r>
            <a:r>
              <a:rPr spc="-45" dirty="0"/>
              <a:t> </a:t>
            </a:r>
            <a:r>
              <a:rPr dirty="0"/>
              <a:t>Mask</a:t>
            </a:r>
            <a:r>
              <a:rPr spc="-40" dirty="0"/>
              <a:t> </a:t>
            </a:r>
            <a:r>
              <a:rPr spc="-10" dirty="0"/>
              <a:t>(FLSM)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972" y="1246675"/>
            <a:ext cx="10616565" cy="446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having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equal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addresses,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said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Subnetting.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here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will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equal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subnet.</a:t>
            </a:r>
            <a:endParaRPr sz="22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10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fixed-length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(FLSM)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refers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enterprise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networking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block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equal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length,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equal</a:t>
            </a:r>
            <a:r>
              <a:rPr sz="20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FLSM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streamlines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proprietary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geographically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defined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(LAN).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Alternatively,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20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define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r>
              <a:rPr sz="2000" spc="2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boundaries,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departmental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boundaries,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multicast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zones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hardware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parameters.</a:t>
            </a:r>
            <a:r>
              <a:rPr sz="20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One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benefit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locally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significant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identification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means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dividing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subnetworks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mask.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FLSM,</a:t>
            </a:r>
            <a:r>
              <a:rPr sz="20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subnet.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saying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allocated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subnet.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Therefore,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subnets.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65" dirty="0"/>
              <a:t> </a:t>
            </a:r>
            <a:r>
              <a:rPr dirty="0"/>
              <a:t>Length</a:t>
            </a:r>
            <a:r>
              <a:rPr spc="-60" dirty="0"/>
              <a:t> </a:t>
            </a:r>
            <a:r>
              <a:rPr dirty="0"/>
              <a:t>Subnet</a:t>
            </a:r>
            <a:r>
              <a:rPr spc="-65" dirty="0"/>
              <a:t> </a:t>
            </a:r>
            <a:r>
              <a:rPr dirty="0"/>
              <a:t>Mask</a:t>
            </a:r>
            <a:r>
              <a:rPr spc="-60" dirty="0"/>
              <a:t> </a:t>
            </a:r>
            <a:r>
              <a:rPr dirty="0"/>
              <a:t>(VLSM</a:t>
            </a:r>
            <a:r>
              <a:rPr spc="-65" dirty="0"/>
              <a:t> </a:t>
            </a:r>
            <a:r>
              <a:rPr spc="-5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972" y="1315350"/>
            <a:ext cx="10488295" cy="41141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6350" algn="just">
              <a:lnSpc>
                <a:spcPts val="2000"/>
              </a:lnSpc>
              <a:spcBef>
                <a:spcPts val="35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VLSM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stands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Mask.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VLSM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technique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admins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allocate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efficiently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segments.</a:t>
            </a:r>
            <a:endParaRPr sz="18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00"/>
              </a:lnSpc>
              <a:spcBef>
                <a:spcPts val="994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(VLSM)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technique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sz="185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185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85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masks.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VLSM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administrators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allocate</a:t>
            </a:r>
            <a:r>
              <a:rPr sz="185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5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efficiently</a:t>
            </a:r>
            <a:r>
              <a:rPr sz="185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effectively,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subnets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hosts.</a:t>
            </a:r>
            <a:endParaRPr sz="1850">
              <a:latin typeface="Times New Roman"/>
              <a:cs typeface="Times New Roman"/>
            </a:endParaRPr>
          </a:p>
          <a:p>
            <a:pPr marL="12700" marR="5715" algn="just">
              <a:lnSpc>
                <a:spcPts val="2000"/>
              </a:lnSpc>
              <a:spcBef>
                <a:spcPts val="99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VLSM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5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185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technique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applied</a:t>
            </a:r>
            <a:r>
              <a:rPr sz="1850" spc="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optimal</a:t>
            </a:r>
            <a:r>
              <a:rPr sz="185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185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185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space.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Specifically,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virtue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CIDR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(Classless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Inter-domain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Routing),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185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segmented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variable-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subnets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against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obscured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actual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subnet.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Typically,</a:t>
            </a:r>
            <a:r>
              <a:rPr sz="185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strategy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consumption</a:t>
            </a:r>
            <a:r>
              <a:rPr sz="185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inefficient</a:t>
            </a:r>
            <a:r>
              <a:rPr sz="185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manner,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85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more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distinct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sub-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nets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hosts.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VLSM</a:t>
            </a:r>
            <a:r>
              <a:rPr sz="185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subnet,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turn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5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5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sizes.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Subnetting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means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separate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smaller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185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185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meet</a:t>
            </a:r>
            <a:r>
              <a:rPr sz="185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85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Thus,</a:t>
            </a:r>
            <a:r>
              <a:rPr sz="185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subnetting’s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ability</a:t>
            </a:r>
            <a:r>
              <a:rPr sz="185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185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restrictions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allows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5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sz="185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185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space</a:t>
            </a:r>
            <a:r>
              <a:rPr sz="185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185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networking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helps economize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requirements.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5878" y="6096000"/>
            <a:ext cx="993734" cy="761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99711" y="0"/>
            <a:ext cx="762000" cy="1206500"/>
            <a:chOff x="10399711" y="0"/>
            <a:chExt cx="762000" cy="1206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9711" y="0"/>
              <a:ext cx="762000" cy="1206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11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1142999"/>
                  </a:lnTo>
                  <a:close/>
                </a:path>
              </a:pathLst>
            </a:custGeom>
            <a:solidFill>
              <a:srgbClr val="B01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00"/>
              </a:spcBef>
            </a:pPr>
            <a:r>
              <a:rPr dirty="0"/>
              <a:t>Differences</a:t>
            </a:r>
            <a:r>
              <a:rPr spc="-114" dirty="0"/>
              <a:t> </a:t>
            </a:r>
            <a:r>
              <a:rPr dirty="0"/>
              <a:t>Between</a:t>
            </a:r>
            <a:r>
              <a:rPr spc="-90" dirty="0"/>
              <a:t> </a:t>
            </a:r>
            <a:r>
              <a:rPr dirty="0"/>
              <a:t>FLSM</a:t>
            </a:r>
            <a:r>
              <a:rPr spc="-9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20" dirty="0"/>
              <a:t>VLSM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452" y="1262271"/>
            <a:ext cx="9382538" cy="517828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1355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110" dirty="0"/>
              <a:t> </a:t>
            </a:r>
            <a:r>
              <a:rPr dirty="0"/>
              <a:t>Address</a:t>
            </a:r>
            <a:r>
              <a:rPr spc="-105" dirty="0"/>
              <a:t> </a:t>
            </a:r>
            <a:r>
              <a:rPr dirty="0"/>
              <a:t>Translation</a:t>
            </a:r>
            <a:r>
              <a:rPr spc="-105" dirty="0"/>
              <a:t> </a:t>
            </a:r>
            <a:r>
              <a:rPr spc="-10" dirty="0"/>
              <a:t>(NAT)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972" y="1312760"/>
            <a:ext cx="10487025" cy="51003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algn="just">
              <a:lnSpc>
                <a:spcPts val="2160"/>
              </a:lnSpc>
              <a:spcBef>
                <a:spcPts val="37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Translation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(NAT)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translated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vice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versa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local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hosts.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translation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numbers,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masks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another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routed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destination.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corresponding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entries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generally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operates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or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firewall.</a:t>
            </a:r>
            <a:endParaRPr sz="2000">
              <a:latin typeface="Times New Roman"/>
              <a:cs typeface="Times New Roman"/>
            </a:endParaRPr>
          </a:p>
          <a:p>
            <a:pPr marL="12700" marR="8255" algn="just">
              <a:lnSpc>
                <a:spcPts val="216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Internet,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our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idea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single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achieve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  <a:p>
            <a:pPr marL="12700" marR="7620" algn="just">
              <a:lnSpc>
                <a:spcPts val="216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Generally,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border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configured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interface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local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(inside)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interface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(outside)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traverse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outside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(inside)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converts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(private)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(public)</a:t>
            </a:r>
            <a:r>
              <a:rPr sz="2000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IP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enters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network,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(public)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converted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local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(private)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  <a:p>
            <a:pPr marL="12700" marR="9525" algn="just">
              <a:lnSpc>
                <a:spcPts val="216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runs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addresses,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left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pool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configured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Message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(ICMP)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unreachable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destination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sent.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34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NAT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661" y="1210143"/>
            <a:ext cx="10508615" cy="48006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2384" algn="just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configure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NAT-</a:t>
            </a:r>
            <a:endParaRPr sz="2000">
              <a:latin typeface="Times New Roman"/>
              <a:cs typeface="Times New Roman"/>
            </a:endParaRPr>
          </a:p>
          <a:p>
            <a:pPr marL="375285" marR="6985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Static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NAT: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this,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unregistered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(Private)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mapped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legally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registered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(Public)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one-to-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mapping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addresses.</a:t>
            </a:r>
            <a:r>
              <a:rPr sz="20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generally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hosting.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organizations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need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access,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Dynamic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NAT: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NAT,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unregistered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translated</a:t>
            </a:r>
            <a:r>
              <a:rPr sz="2000" spc="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registered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(Public)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pool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addresses.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pool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free,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then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private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translated</a:t>
            </a:r>
            <a:r>
              <a:rPr sz="20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public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addresses.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Translation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(PAT):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NAT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overload.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this,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(private)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translated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registered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distinguish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belongs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frequently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effective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thousands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real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(public)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39756" y="456782"/>
            <a:ext cx="37426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150" dirty="0"/>
              <a:t> </a:t>
            </a:r>
            <a:r>
              <a:rPr spc="-10" dirty="0"/>
              <a:t>Devices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6350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Hardware</a:t>
            </a:r>
            <a:r>
              <a:rPr spc="50" dirty="0"/>
              <a:t>  </a:t>
            </a:r>
            <a:r>
              <a:rPr dirty="0"/>
              <a:t>devices</a:t>
            </a:r>
            <a:r>
              <a:rPr spc="55" dirty="0"/>
              <a:t>  </a:t>
            </a:r>
            <a:r>
              <a:rPr dirty="0"/>
              <a:t>that</a:t>
            </a:r>
            <a:r>
              <a:rPr spc="50" dirty="0"/>
              <a:t>  </a:t>
            </a:r>
            <a:r>
              <a:rPr dirty="0"/>
              <a:t>are</a:t>
            </a:r>
            <a:r>
              <a:rPr spc="55" dirty="0"/>
              <a:t>  </a:t>
            </a:r>
            <a:r>
              <a:rPr dirty="0"/>
              <a:t>used</a:t>
            </a:r>
            <a:r>
              <a:rPr spc="50" dirty="0"/>
              <a:t>  </a:t>
            </a:r>
            <a:r>
              <a:rPr dirty="0"/>
              <a:t>to</a:t>
            </a:r>
            <a:r>
              <a:rPr spc="55" dirty="0"/>
              <a:t>  </a:t>
            </a:r>
            <a:r>
              <a:rPr dirty="0"/>
              <a:t>connect</a:t>
            </a:r>
            <a:r>
              <a:rPr spc="50" dirty="0"/>
              <a:t>  </a:t>
            </a:r>
            <a:r>
              <a:rPr dirty="0"/>
              <a:t>computers,</a:t>
            </a:r>
            <a:r>
              <a:rPr spc="55" dirty="0"/>
              <a:t>  </a:t>
            </a:r>
            <a:r>
              <a:rPr dirty="0"/>
              <a:t>printers,</a:t>
            </a:r>
            <a:r>
              <a:rPr spc="50" dirty="0"/>
              <a:t>  </a:t>
            </a:r>
            <a:r>
              <a:rPr dirty="0"/>
              <a:t>fax</a:t>
            </a:r>
            <a:r>
              <a:rPr spc="55" dirty="0"/>
              <a:t>  </a:t>
            </a:r>
            <a:r>
              <a:rPr dirty="0"/>
              <a:t>machines</a:t>
            </a:r>
            <a:r>
              <a:rPr spc="55" dirty="0"/>
              <a:t>  </a:t>
            </a:r>
            <a:r>
              <a:rPr dirty="0"/>
              <a:t>and</a:t>
            </a:r>
            <a:r>
              <a:rPr spc="50" dirty="0"/>
              <a:t>  </a:t>
            </a:r>
            <a:r>
              <a:rPr spc="-10" dirty="0"/>
              <a:t>other </a:t>
            </a:r>
            <a:r>
              <a:rPr dirty="0"/>
              <a:t>electronic</a:t>
            </a:r>
            <a:r>
              <a:rPr spc="-15" dirty="0"/>
              <a:t> </a:t>
            </a:r>
            <a:r>
              <a:rPr dirty="0"/>
              <a:t>devices</a:t>
            </a:r>
            <a:r>
              <a:rPr spc="-5" dirty="0"/>
              <a:t> </a:t>
            </a:r>
            <a:r>
              <a:rPr dirty="0"/>
              <a:t>to a</a:t>
            </a:r>
            <a:r>
              <a:rPr spc="-5" dirty="0"/>
              <a:t> </a:t>
            </a:r>
            <a:r>
              <a:rPr dirty="0"/>
              <a:t>network are</a:t>
            </a:r>
            <a:r>
              <a:rPr spc="-5" dirty="0"/>
              <a:t> </a:t>
            </a:r>
            <a:r>
              <a:rPr dirty="0"/>
              <a:t>called network devices.</a:t>
            </a:r>
            <a:r>
              <a:rPr spc="-5" dirty="0"/>
              <a:t> </a:t>
            </a:r>
            <a:r>
              <a:rPr dirty="0"/>
              <a:t>These devices</a:t>
            </a:r>
            <a:r>
              <a:rPr spc="-5" dirty="0"/>
              <a:t> </a:t>
            </a:r>
            <a:r>
              <a:rPr dirty="0"/>
              <a:t>transfer data</a:t>
            </a:r>
            <a:r>
              <a:rPr spc="-5" dirty="0"/>
              <a:t> </a:t>
            </a:r>
            <a:r>
              <a:rPr dirty="0"/>
              <a:t>in a</a:t>
            </a:r>
            <a:r>
              <a:rPr spc="-5" dirty="0"/>
              <a:t> </a:t>
            </a:r>
            <a:r>
              <a:rPr spc="-10" dirty="0"/>
              <a:t>fast, </a:t>
            </a:r>
            <a:r>
              <a:rPr dirty="0"/>
              <a:t>secure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correct</a:t>
            </a:r>
            <a:r>
              <a:rPr spc="-10" dirty="0"/>
              <a:t> </a:t>
            </a:r>
            <a:r>
              <a:rPr dirty="0"/>
              <a:t>way</a:t>
            </a:r>
            <a:r>
              <a:rPr spc="-5" dirty="0"/>
              <a:t> </a:t>
            </a:r>
            <a:r>
              <a:rPr dirty="0"/>
              <a:t>over</a:t>
            </a:r>
            <a:r>
              <a:rPr spc="-5" dirty="0"/>
              <a:t> </a:t>
            </a:r>
            <a:r>
              <a:rPr dirty="0"/>
              <a:t>same</a:t>
            </a:r>
            <a:r>
              <a:rPr spc="-5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dirty="0"/>
              <a:t>different</a:t>
            </a:r>
            <a:r>
              <a:rPr spc="-10" dirty="0"/>
              <a:t> </a:t>
            </a:r>
            <a:r>
              <a:rPr dirty="0"/>
              <a:t>networks.</a:t>
            </a:r>
            <a:r>
              <a:rPr spc="-5" dirty="0"/>
              <a:t> </a:t>
            </a:r>
            <a:r>
              <a:rPr dirty="0"/>
              <a:t>Network</a:t>
            </a:r>
            <a:r>
              <a:rPr spc="-5" dirty="0"/>
              <a:t> </a:t>
            </a:r>
            <a:r>
              <a:rPr dirty="0"/>
              <a:t>devices</a:t>
            </a:r>
            <a:r>
              <a:rPr spc="-5" dirty="0"/>
              <a:t> </a:t>
            </a:r>
            <a:r>
              <a:rPr dirty="0"/>
              <a:t>may be</a:t>
            </a:r>
            <a:r>
              <a:rPr spc="-10" dirty="0"/>
              <a:t> </a:t>
            </a:r>
            <a:r>
              <a:rPr dirty="0"/>
              <a:t>inter-</a:t>
            </a:r>
            <a:r>
              <a:rPr spc="-10" dirty="0"/>
              <a:t>network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intra-network.</a:t>
            </a:r>
            <a:r>
              <a:rPr spc="-10" dirty="0"/>
              <a:t> </a:t>
            </a:r>
            <a:r>
              <a:rPr dirty="0"/>
              <a:t>Some</a:t>
            </a:r>
            <a:r>
              <a:rPr spc="-10" dirty="0"/>
              <a:t> </a:t>
            </a:r>
            <a:r>
              <a:rPr dirty="0"/>
              <a:t>devices</a:t>
            </a:r>
            <a:r>
              <a:rPr spc="-15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installed</a:t>
            </a:r>
            <a:r>
              <a:rPr spc="-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device.</a:t>
            </a:r>
          </a:p>
          <a:p>
            <a:pPr marL="32384" marR="5080" algn="just">
              <a:lnSpc>
                <a:spcPct val="100000"/>
              </a:lnSpc>
              <a:spcBef>
                <a:spcPts val="1000"/>
              </a:spcBef>
            </a:pPr>
            <a:r>
              <a:rPr dirty="0"/>
              <a:t>Network</a:t>
            </a:r>
            <a:r>
              <a:rPr spc="100" dirty="0"/>
              <a:t>  </a:t>
            </a:r>
            <a:r>
              <a:rPr dirty="0"/>
              <a:t>devices,</a:t>
            </a:r>
            <a:r>
              <a:rPr spc="100" dirty="0"/>
              <a:t>  </a:t>
            </a:r>
            <a:r>
              <a:rPr dirty="0"/>
              <a:t>also</a:t>
            </a:r>
            <a:r>
              <a:rPr spc="100" dirty="0"/>
              <a:t>  </a:t>
            </a:r>
            <a:r>
              <a:rPr dirty="0"/>
              <a:t>known</a:t>
            </a:r>
            <a:r>
              <a:rPr spc="100" dirty="0"/>
              <a:t>  </a:t>
            </a:r>
            <a:r>
              <a:rPr dirty="0"/>
              <a:t>as</a:t>
            </a:r>
            <a:r>
              <a:rPr spc="95" dirty="0"/>
              <a:t>  </a:t>
            </a:r>
            <a:r>
              <a:rPr dirty="0"/>
              <a:t>networking</a:t>
            </a:r>
            <a:r>
              <a:rPr spc="100" dirty="0"/>
              <a:t>  </a:t>
            </a:r>
            <a:r>
              <a:rPr dirty="0"/>
              <a:t>hardware,</a:t>
            </a:r>
            <a:r>
              <a:rPr spc="100" dirty="0"/>
              <a:t>  </a:t>
            </a:r>
            <a:r>
              <a:rPr dirty="0"/>
              <a:t>are</a:t>
            </a:r>
            <a:r>
              <a:rPr spc="100" dirty="0"/>
              <a:t>  </a:t>
            </a:r>
            <a:r>
              <a:rPr dirty="0"/>
              <a:t>physical</a:t>
            </a:r>
            <a:r>
              <a:rPr spc="95" dirty="0"/>
              <a:t>  </a:t>
            </a:r>
            <a:r>
              <a:rPr dirty="0"/>
              <a:t>devices</a:t>
            </a:r>
            <a:r>
              <a:rPr spc="100" dirty="0"/>
              <a:t>  </a:t>
            </a:r>
            <a:r>
              <a:rPr dirty="0"/>
              <a:t>that</a:t>
            </a:r>
            <a:r>
              <a:rPr spc="95" dirty="0"/>
              <a:t>  </a:t>
            </a:r>
            <a:r>
              <a:rPr spc="-10" dirty="0"/>
              <a:t>allow </a:t>
            </a:r>
            <a:r>
              <a:rPr dirty="0"/>
              <a:t>hardware</a:t>
            </a:r>
            <a:r>
              <a:rPr spc="-3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computer</a:t>
            </a:r>
            <a:r>
              <a:rPr spc="-10" dirty="0"/>
              <a:t> </a:t>
            </a:r>
            <a:r>
              <a:rPr dirty="0"/>
              <a:t>network</a:t>
            </a:r>
            <a:r>
              <a:rPr spc="-1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communicate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interact</a:t>
            </a:r>
            <a:r>
              <a:rPr spc="-2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another.</a:t>
            </a:r>
          </a:p>
          <a:p>
            <a:pPr marL="32384" algn="just">
              <a:lnSpc>
                <a:spcPct val="100000"/>
              </a:lnSpc>
              <a:spcBef>
                <a:spcPts val="1000"/>
              </a:spcBef>
            </a:pPr>
            <a:r>
              <a:rPr dirty="0"/>
              <a:t>For </a:t>
            </a:r>
            <a:r>
              <a:rPr spc="-10" dirty="0"/>
              <a:t>example-</a:t>
            </a: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pc="-25" dirty="0"/>
              <a:t>Hub</a:t>
            </a: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pc="-10" dirty="0"/>
              <a:t>Repeater</a:t>
            </a: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pc="-10" dirty="0"/>
              <a:t>Switch</a:t>
            </a: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pc="-10" dirty="0"/>
              <a:t>Bridge</a:t>
            </a:r>
          </a:p>
          <a:p>
            <a:pPr marL="378460" indent="-365760" algn="just">
              <a:lnSpc>
                <a:spcPct val="100000"/>
              </a:lnSpc>
              <a:spcBef>
                <a:spcPts val="100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8460" algn="l"/>
              </a:tabLst>
            </a:pPr>
            <a:r>
              <a:rPr spc="-10" dirty="0"/>
              <a:t>Routers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39280" y="456782"/>
            <a:ext cx="94424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Hub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376" y="1355108"/>
            <a:ext cx="9799955" cy="43681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1115" marR="5080" algn="just">
              <a:lnSpc>
                <a:spcPts val="2000"/>
              </a:lnSpc>
              <a:spcBef>
                <a:spcPts val="35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basically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multi-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185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repeater.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connects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1850" spc="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wires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coming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50" spc="4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branches,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connector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star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connects</a:t>
            </a:r>
            <a:r>
              <a:rPr sz="185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85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stations.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Hubs</a:t>
            </a:r>
            <a:r>
              <a:rPr sz="185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cannot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filter data, so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data packets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 sent to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all connected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devices.</a:t>
            </a:r>
            <a:r>
              <a:rPr sz="185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other words,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 collision domain</a:t>
            </a:r>
            <a:r>
              <a:rPr sz="18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all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remains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one.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Also,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do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intelligence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best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leads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inefficiencies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wastage.</a:t>
            </a:r>
            <a:endParaRPr sz="1850">
              <a:latin typeface="Times New Roman"/>
              <a:cs typeface="Times New Roman"/>
            </a:endParaRPr>
          </a:p>
          <a:p>
            <a:pPr marL="31115" algn="just">
              <a:lnSpc>
                <a:spcPct val="100000"/>
              </a:lnSpc>
              <a:spcBef>
                <a:spcPts val="740"/>
              </a:spcBef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18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5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endParaRPr sz="1850">
              <a:latin typeface="Times New Roman"/>
              <a:cs typeface="Times New Roman"/>
            </a:endParaRPr>
          </a:p>
          <a:p>
            <a:pPr marL="374015" marR="7620" indent="-361950" algn="just">
              <a:lnSpc>
                <a:spcPts val="2000"/>
              </a:lnSpc>
              <a:spcBef>
                <a:spcPts val="1025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Active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Hub:-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hubs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supply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clean,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boost,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relay</a:t>
            </a:r>
            <a:r>
              <a:rPr sz="185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along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18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serves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repeater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well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wiring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center.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extend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nodes.</a:t>
            </a:r>
            <a:endParaRPr sz="1850">
              <a:latin typeface="Times New Roman"/>
              <a:cs typeface="Times New Roman"/>
            </a:endParaRPr>
          </a:p>
          <a:p>
            <a:pPr marL="374015" marR="6985" indent="-361950" algn="just">
              <a:lnSpc>
                <a:spcPts val="2000"/>
              </a:lnSpc>
              <a:spcBef>
                <a:spcPts val="994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Passive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Hub:-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hubs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collect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wiring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nodes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supply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active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hub.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hubs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relay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18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onto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cleaning</a:t>
            </a:r>
            <a:r>
              <a:rPr sz="18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boosting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them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can’t</a:t>
            </a:r>
            <a:r>
              <a:rPr sz="18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extend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18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imes New Roman"/>
                <a:cs typeface="Times New Roman"/>
              </a:rPr>
              <a:t>nodes.</a:t>
            </a:r>
            <a:endParaRPr sz="1850">
              <a:latin typeface="Times New Roman"/>
              <a:cs typeface="Times New Roman"/>
            </a:endParaRPr>
          </a:p>
          <a:p>
            <a:pPr marL="374015" marR="5080" indent="-361950" algn="just">
              <a:lnSpc>
                <a:spcPts val="2000"/>
              </a:lnSpc>
              <a:spcBef>
                <a:spcPts val="994"/>
              </a:spcBef>
              <a:buClr>
                <a:srgbClr val="8ACED4"/>
              </a:buClr>
              <a:buSzPct val="78378"/>
              <a:buFont typeface="Lucida Sans Unicode"/>
              <a:buChar char="□"/>
              <a:tabLst>
                <a:tab pos="374015" algn="l"/>
              </a:tabLst>
            </a:pP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Intelligent</a:t>
            </a:r>
            <a:r>
              <a:rPr sz="18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Hub:-</a:t>
            </a:r>
            <a:r>
              <a:rPr sz="18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works</a:t>
            </a:r>
            <a:r>
              <a:rPr sz="18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18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active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includes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remote</a:t>
            </a:r>
            <a:r>
              <a:rPr sz="185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sz="185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capabilities.</a:t>
            </a:r>
            <a:r>
              <a:rPr sz="185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They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18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18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flexible</a:t>
            </a:r>
            <a:r>
              <a:rPr sz="18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rates</a:t>
            </a:r>
            <a:r>
              <a:rPr sz="185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8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devices.</a:t>
            </a:r>
            <a:r>
              <a:rPr sz="18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85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18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sz="18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administrator</a:t>
            </a:r>
            <a:r>
              <a:rPr sz="185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monitor</a:t>
            </a:r>
            <a:r>
              <a:rPr sz="185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passing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configure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18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Times New Roman"/>
                <a:cs typeface="Times New Roman"/>
              </a:rPr>
              <a:t>hub.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50937" y="456782"/>
            <a:ext cx="19208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Repeater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7107" y="1178118"/>
            <a:ext cx="9781540" cy="485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repeater operates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 the physical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layer. Its job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 to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amplifies (i.e., regenerates)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signal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over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becomes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too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weak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corrupted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extend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0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transmitted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becomes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weak,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copy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regenerate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star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topology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connectors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connecting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following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original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strength.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2-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device.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repeater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component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amplifies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regenerates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they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go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system.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repeater's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strength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over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vast distances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 dense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blocks to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 a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network's range.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Repeaters are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frequently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employed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LANs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WANs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network's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dependability.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aid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preventing</a:t>
            </a:r>
            <a:r>
              <a:rPr sz="20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loss,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minimizing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mistakes,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ensuring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strong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high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enough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reaches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intended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location.</a:t>
            </a:r>
            <a:endParaRPr sz="20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Repeaters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employ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beyond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typical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range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restrictions.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Organizations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restrictions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physical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cabling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travel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farther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distances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0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losing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integrating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repeaters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57734" y="456782"/>
            <a:ext cx="15074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7107" y="1376902"/>
            <a:ext cx="9782810" cy="332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Ethernet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twisted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pair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cables.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technique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receive,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store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packet,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checks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transmits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correct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port.</a:t>
            </a:r>
            <a:r>
              <a:rPr sz="20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forwarding,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checked</a:t>
            </a:r>
            <a:r>
              <a:rPr sz="20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collision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errors.</a:t>
            </a:r>
            <a:r>
              <a:rPr sz="20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transmitted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full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duplex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transmission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switches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double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hubs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networking.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shares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devices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it.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sz="2000" spc="3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maintaining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even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traffic.</a:t>
            </a:r>
            <a:r>
              <a:rPr sz="2000" spc="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fact,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achieved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switches.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2710" y="456782"/>
            <a:ext cx="14744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Bridge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8255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60" dirty="0"/>
              <a:t> </a:t>
            </a:r>
            <a:r>
              <a:rPr dirty="0"/>
              <a:t>bridge</a:t>
            </a:r>
            <a:r>
              <a:rPr spc="60" dirty="0"/>
              <a:t> </a:t>
            </a:r>
            <a:r>
              <a:rPr dirty="0"/>
              <a:t>operates</a:t>
            </a:r>
            <a:r>
              <a:rPr spc="60" dirty="0"/>
              <a:t> </a:t>
            </a:r>
            <a:r>
              <a:rPr dirty="0"/>
              <a:t>at</a:t>
            </a:r>
            <a:r>
              <a:rPr spc="60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data</a:t>
            </a:r>
            <a:r>
              <a:rPr spc="60" dirty="0"/>
              <a:t> </a:t>
            </a:r>
            <a:r>
              <a:rPr dirty="0"/>
              <a:t>link</a:t>
            </a:r>
            <a:r>
              <a:rPr spc="60" dirty="0"/>
              <a:t> </a:t>
            </a:r>
            <a:r>
              <a:rPr dirty="0"/>
              <a:t>layer.</a:t>
            </a:r>
            <a:r>
              <a:rPr spc="60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bridge</a:t>
            </a:r>
            <a:r>
              <a:rPr spc="6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repeater,</a:t>
            </a:r>
            <a:r>
              <a:rPr spc="65" dirty="0"/>
              <a:t> </a:t>
            </a:r>
            <a:r>
              <a:rPr dirty="0"/>
              <a:t>with</a:t>
            </a:r>
            <a:r>
              <a:rPr spc="60" dirty="0"/>
              <a:t> </a:t>
            </a:r>
            <a:r>
              <a:rPr dirty="0"/>
              <a:t>add</a:t>
            </a:r>
            <a:r>
              <a:rPr spc="60" dirty="0"/>
              <a:t> </a:t>
            </a:r>
            <a:r>
              <a:rPr dirty="0"/>
              <a:t>on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functionality</a:t>
            </a:r>
            <a:r>
              <a:rPr spc="65" dirty="0"/>
              <a:t> </a:t>
            </a:r>
            <a:r>
              <a:rPr spc="-25" dirty="0"/>
              <a:t>of </a:t>
            </a:r>
            <a:r>
              <a:rPr dirty="0"/>
              <a:t>filtering</a:t>
            </a:r>
            <a:r>
              <a:rPr spc="20" dirty="0"/>
              <a:t> </a:t>
            </a:r>
            <a:r>
              <a:rPr dirty="0"/>
              <a:t>content</a:t>
            </a:r>
            <a:r>
              <a:rPr spc="20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dirty="0"/>
              <a:t>reading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MAC</a:t>
            </a:r>
            <a:r>
              <a:rPr spc="20" dirty="0"/>
              <a:t> </a:t>
            </a:r>
            <a:r>
              <a:rPr dirty="0"/>
              <a:t>addresses</a:t>
            </a:r>
            <a:r>
              <a:rPr spc="2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source</a:t>
            </a:r>
            <a:r>
              <a:rPr spc="2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destination.</a:t>
            </a:r>
            <a:r>
              <a:rPr spc="20" dirty="0"/>
              <a:t> </a:t>
            </a:r>
            <a:r>
              <a:rPr dirty="0"/>
              <a:t>It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also</a:t>
            </a:r>
            <a:r>
              <a:rPr spc="25" dirty="0"/>
              <a:t> </a:t>
            </a:r>
            <a:r>
              <a:rPr dirty="0"/>
              <a:t>used</a:t>
            </a:r>
            <a:r>
              <a:rPr spc="20" dirty="0"/>
              <a:t> </a:t>
            </a:r>
            <a:r>
              <a:rPr spc="-25" dirty="0"/>
              <a:t>for </a:t>
            </a:r>
            <a:r>
              <a:rPr dirty="0"/>
              <a:t>interconnecting</a:t>
            </a:r>
            <a:r>
              <a:rPr spc="-5" dirty="0"/>
              <a:t> </a:t>
            </a:r>
            <a:r>
              <a:rPr dirty="0"/>
              <a:t>two LANs working</a:t>
            </a:r>
            <a:r>
              <a:rPr spc="-5" dirty="0"/>
              <a:t> </a:t>
            </a:r>
            <a:r>
              <a:rPr dirty="0"/>
              <a:t>on the same</a:t>
            </a:r>
            <a:r>
              <a:rPr spc="-5" dirty="0"/>
              <a:t> </a:t>
            </a:r>
            <a:r>
              <a:rPr dirty="0"/>
              <a:t>protocol. It has</a:t>
            </a:r>
            <a:r>
              <a:rPr spc="-5" dirty="0"/>
              <a:t> </a:t>
            </a:r>
            <a:r>
              <a:rPr dirty="0"/>
              <a:t>a single input</a:t>
            </a:r>
            <a:r>
              <a:rPr spc="-5" dirty="0"/>
              <a:t> </a:t>
            </a:r>
            <a:r>
              <a:rPr dirty="0"/>
              <a:t>and single </a:t>
            </a:r>
            <a:r>
              <a:rPr spc="-10" dirty="0"/>
              <a:t>output </a:t>
            </a:r>
            <a:r>
              <a:rPr dirty="0"/>
              <a:t>port,</a:t>
            </a:r>
            <a:r>
              <a:rPr spc="-5" dirty="0"/>
              <a:t> </a:t>
            </a:r>
            <a:r>
              <a:rPr dirty="0"/>
              <a:t>thus</a:t>
            </a:r>
            <a:r>
              <a:rPr spc="-5" dirty="0"/>
              <a:t> </a:t>
            </a:r>
            <a:r>
              <a:rPr dirty="0"/>
              <a:t>making</a:t>
            </a:r>
            <a:r>
              <a:rPr spc="-5" dirty="0"/>
              <a:t> </a:t>
            </a:r>
            <a:r>
              <a:rPr dirty="0"/>
              <a:t>it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2-</a:t>
            </a:r>
            <a:r>
              <a:rPr dirty="0"/>
              <a:t>port</a:t>
            </a:r>
            <a:r>
              <a:rPr spc="-5" dirty="0"/>
              <a:t> </a:t>
            </a:r>
            <a:r>
              <a:rPr spc="-10" dirty="0"/>
              <a:t>device.</a:t>
            </a:r>
          </a:p>
          <a:p>
            <a:pPr marL="32384" algn="just">
              <a:lnSpc>
                <a:spcPct val="100000"/>
              </a:lnSpc>
              <a:spcBef>
                <a:spcPts val="1000"/>
              </a:spcBef>
            </a:pPr>
            <a:r>
              <a:rPr dirty="0"/>
              <a:t>Types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Bridges</a:t>
            </a:r>
          </a:p>
          <a:p>
            <a:pPr marL="375285" marR="635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dirty="0">
                <a:solidFill>
                  <a:srgbClr val="8ACED4"/>
                </a:solidFill>
              </a:rPr>
              <a:t>	</a:t>
            </a:r>
            <a:r>
              <a:rPr dirty="0"/>
              <a:t>Transparent</a:t>
            </a:r>
            <a:r>
              <a:rPr spc="55" dirty="0"/>
              <a:t> </a:t>
            </a:r>
            <a:r>
              <a:rPr dirty="0"/>
              <a:t>Bridges:-</a:t>
            </a:r>
            <a:r>
              <a:rPr spc="65" dirty="0"/>
              <a:t> </a:t>
            </a:r>
            <a:r>
              <a:rPr dirty="0"/>
              <a:t>These</a:t>
            </a:r>
            <a:r>
              <a:rPr spc="60" dirty="0"/>
              <a:t> </a:t>
            </a:r>
            <a:r>
              <a:rPr dirty="0"/>
              <a:t>are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bridge</a:t>
            </a:r>
            <a:r>
              <a:rPr spc="60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dirty="0"/>
              <a:t>which</a:t>
            </a:r>
            <a:r>
              <a:rPr spc="6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stations</a:t>
            </a:r>
            <a:r>
              <a:rPr spc="65" dirty="0"/>
              <a:t> </a:t>
            </a:r>
            <a:r>
              <a:rPr dirty="0"/>
              <a:t>are</a:t>
            </a:r>
            <a:r>
              <a:rPr spc="60" dirty="0"/>
              <a:t> </a:t>
            </a:r>
            <a:r>
              <a:rPr dirty="0"/>
              <a:t>completely</a:t>
            </a:r>
            <a:r>
              <a:rPr spc="65" dirty="0"/>
              <a:t> </a:t>
            </a:r>
            <a:r>
              <a:rPr dirty="0"/>
              <a:t>unaware</a:t>
            </a:r>
            <a:r>
              <a:rPr spc="60" dirty="0"/>
              <a:t> </a:t>
            </a:r>
            <a:r>
              <a:rPr spc="-25" dirty="0"/>
              <a:t>of </a:t>
            </a:r>
            <a:r>
              <a:rPr dirty="0"/>
              <a:t>the</a:t>
            </a:r>
            <a:r>
              <a:rPr spc="220" dirty="0"/>
              <a:t> </a:t>
            </a:r>
            <a:r>
              <a:rPr dirty="0"/>
              <a:t>bridge’s</a:t>
            </a:r>
            <a:r>
              <a:rPr spc="229" dirty="0"/>
              <a:t> </a:t>
            </a:r>
            <a:r>
              <a:rPr dirty="0"/>
              <a:t>existence</a:t>
            </a:r>
            <a:r>
              <a:rPr spc="229" dirty="0"/>
              <a:t> </a:t>
            </a:r>
            <a:r>
              <a:rPr dirty="0"/>
              <a:t>i.e.,</a:t>
            </a:r>
            <a:r>
              <a:rPr spc="229" dirty="0"/>
              <a:t> </a:t>
            </a:r>
            <a:r>
              <a:rPr dirty="0"/>
              <a:t>whether</a:t>
            </a:r>
            <a:r>
              <a:rPr spc="229" dirty="0"/>
              <a:t> </a:t>
            </a:r>
            <a:r>
              <a:rPr dirty="0"/>
              <a:t>or</a:t>
            </a:r>
            <a:r>
              <a:rPr spc="229" dirty="0"/>
              <a:t> </a:t>
            </a:r>
            <a:r>
              <a:rPr dirty="0"/>
              <a:t>not</a:t>
            </a:r>
            <a:r>
              <a:rPr spc="229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dirty="0"/>
              <a:t>bridge</a:t>
            </a:r>
            <a:r>
              <a:rPr spc="229" dirty="0"/>
              <a:t> </a:t>
            </a:r>
            <a:r>
              <a:rPr dirty="0"/>
              <a:t>is</a:t>
            </a:r>
            <a:r>
              <a:rPr spc="229" dirty="0"/>
              <a:t> </a:t>
            </a:r>
            <a:r>
              <a:rPr dirty="0"/>
              <a:t>added</a:t>
            </a:r>
            <a:r>
              <a:rPr spc="229" dirty="0"/>
              <a:t> </a:t>
            </a:r>
            <a:r>
              <a:rPr dirty="0"/>
              <a:t>or</a:t>
            </a:r>
            <a:r>
              <a:rPr spc="229" dirty="0"/>
              <a:t> </a:t>
            </a:r>
            <a:r>
              <a:rPr dirty="0"/>
              <a:t>deleted</a:t>
            </a:r>
            <a:r>
              <a:rPr spc="229" dirty="0"/>
              <a:t> </a:t>
            </a:r>
            <a:r>
              <a:rPr dirty="0"/>
              <a:t>from</a:t>
            </a:r>
            <a:r>
              <a:rPr spc="229" dirty="0"/>
              <a:t> </a:t>
            </a:r>
            <a:r>
              <a:rPr dirty="0"/>
              <a:t>the</a:t>
            </a:r>
            <a:r>
              <a:rPr spc="229" dirty="0"/>
              <a:t> </a:t>
            </a:r>
            <a:r>
              <a:rPr spc="-10" dirty="0"/>
              <a:t>network, </a:t>
            </a:r>
            <a:r>
              <a:rPr dirty="0"/>
              <a:t>reconfiguration</a:t>
            </a:r>
            <a:r>
              <a:rPr spc="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stations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dirty="0"/>
              <a:t>unnecessary.</a:t>
            </a:r>
            <a:r>
              <a:rPr spc="25" dirty="0"/>
              <a:t> </a:t>
            </a:r>
            <a:r>
              <a:rPr dirty="0"/>
              <a:t>These</a:t>
            </a:r>
            <a:r>
              <a:rPr spc="30" dirty="0"/>
              <a:t> </a:t>
            </a:r>
            <a:r>
              <a:rPr dirty="0"/>
              <a:t>bridges</a:t>
            </a:r>
            <a:r>
              <a:rPr spc="25" dirty="0"/>
              <a:t> </a:t>
            </a:r>
            <a:r>
              <a:rPr dirty="0"/>
              <a:t>make</a:t>
            </a:r>
            <a:r>
              <a:rPr spc="30" dirty="0"/>
              <a:t> </a:t>
            </a:r>
            <a:r>
              <a:rPr dirty="0"/>
              <a:t>use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two</a:t>
            </a:r>
            <a:r>
              <a:rPr spc="25" dirty="0"/>
              <a:t> </a:t>
            </a:r>
            <a:r>
              <a:rPr dirty="0"/>
              <a:t>processes</a:t>
            </a:r>
            <a:r>
              <a:rPr spc="30" dirty="0"/>
              <a:t> </a:t>
            </a:r>
            <a:r>
              <a:rPr spc="-10" dirty="0"/>
              <a:t>i.e., </a:t>
            </a:r>
            <a:r>
              <a:rPr dirty="0"/>
              <a:t>bridge</a:t>
            </a:r>
            <a:r>
              <a:rPr spc="-20" dirty="0"/>
              <a:t> </a:t>
            </a:r>
            <a:r>
              <a:rPr dirty="0"/>
              <a:t>forwarding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bridge</a:t>
            </a:r>
            <a:r>
              <a:rPr spc="-15" dirty="0"/>
              <a:t> </a:t>
            </a:r>
            <a:r>
              <a:rPr spc="-10" dirty="0"/>
              <a:t>learning.</a:t>
            </a:r>
          </a:p>
          <a:p>
            <a:pPr marL="375285" marR="5080" indent="-363220" algn="just">
              <a:lnSpc>
                <a:spcPct val="10000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dirty="0">
                <a:solidFill>
                  <a:srgbClr val="8ACED4"/>
                </a:solidFill>
              </a:rPr>
              <a:t>	</a:t>
            </a:r>
            <a:r>
              <a:rPr dirty="0"/>
              <a:t>Source</a:t>
            </a:r>
            <a:r>
              <a:rPr spc="315" dirty="0"/>
              <a:t> </a:t>
            </a:r>
            <a:r>
              <a:rPr dirty="0"/>
              <a:t>Routing</a:t>
            </a:r>
            <a:r>
              <a:rPr spc="315" dirty="0"/>
              <a:t> </a:t>
            </a:r>
            <a:r>
              <a:rPr dirty="0"/>
              <a:t>Bridges:-</a:t>
            </a:r>
            <a:r>
              <a:rPr spc="315" dirty="0"/>
              <a:t> </a:t>
            </a:r>
            <a:r>
              <a:rPr dirty="0"/>
              <a:t>In</a:t>
            </a:r>
            <a:r>
              <a:rPr spc="315" dirty="0"/>
              <a:t> </a:t>
            </a:r>
            <a:r>
              <a:rPr dirty="0"/>
              <a:t>these</a:t>
            </a:r>
            <a:r>
              <a:rPr spc="315" dirty="0"/>
              <a:t> </a:t>
            </a:r>
            <a:r>
              <a:rPr dirty="0"/>
              <a:t>bridges,</a:t>
            </a:r>
            <a:r>
              <a:rPr spc="315" dirty="0"/>
              <a:t> </a:t>
            </a:r>
            <a:r>
              <a:rPr dirty="0"/>
              <a:t>routing</a:t>
            </a:r>
            <a:r>
              <a:rPr spc="315" dirty="0"/>
              <a:t> </a:t>
            </a:r>
            <a:r>
              <a:rPr dirty="0"/>
              <a:t>operation</a:t>
            </a:r>
            <a:r>
              <a:rPr spc="315" dirty="0"/>
              <a:t> </a:t>
            </a:r>
            <a:r>
              <a:rPr dirty="0"/>
              <a:t>is</a:t>
            </a:r>
            <a:r>
              <a:rPr spc="315" dirty="0"/>
              <a:t> </a:t>
            </a:r>
            <a:r>
              <a:rPr dirty="0"/>
              <a:t>performed</a:t>
            </a:r>
            <a:r>
              <a:rPr spc="315" dirty="0"/>
              <a:t> </a:t>
            </a:r>
            <a:r>
              <a:rPr dirty="0"/>
              <a:t>by</a:t>
            </a:r>
            <a:r>
              <a:rPr spc="315" dirty="0"/>
              <a:t> </a:t>
            </a:r>
            <a:r>
              <a:rPr dirty="0"/>
              <a:t>the</a:t>
            </a:r>
            <a:r>
              <a:rPr spc="315" dirty="0"/>
              <a:t> </a:t>
            </a:r>
            <a:r>
              <a:rPr spc="-10" dirty="0"/>
              <a:t>source </a:t>
            </a:r>
            <a:r>
              <a:rPr dirty="0"/>
              <a:t>station</a:t>
            </a:r>
            <a:r>
              <a:rPr spc="180" dirty="0"/>
              <a:t> </a:t>
            </a:r>
            <a:r>
              <a:rPr dirty="0"/>
              <a:t>and</a:t>
            </a:r>
            <a:r>
              <a:rPr spc="185" dirty="0"/>
              <a:t> </a:t>
            </a:r>
            <a:r>
              <a:rPr dirty="0"/>
              <a:t>the</a:t>
            </a:r>
            <a:r>
              <a:rPr spc="175" dirty="0"/>
              <a:t> </a:t>
            </a:r>
            <a:r>
              <a:rPr dirty="0"/>
              <a:t>frame</a:t>
            </a:r>
            <a:r>
              <a:rPr spc="180" dirty="0"/>
              <a:t> </a:t>
            </a:r>
            <a:r>
              <a:rPr dirty="0"/>
              <a:t>specifies</a:t>
            </a:r>
            <a:r>
              <a:rPr spc="185" dirty="0"/>
              <a:t> </a:t>
            </a:r>
            <a:r>
              <a:rPr dirty="0"/>
              <a:t>which</a:t>
            </a:r>
            <a:r>
              <a:rPr spc="180" dirty="0"/>
              <a:t> </a:t>
            </a:r>
            <a:r>
              <a:rPr dirty="0"/>
              <a:t>route</a:t>
            </a:r>
            <a:r>
              <a:rPr spc="180" dirty="0"/>
              <a:t> </a:t>
            </a:r>
            <a:r>
              <a:rPr dirty="0"/>
              <a:t>to</a:t>
            </a:r>
            <a:r>
              <a:rPr spc="185" dirty="0"/>
              <a:t> </a:t>
            </a:r>
            <a:r>
              <a:rPr dirty="0"/>
              <a:t>follow.</a:t>
            </a:r>
            <a:r>
              <a:rPr spc="18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host</a:t>
            </a:r>
            <a:r>
              <a:rPr spc="180" dirty="0"/>
              <a:t> </a:t>
            </a:r>
            <a:r>
              <a:rPr dirty="0"/>
              <a:t>can</a:t>
            </a:r>
            <a:r>
              <a:rPr spc="180" dirty="0"/>
              <a:t> </a:t>
            </a:r>
            <a:r>
              <a:rPr dirty="0"/>
              <a:t>discover</a:t>
            </a:r>
            <a:r>
              <a:rPr spc="185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frame</a:t>
            </a:r>
            <a:r>
              <a:rPr spc="175" dirty="0"/>
              <a:t> </a:t>
            </a:r>
            <a:r>
              <a:rPr spc="-25" dirty="0"/>
              <a:t>by </a:t>
            </a:r>
            <a:r>
              <a:rPr dirty="0"/>
              <a:t>sending</a:t>
            </a:r>
            <a:r>
              <a:rPr spc="15" dirty="0"/>
              <a:t>  </a:t>
            </a:r>
            <a:r>
              <a:rPr dirty="0"/>
              <a:t>a</a:t>
            </a:r>
            <a:r>
              <a:rPr spc="15" dirty="0"/>
              <a:t>  </a:t>
            </a:r>
            <a:r>
              <a:rPr dirty="0"/>
              <a:t>special</a:t>
            </a:r>
            <a:r>
              <a:rPr spc="20" dirty="0"/>
              <a:t>  </a:t>
            </a:r>
            <a:r>
              <a:rPr dirty="0"/>
              <a:t>frame</a:t>
            </a:r>
            <a:r>
              <a:rPr spc="15" dirty="0"/>
              <a:t>  </a:t>
            </a:r>
            <a:r>
              <a:rPr dirty="0"/>
              <a:t>called</a:t>
            </a:r>
            <a:r>
              <a:rPr spc="15" dirty="0"/>
              <a:t>  </a:t>
            </a:r>
            <a:r>
              <a:rPr dirty="0"/>
              <a:t>the</a:t>
            </a:r>
            <a:r>
              <a:rPr spc="20" dirty="0"/>
              <a:t>  </a:t>
            </a:r>
            <a:r>
              <a:rPr dirty="0"/>
              <a:t>discovery</a:t>
            </a:r>
            <a:r>
              <a:rPr spc="15" dirty="0"/>
              <a:t>  </a:t>
            </a:r>
            <a:r>
              <a:rPr dirty="0"/>
              <a:t>frame,</a:t>
            </a:r>
            <a:r>
              <a:rPr spc="20" dirty="0"/>
              <a:t>  </a:t>
            </a:r>
            <a:r>
              <a:rPr dirty="0"/>
              <a:t>which</a:t>
            </a:r>
            <a:r>
              <a:rPr spc="20" dirty="0"/>
              <a:t>  </a:t>
            </a:r>
            <a:r>
              <a:rPr dirty="0"/>
              <a:t>spreads</a:t>
            </a:r>
            <a:r>
              <a:rPr spc="15" dirty="0"/>
              <a:t>  </a:t>
            </a:r>
            <a:r>
              <a:rPr dirty="0"/>
              <a:t>through</a:t>
            </a:r>
            <a:r>
              <a:rPr spc="20" dirty="0"/>
              <a:t>  </a:t>
            </a:r>
            <a:r>
              <a:rPr dirty="0"/>
              <a:t>the</a:t>
            </a:r>
            <a:r>
              <a:rPr spc="15" dirty="0"/>
              <a:t>  </a:t>
            </a:r>
            <a:r>
              <a:rPr spc="-10" dirty="0"/>
              <a:t>entire </a:t>
            </a:r>
            <a:r>
              <a:rPr dirty="0"/>
              <a:t>network</a:t>
            </a:r>
            <a:r>
              <a:rPr spc="-25" dirty="0"/>
              <a:t> </a:t>
            </a:r>
            <a:r>
              <a:rPr dirty="0"/>
              <a:t>using</a:t>
            </a:r>
            <a:r>
              <a:rPr spc="-1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possible</a:t>
            </a:r>
            <a:r>
              <a:rPr spc="-15" dirty="0"/>
              <a:t> </a:t>
            </a:r>
            <a:r>
              <a:rPr dirty="0"/>
              <a:t>paths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destination.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2710" y="456782"/>
            <a:ext cx="14776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Router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8210" y="1352517"/>
            <a:ext cx="10153650" cy="45313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2384" marR="9525" algn="just">
              <a:lnSpc>
                <a:spcPts val="2160"/>
              </a:lnSpc>
              <a:spcBef>
                <a:spcPts val="37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addresses.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mainly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device.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Routers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normally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LANs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WANs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dynamically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updating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2000" spc="4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decisions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4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packets.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broadcast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domains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hosts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connected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32384" marR="6350" algn="just">
              <a:lnSpc>
                <a:spcPts val="2160"/>
              </a:lnSpc>
              <a:spcBef>
                <a:spcPts val="10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virtual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internetworking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designed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receive,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analyze,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networks.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examines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destination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IP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packet,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headers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forwarding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tables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decide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best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transfer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packets.</a:t>
            </a:r>
            <a:endParaRPr sz="2000">
              <a:latin typeface="Times New Roman"/>
              <a:cs typeface="Times New Roman"/>
            </a:endParaRPr>
          </a:p>
          <a:p>
            <a:pPr marL="375285" marR="5080" indent="-363220" algn="just">
              <a:lnSpc>
                <a:spcPts val="2160"/>
              </a:lnSpc>
              <a:spcBef>
                <a:spcPts val="1000"/>
              </a:spcBef>
              <a:buSzPct val="80000"/>
              <a:buFont typeface="Lucida Sans Unicode"/>
              <a:buChar char="□"/>
              <a:tabLst>
                <a:tab pos="375285" algn="l"/>
                <a:tab pos="377825" algn="l"/>
              </a:tabLst>
            </a:pPr>
            <a:r>
              <a:rPr sz="2000" dirty="0">
                <a:solidFill>
                  <a:srgbClr val="8ACED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(Local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Network)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WAN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(Wide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Network)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environments.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example,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offices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connectivity,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establish</a:t>
            </a:r>
            <a:r>
              <a:rPr sz="20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connection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distant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networks.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73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shares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routers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networking.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76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routing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protocol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760"/>
              </a:spcBef>
              <a:buClr>
                <a:srgbClr val="8ACED4"/>
              </a:buClr>
              <a:buSzPct val="80000"/>
              <a:buFont typeface="Lucida Sans Unicode"/>
              <a:buChar char="□"/>
              <a:tabLst>
                <a:tab pos="37528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Furthermore,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expensive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switches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hubs.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8554" y="6138671"/>
            <a:ext cx="908383" cy="71932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409236" y="0"/>
            <a:ext cx="742950" cy="1197610"/>
            <a:chOff x="10409236" y="0"/>
            <a:chExt cx="742950" cy="11976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09236" y="0"/>
              <a:ext cx="742950" cy="119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7811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685799" y="0"/>
                  </a:lnTo>
                  <a:lnTo>
                    <a:pt x="685799" y="1142999"/>
                  </a:lnTo>
                  <a:close/>
                </a:path>
              </a:pathLst>
            </a:custGeom>
            <a:solidFill>
              <a:srgbClr val="B014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323728" y="2831890"/>
            <a:ext cx="554482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/>
              <a:t>Thank </a:t>
            </a:r>
            <a:r>
              <a:rPr sz="9600" spc="-25" dirty="0"/>
              <a:t>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5731</Words>
  <Application>Microsoft Office PowerPoint</Application>
  <PresentationFormat>Widescreen</PresentationFormat>
  <Paragraphs>221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 MT</vt:lpstr>
      <vt:lpstr>Lucida Sans Unicode</vt:lpstr>
      <vt:lpstr>Times New Roman</vt:lpstr>
      <vt:lpstr>Office Theme</vt:lpstr>
      <vt:lpstr>COMPUTER NETWORKS (21CSC302J) UNIT - II</vt:lpstr>
      <vt:lpstr>Unit-II Syllabus</vt:lpstr>
      <vt:lpstr>IPv4 ADDRESSING</vt:lpstr>
      <vt:lpstr>There are two notations in which the IP address is written, dotted decimal and hexadecimal notation.</vt:lpstr>
      <vt:lpstr>Address Space</vt:lpstr>
      <vt:lpstr>IPv4 Address Space</vt:lpstr>
      <vt:lpstr>IPv6 &amp; IPv6 Address Space</vt:lpstr>
      <vt:lpstr>Classful Addressing</vt:lpstr>
      <vt:lpstr>Cont.</vt:lpstr>
      <vt:lpstr>Cont.</vt:lpstr>
      <vt:lpstr>Class A IP Address</vt:lpstr>
      <vt:lpstr>Class B IP Address</vt:lpstr>
      <vt:lpstr>Class C IP Address</vt:lpstr>
      <vt:lpstr>Class D &amp; E IP Address</vt:lpstr>
      <vt:lpstr>Cont.</vt:lpstr>
      <vt:lpstr>Rules for Assigning Host ID</vt:lpstr>
      <vt:lpstr>Rules for Assigning Network ID</vt:lpstr>
      <vt:lpstr>Summary of Classful Addressing</vt:lpstr>
      <vt:lpstr>Problems With Classful Addressing</vt:lpstr>
      <vt:lpstr>Problems With Classful Addressing</vt:lpstr>
      <vt:lpstr>Classless Addressing</vt:lpstr>
      <vt:lpstr>Classless Addressing</vt:lpstr>
      <vt:lpstr>Prefix Length - Slash Notation</vt:lpstr>
      <vt:lpstr>Extracting Information from an Address</vt:lpstr>
      <vt:lpstr>Difference Between Classful and Classless Addressing</vt:lpstr>
      <vt:lpstr>Subnet Mask</vt:lpstr>
      <vt:lpstr>Function of Subnet Mask</vt:lpstr>
      <vt:lpstr>Subnetting</vt:lpstr>
      <vt:lpstr>Subnetting</vt:lpstr>
      <vt:lpstr>Fixed-Length Subnet Mask (FLSM)</vt:lpstr>
      <vt:lpstr>Virtual Length Subnet Mask (VLSM )</vt:lpstr>
      <vt:lpstr>Differences Between FLSM and VLSM</vt:lpstr>
      <vt:lpstr>Network Address Translation (NAT)</vt:lpstr>
      <vt:lpstr>Types of NAT</vt:lpstr>
      <vt:lpstr>Network Devices</vt:lpstr>
      <vt:lpstr>Hub</vt:lpstr>
      <vt:lpstr>Repeater</vt:lpstr>
      <vt:lpstr>Switch</vt:lpstr>
      <vt:lpstr>Bridge</vt:lpstr>
      <vt:lpstr>Router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anand</cp:lastModifiedBy>
  <cp:revision>1</cp:revision>
  <dcterms:created xsi:type="dcterms:W3CDTF">2026-08-18T03:39:08Z</dcterms:created>
  <dcterms:modified xsi:type="dcterms:W3CDTF">2026-08-18T03:39:42Z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2026-08-18T00:00:00Z</vt:filetime>
  </property>
</Properties>
</file>