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Hosts required</c:v>
                </c:pt>
              </c:strCache>
            </c:strRef>
          </c:tx>
          <c:spPr>
            <a:solidFill>
              <a:srgbClr val="1B7A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Academics</c:v>
                  </c:pt>
                  <c:pt idx="1">
                    <c:v>Administration</c:v>
                  </c:pt>
                  <c:pt idx="2">
                    <c:v>Placement</c:v>
                  </c:pt>
                  <c:pt idx="3">
                    <c:v>Sports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</c:v>
                </c:pt>
                <c:pt idx="1">
                  <c:v>45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Usable addresses allocated</c:v>
                </c:pt>
              </c:strCache>
            </c:strRef>
          </c:tx>
          <c:spPr>
            <a:solidFill>
              <a:srgbClr val="3FE0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Academics</c:v>
                  </c:pt>
                  <c:pt idx="1">
                    <c:v>Administration</c:v>
                  </c:pt>
                  <c:pt idx="2">
                    <c:v>Placement</c:v>
                  </c:pt>
                  <c:pt idx="3">
                    <c:v>Sports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126</c:v>
                </c:pt>
                <c:pt idx="1">
                  <c:v>62</c:v>
                </c:pt>
                <c:pt idx="2">
                  <c:v>30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4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1707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1707C"/>
                    </a:solidFill>
                    <a:latin typeface="Arial"/>
                  </a:rPr>
                  <a:t>Number of hosts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170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0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40080"/>
            <a:ext cx="1188720" cy="36576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05840"/>
            <a:ext cx="1737360" cy="54864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05840"/>
            <a:ext cx="640080" cy="100584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326880" y="1005840"/>
            <a:ext cx="365760" cy="82296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640080"/>
            <a:ext cx="548640" cy="91440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0332720" y="640080"/>
            <a:ext cx="548640" cy="137160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326880" y="640080"/>
            <a:ext cx="1554480" cy="118872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332720" y="1554480"/>
            <a:ext cx="1097280" cy="45720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326880" y="1554480"/>
            <a:ext cx="2103120" cy="27432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9326880" y="1828800"/>
            <a:ext cx="1005840" cy="182880"/>
          </a:xfrm>
          <a:prstGeom prst="line">
            <a:avLst/>
          </a:prstGeom>
          <a:noFill/>
          <a:ln w="12700">
            <a:solidFill>
              <a:srgbClr val="1B7A9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0344" y="923544"/>
            <a:ext cx="164592" cy="164592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9064" y="557784"/>
            <a:ext cx="164592" cy="164592"/>
          </a:xfrm>
          <a:prstGeom prst="ellipse">
            <a:avLst/>
          </a:prstGeom>
          <a:solidFill>
            <a:srgbClr val="1B7A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47704" y="1472184"/>
            <a:ext cx="164592" cy="164592"/>
          </a:xfrm>
          <a:prstGeom prst="ellipse">
            <a:avLst/>
          </a:prstGeom>
          <a:solidFill>
            <a:srgbClr val="1B7A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50424" y="1929384"/>
            <a:ext cx="164592" cy="164592"/>
          </a:xfrm>
          <a:prstGeom prst="ellipse">
            <a:avLst/>
          </a:prstGeom>
          <a:solidFill>
            <a:srgbClr val="1B7A93"/>
          </a:solidFill>
          <a:ln/>
        </p:spPr>
      </p:sp>
      <p:sp>
        <p:nvSpPr>
          <p:cNvPr id="16" name="Shape 14"/>
          <p:cNvSpPr/>
          <p:nvPr/>
        </p:nvSpPr>
        <p:spPr>
          <a:xfrm>
            <a:off x="9244584" y="1746504"/>
            <a:ext cx="164592" cy="164592"/>
          </a:xfrm>
          <a:prstGeom prst="ellipse">
            <a:avLst/>
          </a:prstGeom>
          <a:solidFill>
            <a:srgbClr val="1B7A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NETWORKING  ·  IP ADDRESSING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Length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Subnet Mask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IP address space efficiently by giving every subnetwork exactly the size it needs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166360"/>
            <a:ext cx="2011680" cy="0"/>
          </a:xfrm>
          <a:prstGeom prst="line">
            <a:avLst/>
          </a:prstGeom>
          <a:noFill/>
          <a:ln w="25400">
            <a:solidFill>
              <a:srgbClr val="3FE0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VLSM  ·  Subnetting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VLSM?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VLSM lets a network administrator split one large network into several smaller subnetworks — and, unlike classic subnetting, those subnetworks are allowed to be different sizes.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rgbClr val="1B7A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963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just enough addresses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8072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subnet is sized to its own host requirement, not a one-size-fits-all block.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502152"/>
            <a:ext cx="128016" cy="128016"/>
          </a:xfrm>
          <a:prstGeom prst="ellipse">
            <a:avLst/>
          </a:prstGeom>
          <a:solidFill>
            <a:srgbClr val="1B7A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64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wasted addresses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6758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Left-over address space is minimized compared with fixed-size subnetting.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370832"/>
            <a:ext cx="128016" cy="128016"/>
          </a:xfrm>
          <a:prstGeom prst="ellipse">
            <a:avLst/>
          </a:prstGeom>
          <a:solidFill>
            <a:srgbClr val="1B7A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336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real networks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campus, enterprise, and ISP networks with departments of very different sizes.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23444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B294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35331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— 192.168.1.0/24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6916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total addresses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29700" y="2148840"/>
            <a:ext cx="0" cy="320040"/>
          </a:xfrm>
          <a:prstGeom prst="line">
            <a:avLst/>
          </a:prstGeom>
          <a:noFill/>
          <a:ln w="19050">
            <a:solidFill>
              <a:srgbClr val="1B7A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651760"/>
            <a:ext cx="2706624" cy="777240"/>
          </a:xfrm>
          <a:prstGeom prst="rect">
            <a:avLst/>
          </a:prstGeom>
          <a:solidFill>
            <a:srgbClr val="0F4C75"/>
          </a:solidFill>
          <a:ln w="12700">
            <a:solidFill>
              <a:srgbClr val="F5F9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2651760"/>
            <a:ext cx="1353312" cy="777240"/>
          </a:xfrm>
          <a:prstGeom prst="rect">
            <a:avLst/>
          </a:prstGeom>
          <a:solidFill>
            <a:srgbClr val="1B7A93"/>
          </a:solidFill>
          <a:ln w="12700">
            <a:solidFill>
              <a:srgbClr val="F5F9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52176" y="2651760"/>
            <a:ext cx="676656" cy="777240"/>
          </a:xfrm>
          <a:prstGeom prst="rect">
            <a:avLst/>
          </a:prstGeom>
          <a:solidFill>
            <a:srgbClr val="2E7B8C"/>
          </a:solidFill>
          <a:ln w="12700">
            <a:solidFill>
              <a:srgbClr val="F5F9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28832" y="2651760"/>
            <a:ext cx="338328" cy="777240"/>
          </a:xfrm>
          <a:prstGeom prst="rect">
            <a:avLst/>
          </a:prstGeom>
          <a:solidFill>
            <a:srgbClr val="4FA3B0"/>
          </a:solidFill>
          <a:ln w="12700">
            <a:solidFill>
              <a:srgbClr val="F5F9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67160" y="2651760"/>
            <a:ext cx="0" cy="777240"/>
          </a:xfrm>
          <a:prstGeom prst="rect">
            <a:avLst/>
          </a:prstGeom>
          <a:solidFill>
            <a:srgbClr val="D8E4E8"/>
          </a:solidFill>
          <a:ln w="12700">
            <a:solidFill>
              <a:srgbClr val="F5F9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758184"/>
            <a:ext cx="201168" cy="20116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6784848" y="3703320"/>
            <a:ext cx="2217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 —  126 usable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29700" y="3758184"/>
            <a:ext cx="201168" cy="201168"/>
          </a:xfrm>
          <a:prstGeom prst="rect">
            <a:avLst/>
          </a:prstGeom>
          <a:solidFill>
            <a:srgbClr val="1B7A93"/>
          </a:solidFill>
          <a:ln/>
        </p:spPr>
      </p:sp>
      <p:sp>
        <p:nvSpPr>
          <p:cNvPr id="25" name="Text 23"/>
          <p:cNvSpPr/>
          <p:nvPr/>
        </p:nvSpPr>
        <p:spPr>
          <a:xfrm>
            <a:off x="9322308" y="3703320"/>
            <a:ext cx="2217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 —  62 usable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4215384"/>
            <a:ext cx="201168" cy="201168"/>
          </a:xfrm>
          <a:prstGeom prst="rect">
            <a:avLst/>
          </a:prstGeom>
          <a:solidFill>
            <a:srgbClr val="2E7B8C"/>
          </a:solidFill>
          <a:ln/>
        </p:spPr>
      </p:sp>
      <p:sp>
        <p:nvSpPr>
          <p:cNvPr id="27" name="Text 25"/>
          <p:cNvSpPr/>
          <p:nvPr/>
        </p:nvSpPr>
        <p:spPr>
          <a:xfrm>
            <a:off x="6784848" y="4160520"/>
            <a:ext cx="2217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 —  30 usable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29700" y="4215384"/>
            <a:ext cx="201168" cy="201168"/>
          </a:xfrm>
          <a:prstGeom prst="rect">
            <a:avLst/>
          </a:prstGeom>
          <a:solidFill>
            <a:srgbClr val="4FA3B0"/>
          </a:solidFill>
          <a:ln/>
        </p:spPr>
      </p:sp>
      <p:sp>
        <p:nvSpPr>
          <p:cNvPr id="29" name="Text 27"/>
          <p:cNvSpPr/>
          <p:nvPr/>
        </p:nvSpPr>
        <p:spPr>
          <a:xfrm>
            <a:off x="9322308" y="4160520"/>
            <a:ext cx="2217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 —  14 usable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4672584"/>
            <a:ext cx="201168" cy="201168"/>
          </a:xfrm>
          <a:prstGeom prst="rect">
            <a:avLst/>
          </a:prstGeom>
          <a:solidFill>
            <a:srgbClr val="D8E4E8"/>
          </a:solidFill>
          <a:ln/>
        </p:spPr>
      </p:sp>
      <p:sp>
        <p:nvSpPr>
          <p:cNvPr id="31" name="Text 29"/>
          <p:cNvSpPr/>
          <p:nvPr/>
        </p:nvSpPr>
        <p:spPr>
          <a:xfrm>
            <a:off x="6784848" y="4617720"/>
            <a:ext cx="2217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 —  16 addr.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02920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above represents one department's subnet — sized to its own need, not a fixed share.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Ideas Behind VLSM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subnet masks, subnetting, and supernetting makes VLSM straightforward.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355848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32-bit pattern where every network-portion bit is set to 1 and every host-portion bit is set to 0 — it marks where the network ID ends and the host ID begins.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548640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486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255.255.0.0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87452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194560"/>
            <a:ext cx="502920" cy="502920"/>
          </a:xfrm>
          <a:prstGeom prst="ellipse">
            <a:avLst/>
          </a:prstGeom>
          <a:solidFill>
            <a:srgbClr val="1B7A93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2880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3355848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one large network into smaller networks by borrowing bits from the host portion of the address — e.g. splitting an Academics network into CS and IT sections.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548640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5486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network → many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87452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58200" y="2194560"/>
            <a:ext cx="502920" cy="502920"/>
          </a:xfrm>
          <a:prstGeom prst="ellipse">
            <a:avLst/>
          </a:prstGeom>
          <a:solidFill>
            <a:srgbClr val="0B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58200" y="2880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Supernetting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58200" y="3355848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of subnetting: combining several smaller networks into a single larger network, useful when departments merge into one address block.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58200" y="548640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5486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networks → 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IPv4 Address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32-bit IPv4 address carries two parts: a network ID and a host ID. The subnet mask marks the boundary between them.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51560" y="2377440"/>
            <a:ext cx="2404872" cy="777240"/>
          </a:xfrm>
          <a:prstGeom prst="rect">
            <a:avLst/>
          </a:prstGeom>
          <a:solidFill>
            <a:srgbClr val="0F4C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77440"/>
            <a:ext cx="2404872" cy="4818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859329"/>
            <a:ext cx="2404872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2404872" cy="777240"/>
          </a:xfrm>
          <a:prstGeom prst="rect">
            <a:avLst/>
          </a:prstGeom>
          <a:solidFill>
            <a:srgbClr val="0F4C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377440"/>
            <a:ext cx="2404872" cy="4818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2859329"/>
            <a:ext cx="2404872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2377440"/>
            <a:ext cx="2404872" cy="777240"/>
          </a:xfrm>
          <a:prstGeom prst="rect">
            <a:avLst/>
          </a:prstGeom>
          <a:solidFill>
            <a:srgbClr val="1B7A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2377440"/>
            <a:ext cx="2404872" cy="4818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80760" y="2859329"/>
            <a:ext cx="2404872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95360" y="2377440"/>
            <a:ext cx="2404872" cy="777240"/>
          </a:xfrm>
          <a:prstGeom prst="rect">
            <a:avLst/>
          </a:prstGeom>
          <a:solidFill>
            <a:srgbClr val="1B7A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377440"/>
            <a:ext cx="2404872" cy="4818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2859329"/>
            <a:ext cx="2404872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51560" y="3319272"/>
            <a:ext cx="4919472" cy="0"/>
          </a:xfrm>
          <a:prstGeom prst="line">
            <a:avLst/>
          </a:prstGeom>
          <a:noFill/>
          <a:ln w="25400">
            <a:solidFill>
              <a:srgbClr val="0F4C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4107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ID  (identifies the network)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3319272"/>
            <a:ext cx="4919472" cy="0"/>
          </a:xfrm>
          <a:prstGeom prst="line">
            <a:avLst/>
          </a:prstGeom>
          <a:noFill/>
          <a:ln w="25400">
            <a:solidFill>
              <a:srgbClr val="1B7A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4107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ID  (identifies the device)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subnet mask: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4343400"/>
            <a:ext cx="2404872" cy="594360"/>
          </a:xfrm>
          <a:prstGeom prst="rect">
            <a:avLst/>
          </a:prstGeom>
          <a:solidFill>
            <a:srgbClr val="CFE3EC"/>
          </a:solidFill>
          <a:ln w="19050">
            <a:solidFill>
              <a:srgbClr val="0F4C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343400"/>
            <a:ext cx="2404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566160" y="4343400"/>
            <a:ext cx="2404872" cy="594360"/>
          </a:xfrm>
          <a:prstGeom prst="rect">
            <a:avLst/>
          </a:prstGeom>
          <a:solidFill>
            <a:srgbClr val="CFE3EC"/>
          </a:solidFill>
          <a:ln w="19050">
            <a:solidFill>
              <a:srgbClr val="0F4C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4343400"/>
            <a:ext cx="2404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80760" y="4343400"/>
            <a:ext cx="2404872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4343400"/>
            <a:ext cx="2404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595360" y="4343400"/>
            <a:ext cx="2404872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4343400"/>
            <a:ext cx="2404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5156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set to 1 cover the network portion; bits set to 0 cover the host portion. Here, the pattern 255.255.0.0 marks a 16-bit network ID.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5156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general example to show network vs. host bits — the college case study later in this deck uses its own address range.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Subnetting vs. Supernetting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opposite operations on network address blocks.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0F4C7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834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Dept.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3337560"/>
            <a:ext cx="0" cy="274320"/>
          </a:xfrm>
          <a:prstGeom prst="line">
            <a:avLst/>
          </a:prstGeom>
          <a:noFill/>
          <a:ln w="15875">
            <a:solidFill>
              <a:srgbClr val="5170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3611880"/>
            <a:ext cx="1188720" cy="256032"/>
          </a:xfrm>
          <a:prstGeom prst="line">
            <a:avLst/>
          </a:prstGeom>
          <a:noFill/>
          <a:ln w="12700">
            <a:solidFill>
              <a:srgbClr val="5170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291840" y="3611880"/>
            <a:ext cx="1188720" cy="256032"/>
          </a:xfrm>
          <a:prstGeom prst="line">
            <a:avLst/>
          </a:prstGeom>
          <a:noFill/>
          <a:ln w="12700">
            <a:solidFill>
              <a:srgbClr val="5170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867912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B7A9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6791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3867912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B7A93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386791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7548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is split into smaller sub-networks by fixing extra bits of the host portion — e.g. dividing Academics into CS and IT sections.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Supernetting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12280" y="28346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B7A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834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28346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B7A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834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7680960" y="3383280"/>
            <a:ext cx="1188720" cy="256032"/>
          </a:xfrm>
          <a:prstGeom prst="line">
            <a:avLst/>
          </a:prstGeom>
          <a:noFill/>
          <a:ln w="12700">
            <a:solidFill>
              <a:srgbClr val="5170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8869680" y="3383280"/>
            <a:ext cx="1188720" cy="256032"/>
          </a:xfrm>
          <a:prstGeom prst="line">
            <a:avLst/>
          </a:prstGeom>
          <a:noFill/>
          <a:ln w="12700">
            <a:solidFill>
              <a:srgbClr val="5170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3639312"/>
            <a:ext cx="0" cy="274320"/>
          </a:xfrm>
          <a:prstGeom prst="line">
            <a:avLst/>
          </a:prstGeom>
          <a:noFill/>
          <a:ln w="15875">
            <a:solidFill>
              <a:srgbClr val="5170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3913632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0B2942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Dept.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29400" y="47548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smaller networks are merged into one larger network — the reverse of subnetting — e.g. combining CS and IT back into one Academics network.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VLSM Needs to Run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VLSM only works with routing protocols that carry subnet-mask information in their updates.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0F3A55"/>
          </a:solidFill>
          <a:ln w="15875">
            <a:solidFill>
              <a:srgbClr val="3FE0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Classless — Supports VLSM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2816352"/>
            <a:ext cx="146304" cy="146304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990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Shortest Path First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51560" y="3593592"/>
            <a:ext cx="146304" cy="146304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RIPv2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767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Information Protocol v2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51560" y="4370832"/>
            <a:ext cx="146304" cy="146304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4544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Gateway Protocol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" y="5148072"/>
            <a:ext cx="146304" cy="146304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983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EIGRP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5321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Interior Gateway Routing Protocol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9202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26313A"/>
          </a:solidFill>
          <a:ln w="15875">
            <a:solidFill>
              <a:srgbClr val="6B7C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Classful — No VLSM Support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29400" y="2834640"/>
            <a:ext cx="146304" cy="146304"/>
          </a:xfrm>
          <a:prstGeom prst="ellipse">
            <a:avLst/>
          </a:prstGeom>
          <a:solidFill>
            <a:srgbClr val="9AA5AA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6700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RIPv1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Information Protocol v1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29400" y="361188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Classful protocols don't send subnet-mask details with routing updates, so every subnet is assumed to be the same size — which rules out VLSM.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29400" y="5166360"/>
            <a:ext cx="4480560" cy="731520"/>
          </a:xfrm>
          <a:prstGeom prst="roundRect">
            <a:avLst>
              <a:gd name="adj" fmla="val 7500"/>
            </a:avLst>
          </a:prstGeom>
          <a:solidFill>
            <a:srgbClr val="1B2229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5166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administrator must configure a classless (dynamic) routing protocol before deploying VLSM.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A College Network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is assigned the network 192.168.1.0/24 — 256 addresses in total (one reserved for the network ID, one for broadcast). It must be divided among four departments.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0B29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192.168.1.0/24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network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20574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0B2942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5196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20574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0B2942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6384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to serve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requirements per department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6583680" cy="502920"/>
          </a:xfrm>
          <a:prstGeom prst="rect">
            <a:avLst/>
          </a:prstGeom>
          <a:solidFill>
            <a:srgbClr val="0B2942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77640"/>
            <a:ext cx="4081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21962" y="3977640"/>
            <a:ext cx="22274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Required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6583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80560"/>
            <a:ext cx="4081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1962" y="4480560"/>
            <a:ext cx="22274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6583680" cy="502920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983480"/>
            <a:ext cx="4081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21962" y="4983480"/>
            <a:ext cx="22274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6583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486400"/>
            <a:ext cx="4081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21962" y="5486400"/>
            <a:ext cx="22274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989320"/>
            <a:ext cx="6583680" cy="502920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989320"/>
            <a:ext cx="4081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21962" y="5989320"/>
            <a:ext cx="22274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52560" y="352044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0F4C75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0" y="3520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Router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32520" y="4023360"/>
            <a:ext cx="1005840" cy="548640"/>
          </a:xfrm>
          <a:prstGeom prst="line">
            <a:avLst/>
          </a:prstGeom>
          <a:noFill/>
          <a:ln w="12700">
            <a:solidFill>
              <a:srgbClr val="1B7A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45720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B7A93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4572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38360" y="4023360"/>
            <a:ext cx="777240" cy="548640"/>
          </a:xfrm>
          <a:prstGeom prst="line">
            <a:avLst/>
          </a:prstGeom>
          <a:noFill/>
          <a:ln w="12700">
            <a:solidFill>
              <a:srgbClr val="1B7A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38360" y="45720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B7A93"/>
          </a:solidFill>
          <a:ln/>
        </p:spPr>
      </p:sp>
      <p:sp>
        <p:nvSpPr>
          <p:cNvPr id="36" name="Text 34"/>
          <p:cNvSpPr/>
          <p:nvPr/>
        </p:nvSpPr>
        <p:spPr>
          <a:xfrm>
            <a:off x="9738360" y="4572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32520" y="4023360"/>
            <a:ext cx="1005840" cy="1325880"/>
          </a:xfrm>
          <a:prstGeom prst="line">
            <a:avLst/>
          </a:prstGeom>
          <a:noFill/>
          <a:ln w="12700">
            <a:solidFill>
              <a:srgbClr val="1B7A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53492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B7A93"/>
          </a:solidFill>
          <a:ln/>
        </p:spPr>
      </p:sp>
      <p:sp>
        <p:nvSpPr>
          <p:cNvPr id="39" name="Text 37"/>
          <p:cNvSpPr/>
          <p:nvPr/>
        </p:nvSpPr>
        <p:spPr>
          <a:xfrm>
            <a:off x="7955280" y="5349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738360" y="4023360"/>
            <a:ext cx="777240" cy="1325880"/>
          </a:xfrm>
          <a:prstGeom prst="line">
            <a:avLst/>
          </a:prstGeom>
          <a:noFill/>
          <a:ln w="12700">
            <a:solidFill>
              <a:srgbClr val="1B7A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38360" y="53492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B7A93"/>
          </a:solidFill>
          <a:ln/>
        </p:spPr>
      </p:sp>
      <p:sp>
        <p:nvSpPr>
          <p:cNvPr id="42" name="Text 40"/>
          <p:cNvSpPr/>
          <p:nvPr/>
        </p:nvSpPr>
        <p:spPr>
          <a:xfrm>
            <a:off x="9738360" y="5349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the Subnets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are sorted from largest to smallest requirement, then each is given the smallest block that comfortably fits its hosts.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691640" cy="566928"/>
          </a:xfrm>
          <a:prstGeom prst="rect">
            <a:avLst/>
          </a:prstGeom>
          <a:solidFill>
            <a:srgbClr val="0B29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74520"/>
            <a:ext cx="1545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31720" y="1874520"/>
            <a:ext cx="960120" cy="566928"/>
          </a:xfrm>
          <a:prstGeom prst="rect">
            <a:avLst/>
          </a:prstGeom>
          <a:solidFill>
            <a:srgbClr val="0B29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04872" y="1874520"/>
            <a:ext cx="813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874520"/>
            <a:ext cx="1143000" cy="566928"/>
          </a:xfrm>
          <a:prstGeom prst="rect">
            <a:avLst/>
          </a:prstGeom>
          <a:solidFill>
            <a:srgbClr val="0B29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1874520"/>
            <a:ext cx="996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Hosts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777240" cy="566928"/>
          </a:xfrm>
          <a:prstGeom prst="rect">
            <a:avLst/>
          </a:prstGeom>
          <a:solidFill>
            <a:srgbClr val="0B29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874520"/>
            <a:ext cx="630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0" y="1874520"/>
            <a:ext cx="1600200" cy="566928"/>
          </a:xfrm>
          <a:prstGeom prst="rect">
            <a:avLst/>
          </a:prstGeom>
          <a:solidFill>
            <a:srgbClr val="0B29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874520"/>
            <a:ext cx="1453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1874520"/>
            <a:ext cx="2651760" cy="566928"/>
          </a:xfrm>
          <a:prstGeom prst="rect">
            <a:avLst/>
          </a:prstGeom>
          <a:solidFill>
            <a:srgbClr val="0B29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85432" y="1874520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Range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441448"/>
            <a:ext cx="1691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441448"/>
            <a:ext cx="1545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31720" y="244144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2441448"/>
            <a:ext cx="813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244144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441448"/>
            <a:ext cx="996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34840" y="2441448"/>
            <a:ext cx="777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2441448"/>
            <a:ext cx="630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12080" y="2441448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2441448"/>
            <a:ext cx="1453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255.255.255.128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12280" y="244144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2441448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192.168.1.0 – .127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008376"/>
            <a:ext cx="169164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008376"/>
            <a:ext cx="1545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31720" y="3008376"/>
            <a:ext cx="96012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04872" y="3008376"/>
            <a:ext cx="813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91840" y="3008376"/>
            <a:ext cx="114300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008376"/>
            <a:ext cx="996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34840" y="3008376"/>
            <a:ext cx="77724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3008376"/>
            <a:ext cx="630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/26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12080" y="3008376"/>
            <a:ext cx="160020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85232" y="3008376"/>
            <a:ext cx="1453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255.255.255.192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12280" y="3008376"/>
            <a:ext cx="265176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5432" y="3008376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192.168.1.128 – .191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3575304"/>
            <a:ext cx="1691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3575304"/>
            <a:ext cx="1545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331720" y="3575304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04872" y="3575304"/>
            <a:ext cx="813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291840" y="3575304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3575304"/>
            <a:ext cx="996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434840" y="3575304"/>
            <a:ext cx="777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07992" y="3575304"/>
            <a:ext cx="630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/27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212080" y="3575304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3575304"/>
            <a:ext cx="1453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255.255.255.224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812280" y="357530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85432" y="3575304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192.168.1.192 – .223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4142232"/>
            <a:ext cx="169164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4142232"/>
            <a:ext cx="1545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331720" y="4142232"/>
            <a:ext cx="96012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04872" y="4142232"/>
            <a:ext cx="813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291840" y="4142232"/>
            <a:ext cx="114300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64992" y="4142232"/>
            <a:ext cx="996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434840" y="4142232"/>
            <a:ext cx="77724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07992" y="4142232"/>
            <a:ext cx="630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/28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212080" y="4142232"/>
            <a:ext cx="160020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85232" y="4142232"/>
            <a:ext cx="1453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255.255.255.240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812280" y="4142232"/>
            <a:ext cx="2651760" cy="566928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85432" y="414223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192.168.1.224 – .239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40080" y="4846320"/>
            <a:ext cx="8823960" cy="502920"/>
          </a:xfrm>
          <a:prstGeom prst="roundRect">
            <a:avLst>
              <a:gd name="adj" fmla="val 10909"/>
            </a:avLst>
          </a:prstGeom>
          <a:solidFill>
            <a:srgbClr val="EAF6F2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8680" y="4846320"/>
            <a:ext cx="8366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192.168.1.240 – .255  (16 addresses) remain unused and reserved for future growth.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40080" y="5577840"/>
            <a:ext cx="8823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required hosts must be less than usable hosts, each subnet is over-provisioned slightly — this headroom is what makes VLSM practical, not just theoretical.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vs. Allocated Hosts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 gets enough headroom to grow, without oversized leftover blocks.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10881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FLSM vs. VLSM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Length Subnet Mask gives every subnet the same size; VLSM does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502920"/>
          </a:xfrm>
          <a:prstGeom prst="rect">
            <a:avLst/>
          </a:prstGeom>
          <a:solidFill>
            <a:srgbClr val="0B2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1828800"/>
            <a:ext cx="4480560" cy="502920"/>
          </a:xfrm>
          <a:prstGeom prst="rect">
            <a:avLst/>
          </a:prstGeom>
          <a:solidFill>
            <a:srgbClr val="6B7C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828800"/>
            <a:ext cx="4480560" cy="502920"/>
          </a:xfrm>
          <a:prstGeom prst="rect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2377440" cy="868680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317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sizes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2331720"/>
            <a:ext cx="4480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3317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subnets are the same size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2331720"/>
            <a:ext cx="4480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23317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can be different sizes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2377440" cy="868680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004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efficiency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17520" y="3200400"/>
            <a:ext cx="4480560" cy="868680"/>
          </a:xfrm>
          <a:prstGeom prst="rect">
            <a:avLst/>
          </a:prstGeom>
          <a:solidFill>
            <a:srgbClr val="F7FBFC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2004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efficient — unused addresses are common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0" y="3200400"/>
            <a:ext cx="4480560" cy="868680"/>
          </a:xfrm>
          <a:prstGeom prst="rect">
            <a:avLst/>
          </a:prstGeom>
          <a:solidFill>
            <a:srgbClr val="F7FBFC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32004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 — less address space is wasted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2377440" cy="868680"/>
          </a:xfrm>
          <a:prstGeom prst="rect">
            <a:avLst/>
          </a:prstGeom>
          <a:solidFill>
            <a:srgbClr val="F5F9FB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6908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017520" y="4069080"/>
            <a:ext cx="4480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0690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since sizes are fixed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8080" y="4069080"/>
            <a:ext cx="4480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0690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complex, since sizes vary per subnet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VLSM over FLSM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417320"/>
          </a:xfrm>
          <a:prstGeom prst="roundRect">
            <a:avLst>
              <a:gd name="adj" fmla="val 5806"/>
            </a:avLst>
          </a:prstGeom>
          <a:solidFill>
            <a:srgbClr val="0F3A55"/>
          </a:solidFill>
          <a:ln w="12700">
            <a:solidFill>
              <a:srgbClr val="1D5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965960"/>
            <a:ext cx="594360" cy="594360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65960" y="17373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address wastage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965960" y="212140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Variable-sized subnets mean fewer IP addresses sit unused, since each block is matched to real demand.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0698480" cy="1417320"/>
          </a:xfrm>
          <a:prstGeom prst="roundRect">
            <a:avLst>
              <a:gd name="adj" fmla="val 5806"/>
            </a:avLst>
          </a:prstGeom>
          <a:solidFill>
            <a:srgbClr val="0F3A55"/>
          </a:solidFill>
          <a:ln w="12700">
            <a:solidFill>
              <a:srgbClr val="1D5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3611880"/>
            <a:ext cx="594360" cy="594360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65960" y="33832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flexibility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65960" y="376732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designers can create subnets of any needed size instead of being locked into one fixed block size.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10698480" cy="1417320"/>
          </a:xfrm>
          <a:prstGeom prst="roundRect">
            <a:avLst>
              <a:gd name="adj" fmla="val 5806"/>
            </a:avLst>
          </a:prstGeom>
          <a:solidFill>
            <a:srgbClr val="0F3A55"/>
          </a:solidFill>
          <a:ln w="12700">
            <a:solidFill>
              <a:srgbClr val="1D5A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5257800"/>
            <a:ext cx="594360" cy="594360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257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65960" y="50292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suited to public addressing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965960" y="541324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space is scarce and varies widely in demand, making VLSM a natural fit; FLSM remains common for simpler private networks.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FE0C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6184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VLSM divides one network into subnetworks of different, need-based sizes.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FE0C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4871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 splits a network apart; supernetting merges networks back together.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34290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FE0C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3558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VLSM requires classless routing protocols such as OSPF, RIPv2, BGP, or EIGRP.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77240" y="4297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FE0C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22452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FLSM, VLSM reduces wasted addresses and adds configuration flexibility.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77240" y="5303520"/>
            <a:ext cx="2743200" cy="0"/>
          </a:xfrm>
          <a:prstGeom prst="line">
            <a:avLst/>
          </a:prstGeom>
          <a:noFill/>
          <a:ln w="25400">
            <a:solidFill>
              <a:srgbClr val="3FE0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486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addressing starts with sizing every subnet to what it actually needs.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2026-08-31T06:01:40Z</dcterms:created>
  <dcterms:modified xsi:type="dcterms:W3CDTF">2026-08-31T06:01:40Z</dcterms:modified>
</cp:coreProperties>
</file>